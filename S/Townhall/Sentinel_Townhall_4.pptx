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3405104" cy="7772400"/>
  <p:notesSz cx="7772400" cy="134051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04" y="2383536"/>
            <a:ext cx="123996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Project Sentinel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704" y="3316224"/>
            <a:ext cx="12399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One foundation for Risk's document work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704" y="4248912"/>
            <a:ext cx="1239969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Credit Risk Review  |  Group Risk Control COO townhall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04" y="435254"/>
            <a:ext cx="12399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Different Risk questions revealed the same document problem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704" y="1057046"/>
            <a:ext cx="12399696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Sentinel will prepare the evidence so reviewers can spend their time on judgment.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704" y="1658112"/>
            <a:ext cx="4926499" cy="4932883"/>
          </a:xfrm>
          <a:prstGeom prst="rect">
            <a:avLst/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326" y="1886102"/>
            <a:ext cx="43232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What Sentinel will do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04326" y="2404262"/>
            <a:ext cx="432325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Organize the evidence.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Find the relevant text, tables, and figures.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04326" y="3440582"/>
            <a:ext cx="432325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Prepare the analysis.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Structure the evidence into the team's required output.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04326" y="4476902"/>
            <a:ext cx="432325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Show its work.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Link each statement back to its source.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04326" y="5513222"/>
            <a:ext cx="432325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Hold for review.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Route defined exceptions and uncertain outputs to a person.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31366" y="1658112"/>
            <a:ext cx="7071034" cy="4932883"/>
          </a:xfrm>
          <a:prstGeom prst="rect">
            <a:avLst/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32988" y="1865376"/>
            <a:ext cx="6467789" cy="290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Where it started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32988" y="2238451"/>
            <a:ext cx="1186381" cy="455981"/>
          </a:xfrm>
          <a:prstGeom prst="rect">
            <a:avLst/>
          </a:prstGeom>
          <a:solidFill>
            <a:srgbClr val="FFFFFF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32988" y="2238451"/>
            <a:ext cx="1186381" cy="455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Document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69640" y="2362810"/>
            <a:ext cx="241298" cy="207264"/>
          </a:xfrm>
          <a:prstGeom prst="right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61208" y="2238451"/>
            <a:ext cx="1186381" cy="455981"/>
          </a:xfrm>
          <a:prstGeom prst="rect">
            <a:avLst/>
          </a:prstGeom>
          <a:solidFill>
            <a:srgbClr val="FFFFFF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61208" y="2238451"/>
            <a:ext cx="1186381" cy="455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Question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97860" y="2362810"/>
            <a:ext cx="241298" cy="207264"/>
          </a:xfrm>
          <a:prstGeom prst="right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89429" y="2238451"/>
            <a:ext cx="1186381" cy="455981"/>
          </a:xfrm>
          <a:prstGeom prst="rect">
            <a:avLst/>
          </a:prstGeom>
          <a:solidFill>
            <a:srgbClr val="FFFFFF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89429" y="2238451"/>
            <a:ext cx="1186381" cy="455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Answer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426080" y="2362810"/>
            <a:ext cx="241298" cy="207264"/>
          </a:xfrm>
          <a:prstGeom prst="right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17649" y="2238451"/>
            <a:ext cx="1186381" cy="455981"/>
          </a:xfrm>
          <a:prstGeom prst="rect">
            <a:avLst/>
          </a:prstGeom>
          <a:solidFill>
            <a:srgbClr val="FFFFFF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17649" y="2238451"/>
            <a:ext cx="1186381" cy="455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Source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132988" y="2839517"/>
            <a:ext cx="6467789" cy="290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An early proof of concept: ask a document a question, get an answer with its source.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132988" y="3378403"/>
            <a:ext cx="6467789" cy="290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What it revealed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132988" y="3710026"/>
            <a:ext cx="64677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Different use cases require the same core document capabilities.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32988" y="4166006"/>
            <a:ext cx="1496298" cy="683971"/>
          </a:xfrm>
          <a:prstGeom prst="rect">
            <a:avLst/>
          </a:prstGeom>
          <a:solidFill>
            <a:srgbClr val="FFFFFF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32988" y="4166006"/>
            <a:ext cx="1496298" cy="683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Credit Risk Review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70543" y="4953610"/>
            <a:ext cx="221190" cy="248717"/>
          </a:xfrm>
          <a:prstGeom prst="down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152" y="4166006"/>
            <a:ext cx="1496298" cy="683971"/>
          </a:xfrm>
          <a:prstGeom prst="rect">
            <a:avLst/>
          </a:prstGeom>
          <a:solidFill>
            <a:srgbClr val="FFFFFF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90152" y="4166006"/>
            <a:ext cx="1496298" cy="683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ERM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427706" y="4953610"/>
            <a:ext cx="221190" cy="248717"/>
          </a:xfrm>
          <a:prstGeom prst="down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47316" y="4166006"/>
            <a:ext cx="1496298" cy="683971"/>
          </a:xfrm>
          <a:prstGeom prst="rect">
            <a:avLst/>
          </a:prstGeom>
          <a:solidFill>
            <a:srgbClr val="FFFFFF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447316" y="4166006"/>
            <a:ext cx="1496298" cy="683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Personal &amp; Corporate Banking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084870" y="4953610"/>
            <a:ext cx="221190" cy="248717"/>
          </a:xfrm>
          <a:prstGeom prst="down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104479" y="4166006"/>
            <a:ext cx="1496298" cy="683971"/>
          </a:xfrm>
          <a:prstGeom prst="rect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11104479" y="4166006"/>
            <a:ext cx="1496298" cy="683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Future uses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742034" y="4953610"/>
            <a:ext cx="221190" cy="248717"/>
          </a:xfrm>
          <a:prstGeom prst="down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32988" y="5305958"/>
            <a:ext cx="6467789" cy="808330"/>
          </a:xfrm>
          <a:prstGeom prst="rect">
            <a:avLst/>
          </a:prstGeom>
          <a:solidFill>
            <a:srgbClr val="B8B3A2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83800" y="5305958"/>
            <a:ext cx="6166167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Shared foundation: </a:t>
            </a:r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ingest documents | understand content | retrieve evidence | preserve sources | control access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704" y="6798259"/>
            <a:ext cx="12399696" cy="497434"/>
          </a:xfrm>
          <a:prstGeom prst="rect">
            <a:avLst/>
          </a:prstGeom>
          <a:solidFill>
            <a:srgbClr val="F5F0E1"/>
          </a:solidFill>
          <a:ln w="12700">
            <a:solidFill>
              <a:srgbClr val="F5F0E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04326" y="6798259"/>
            <a:ext cx="11796451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Judgment stays with people. </a:t>
            </a:r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Sentinel prepares the work; the reviewer checks, challenges, and decides.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11293747" y="7378598"/>
            <a:ext cx="1156219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Internal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2500237" y="7378598"/>
            <a:ext cx="402163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04" y="435254"/>
            <a:ext cx="12399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One shared foundation. Each team brings its own rules.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704" y="1057046"/>
            <a:ext cx="12399696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Reusable Risk capabilities are assembled once; applications configure the business meaning.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02704" y="1575206"/>
            <a:ext cx="6032448" cy="269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Applications, owned by Risk teams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704" y="1865376"/>
            <a:ext cx="2965953" cy="1222858"/>
          </a:xfrm>
          <a:prstGeom prst="rect">
            <a:avLst/>
          </a:prstGeom>
          <a:solidFill>
            <a:srgbClr val="ECEBE4"/>
          </a:solidFill>
          <a:ln w="19050">
            <a:solidFill>
              <a:srgbClr val="E6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3677" y="1948282"/>
            <a:ext cx="2604007" cy="1057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Credit Risk Review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first application, in design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"What evidence supports the review?"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5086" y="3129686"/>
            <a:ext cx="221190" cy="269443"/>
          </a:xfrm>
          <a:prstGeom prst="up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47285" y="1865376"/>
            <a:ext cx="2965953" cy="1222858"/>
          </a:xfrm>
          <a:prstGeom prst="rect">
            <a:avLst/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28258" y="1948282"/>
            <a:ext cx="2604007" cy="1057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ERM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planned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"Which clients are exposed to this event?"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19667" y="3129686"/>
            <a:ext cx="221190" cy="269443"/>
          </a:xfrm>
          <a:prstGeom prst="up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91866" y="1865376"/>
            <a:ext cx="2965953" cy="1222858"/>
          </a:xfrm>
          <a:prstGeom prst="rect">
            <a:avLst/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72839" y="1948282"/>
            <a:ext cx="2604007" cy="1057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Personal &amp; Corporate Banking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planned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"What data is in these documents?"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64248" y="3129686"/>
            <a:ext cx="221190" cy="269443"/>
          </a:xfrm>
          <a:prstGeom prst="up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36447" y="1865376"/>
            <a:ext cx="2965953" cy="1222858"/>
          </a:xfrm>
          <a:prstGeom prst="rect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10117420" y="1948282"/>
            <a:ext cx="2604007" cy="1057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Future applications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target operating model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Questions | standards | outputs | workflow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308828" y="3129686"/>
            <a:ext cx="221190" cy="269443"/>
          </a:xfrm>
          <a:prstGeom prst="up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704" y="3419856"/>
            <a:ext cx="12399696" cy="2652979"/>
          </a:xfrm>
          <a:prstGeom prst="rect">
            <a:avLst/>
          </a:prstGeom>
          <a:solidFill>
            <a:srgbClr val="B8B3A2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4056" y="3513125"/>
            <a:ext cx="5027040" cy="290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Shared Sentinel foundation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4056" y="3855110"/>
            <a:ext cx="11896992" cy="373075"/>
          </a:xfrm>
          <a:prstGeom prst="roundRect">
            <a:avLst>
              <a:gd name="adj" fmla="val 48509"/>
            </a:avLst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5138" y="3855110"/>
            <a:ext cx="11494829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Sentinel Orchestrator</a:t>
            </a:r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      authorises | routes | composes every request across the foundation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91645" y="4181551"/>
            <a:ext cx="90487" cy="93269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36888" y="4269638"/>
            <a:ext cx="0" cy="145085"/>
          </a:xfrm>
          <a:prstGeom prst="line">
            <a:avLst/>
          </a:prstGeom>
          <a:noFill/>
          <a:ln w="12700">
            <a:solidFill>
              <a:srgbClr val="6B6B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4597" y="4435450"/>
            <a:ext cx="3764582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Business configuration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54597" y="4746346"/>
            <a:ext cx="3764582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Use-case configuration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Reviewer adjudication &amp; audit record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57309" y="4181551"/>
            <a:ext cx="90487" cy="93269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02552" y="4269638"/>
            <a:ext cx="0" cy="145085"/>
          </a:xfrm>
          <a:prstGeom prst="line">
            <a:avLst/>
          </a:prstGeom>
          <a:noFill/>
          <a:ln w="12700">
            <a:solidFill>
              <a:srgbClr val="6B6B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20261" y="4435450"/>
            <a:ext cx="3764582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Document intelligence &amp; retrieval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820261" y="4746346"/>
            <a:ext cx="3764582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Ingestion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DEEP document understanding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Evidence retrieval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19720" y="4435450"/>
            <a:ext cx="0" cy="113995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22973" y="4181551"/>
            <a:ext cx="90487" cy="93269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668216" y="4269638"/>
            <a:ext cx="0" cy="145085"/>
          </a:xfrm>
          <a:prstGeom prst="line">
            <a:avLst/>
          </a:prstGeom>
          <a:noFill/>
          <a:ln w="12700">
            <a:solidFill>
              <a:srgbClr val="6B6B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785925" y="4435450"/>
            <a:ext cx="3764582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Governed knowledge &amp; data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785925" y="4746346"/>
            <a:ext cx="3764582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VEGA knowledge &amp; index layer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Governed document &amp; data stores (Hive)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Lineage &amp; permissions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685384" y="4435450"/>
            <a:ext cx="0" cy="113995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704" y="5720486"/>
            <a:ext cx="12399696" cy="352349"/>
          </a:xfrm>
          <a:prstGeom prst="rect">
            <a:avLst/>
          </a:prstGeom>
          <a:solidFill>
            <a:srgbClr val="F5F0E1"/>
          </a:solidFill>
          <a:ln w="12700">
            <a:solidFill>
              <a:srgbClr val="F5F0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2704" y="5720486"/>
            <a:ext cx="12399696" cy="352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Cross-cutting controls:  </a:t>
            </a:r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source traceability  |  access control  |  monitoring  |  human review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02704" y="6311189"/>
            <a:ext cx="2010816" cy="290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Document sources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14601" y="6217920"/>
            <a:ext cx="3228365" cy="455981"/>
          </a:xfrm>
          <a:prstGeom prst="rect">
            <a:avLst/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714601" y="6217920"/>
            <a:ext cx="3228365" cy="455981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Upstream systems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94318" y="6217920"/>
            <a:ext cx="3228365" cy="455981"/>
          </a:xfrm>
          <a:prstGeom prst="rect">
            <a:avLst/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194318" y="6217920"/>
            <a:ext cx="3228365" cy="455981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Direct upload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674035" y="6217920"/>
            <a:ext cx="3228365" cy="455981"/>
          </a:xfrm>
          <a:prstGeom prst="rect">
            <a:avLst/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674035" y="6217920"/>
            <a:ext cx="3228365" cy="455981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Monitored repositories (SharePoint)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02704" y="6798259"/>
            <a:ext cx="12399696" cy="497434"/>
          </a:xfrm>
          <a:prstGeom prst="rect">
            <a:avLst/>
          </a:prstGeom>
          <a:solidFill>
            <a:srgbClr val="F5F0E1"/>
          </a:solidFill>
          <a:ln w="12700">
            <a:solidFill>
              <a:srgbClr val="F5F0E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04326" y="6798259"/>
            <a:ext cx="11796451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Ownership: </a:t>
            </a:r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the platform owns the common capabilities and controls; each Risk team owns its questions, standards, workflow, and decisions.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11293747" y="7378598"/>
            <a:ext cx="1156219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Internal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2500237" y="7378598"/>
            <a:ext cx="402163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04" y="435254"/>
            <a:ext cx="12399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The platform design is defined. Execution is now underway.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704" y="1057046"/>
            <a:ext cx="12399696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Core requirements and the shared foundation design are defined; current work prepares the data, validation, and controls needed to build.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704" y="1678838"/>
            <a:ext cx="3619469" cy="414528"/>
          </a:xfrm>
          <a:prstGeom prst="chevron">
            <a:avLst/>
          </a:prstGeom>
          <a:solidFill>
            <a:srgbClr val="ECEB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3515" y="1678838"/>
            <a:ext cx="331784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Q3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22173" y="1678838"/>
            <a:ext cx="3619469" cy="414528"/>
          </a:xfrm>
          <a:prstGeom prst="chevron">
            <a:avLst/>
          </a:prstGeom>
          <a:solidFill>
            <a:srgbClr val="B8B3A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72984" y="1678838"/>
            <a:ext cx="331784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Q4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41641" y="1678838"/>
            <a:ext cx="5157743" cy="414528"/>
          </a:xfrm>
          <a:prstGeom prst="chevron">
            <a:avLst/>
          </a:prstGeom>
          <a:solidFill>
            <a:srgbClr val="ECEB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92452" y="1678838"/>
            <a:ext cx="48561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2027 and beyond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704" y="3057144"/>
            <a:ext cx="4021632" cy="0"/>
          </a:xfrm>
          <a:prstGeom prst="line">
            <a:avLst/>
          </a:prstGeom>
          <a:noFill/>
          <a:ln w="25400">
            <a:solidFill>
              <a:srgbClr val="6B6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4336" y="3057144"/>
            <a:ext cx="3016224" cy="0"/>
          </a:xfrm>
          <a:prstGeom prst="line">
            <a:avLst/>
          </a:prstGeom>
          <a:noFill/>
          <a:ln w="31750">
            <a:solidFill>
              <a:srgbClr val="E6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40560" y="3057144"/>
            <a:ext cx="5358824" cy="0"/>
          </a:xfrm>
          <a:prstGeom prst="line">
            <a:avLst/>
          </a:prstGeom>
          <a:noFill/>
          <a:ln w="25400">
            <a:solidFill>
              <a:srgbClr val="6B6B6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524336" y="2155546"/>
            <a:ext cx="0" cy="2010461"/>
          </a:xfrm>
          <a:prstGeom prst="line">
            <a:avLst/>
          </a:prstGeom>
          <a:noFill/>
          <a:ln w="12700">
            <a:solidFill>
              <a:srgbClr val="E60000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4604768" y="2176272"/>
            <a:ext cx="703786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6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Today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35570" y="2932786"/>
            <a:ext cx="241298" cy="248717"/>
          </a:xfrm>
          <a:prstGeom prst="diamond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6487" y="3222955"/>
            <a:ext cx="1759464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Jul: proof of concept demonstrated the approach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92871" y="2932786"/>
            <a:ext cx="241298" cy="248717"/>
          </a:xfrm>
          <a:prstGeom prst="diamond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58923" y="2041550"/>
            <a:ext cx="1709193" cy="8497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Aug: core requirements defined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48549" y="2932786"/>
            <a:ext cx="241298" cy="248717"/>
          </a:xfrm>
          <a:prstGeom prst="diamond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14601" y="3222955"/>
            <a:ext cx="1709193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Sep: platform architecture defined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07472" y="2932786"/>
            <a:ext cx="241298" cy="248717"/>
          </a:xfrm>
          <a:prstGeom prst="diamond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22713" y="2041550"/>
            <a:ext cx="2010816" cy="8497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Development and validation preparation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15043" y="2932786"/>
            <a:ext cx="241298" cy="248717"/>
          </a:xfrm>
          <a:prstGeom prst="diamond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781096" y="3222955"/>
            <a:ext cx="1709193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Build the shared foundation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74507" y="2932786"/>
            <a:ext cx="241298" cy="248717"/>
          </a:xfrm>
          <a:prstGeom prst="diamond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40560" y="2041550"/>
            <a:ext cx="1709193" cy="8497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Release 1: Assemble and Assess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82078" y="2932786"/>
            <a:ext cx="241298" cy="248717"/>
          </a:xfrm>
          <a:prstGeom prst="diamond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46508" y="3222955"/>
            <a:ext cx="2312438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Additional applications onboard; ERM's standalone application merges onto the platform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1089650" y="2932786"/>
            <a:ext cx="241298" cy="248717"/>
          </a:xfrm>
          <a:prstGeom prst="diamond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355702" y="2041550"/>
            <a:ext cx="1709193" cy="8497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Release 2: Challenge and Adjudicate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2195598" y="2932786"/>
            <a:ext cx="241298" cy="248717"/>
          </a:xfrm>
          <a:prstGeom prst="diamond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738138" y="3222955"/>
            <a:ext cx="1156219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Release 3: Learn and Scale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2758" y="4217822"/>
            <a:ext cx="180973" cy="186538"/>
          </a:xfrm>
          <a:prstGeom prst="diamond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4218" y="4207459"/>
            <a:ext cx="1005408" cy="227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complete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870059" y="4217822"/>
            <a:ext cx="180973" cy="186538"/>
          </a:xfrm>
          <a:prstGeom prst="diamond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141519" y="4207459"/>
            <a:ext cx="1206490" cy="227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in execution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28441" y="4217822"/>
            <a:ext cx="180973" cy="18653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699901" y="4207459"/>
            <a:ext cx="2915683" cy="227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staged sequence, not yet dated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704" y="4601261"/>
            <a:ext cx="5228121" cy="2507894"/>
          </a:xfrm>
          <a:prstGeom prst="rect">
            <a:avLst/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4056" y="4767072"/>
            <a:ext cx="472541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What is defined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754056" y="5160874"/>
            <a:ext cx="4725417" cy="1803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Core business and technical requirements defined.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Shared Sentinel foundation designed and scoped.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Initial application requirements scoped; Credit Risk Review most advanced, others at varying stages.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082718" y="4601261"/>
            <a:ext cx="6819682" cy="2507894"/>
          </a:xfrm>
          <a:prstGeom prst="rect">
            <a:avLst/>
          </a:prstGeom>
          <a:solidFill>
            <a:srgbClr val="FFFFFF"/>
          </a:solidFill>
          <a:ln w="19050">
            <a:solidFill>
              <a:srgbClr val="E6000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64232" y="4767072"/>
            <a:ext cx="62566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Happening now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364232" y="5181600"/>
            <a:ext cx="2977516" cy="891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Assemble the inputs.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Development and validation documents, golden sources, and internal standards.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9643370" y="5181600"/>
            <a:ext cx="2977516" cy="891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Complete the requirements.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Remaining application-specific requirements.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364232" y="6135014"/>
            <a:ext cx="2977516" cy="891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Design the validation.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Test sets, scoring methods, and acceptance criteria.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9643370" y="6135014"/>
            <a:ext cx="2977516" cy="891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Set the guardrails.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Reviewer checkpoints, human-review rules, and operational controls.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1293747" y="7378598"/>
            <a:ext cx="1156219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Internal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12500237" y="7378598"/>
            <a:ext cx="402163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704" y="435254"/>
            <a:ext cx="12399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Every application adds value and makes the platform stronger.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704" y="1057046"/>
            <a:ext cx="12399696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Better-prepared review work, and a growing layer of connected Risk knowledge.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704" y="1720291"/>
            <a:ext cx="5529744" cy="4787798"/>
          </a:xfrm>
          <a:prstGeom prst="rect">
            <a:avLst/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326" y="1927555"/>
            <a:ext cx="4926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For Credit Risk Review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04326" y="2259178"/>
            <a:ext cx="4926499" cy="290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From assembling information to adjudicating a prepared, evidence-backed assessment.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18166" y="2943149"/>
            <a:ext cx="0" cy="2259178"/>
          </a:xfrm>
          <a:prstGeom prst="line">
            <a:avLst/>
          </a:prstGeom>
          <a:noFill/>
          <a:ln w="12700">
            <a:solidFill>
              <a:srgbClr val="6B6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47787" y="3140050"/>
            <a:ext cx="140757" cy="124358"/>
          </a:xfrm>
          <a:prstGeom prst="down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47787" y="4010558"/>
            <a:ext cx="140757" cy="124358"/>
          </a:xfrm>
          <a:prstGeom prst="down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7787" y="4881067"/>
            <a:ext cx="140757" cy="124358"/>
          </a:xfrm>
          <a:prstGeom prst="down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326" y="2590800"/>
            <a:ext cx="1427679" cy="352349"/>
          </a:xfrm>
          <a:prstGeom prst="rect">
            <a:avLst/>
          </a:prstGeom>
          <a:solidFill>
            <a:srgbClr val="B8B3A2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326" y="2590800"/>
            <a:ext cx="1427679" cy="352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Assemble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463249" y="2570074"/>
            <a:ext cx="3267576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Evidence-cited workpaper.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Facts organized into CRR's review structure.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326" y="3461309"/>
            <a:ext cx="1427679" cy="352349"/>
          </a:xfrm>
          <a:prstGeom prst="rect">
            <a:avLst/>
          </a:prstGeom>
          <a:solidFill>
            <a:srgbClr val="B8B3A2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326" y="3461309"/>
            <a:ext cx="1427679" cy="352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Assess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463249" y="3440582"/>
            <a:ext cx="3267576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Apply review questions, standards, and thresholds.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Build a reasoned position from source facts and governing criteria.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326" y="4331818"/>
            <a:ext cx="1427679" cy="352349"/>
          </a:xfrm>
          <a:prstGeom prst="rect">
            <a:avLst/>
          </a:prstGeom>
          <a:solidFill>
            <a:srgbClr val="B8B3A2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326" y="4331818"/>
            <a:ext cx="1427679" cy="352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463249" y="4311091"/>
            <a:ext cx="3267576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Deliberately test the initial assessment.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Surface unsupported assumptions, overlooked risk, and contrary evidence.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326" y="5202326"/>
            <a:ext cx="1427679" cy="352349"/>
          </a:xfrm>
          <a:prstGeom prst="rect">
            <a:avLst/>
          </a:prstGeom>
          <a:solidFill>
            <a:srgbClr val="FFFFFF"/>
          </a:solidFill>
          <a:ln w="15875">
            <a:solidFill>
              <a:srgbClr val="E6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326" y="5202326"/>
            <a:ext cx="1427679" cy="352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Adjudicate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63249" y="5181600"/>
            <a:ext cx="3267576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Reviewer rules and records rationale.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Human judgment remains the outcome of record.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4326" y="6052109"/>
            <a:ext cx="4926499" cy="331622"/>
          </a:xfrm>
          <a:prstGeom prst="rect">
            <a:avLst/>
          </a:prstGeom>
          <a:solidFill>
            <a:srgbClr val="F5F0E1"/>
          </a:solidFill>
          <a:ln w="12700">
            <a:solidFill>
              <a:srgbClr val="F5F0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326" y="6052109"/>
            <a:ext cx="4926499" cy="331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Each ruling builds a durable record of applied CRR judgment.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84340" y="1720291"/>
            <a:ext cx="6518060" cy="4787798"/>
          </a:xfrm>
          <a:prstGeom prst="rect">
            <a:avLst/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85963" y="1948282"/>
            <a:ext cx="5914815" cy="331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0000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Network effects across Risk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85963" y="2238451"/>
            <a:ext cx="1373136" cy="476707"/>
          </a:xfrm>
          <a:prstGeom prst="rect">
            <a:avLst/>
          </a:prstGeom>
          <a:solidFill>
            <a:srgbClr val="FFFFFF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85963" y="2238451"/>
            <a:ext cx="1373136" cy="476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Credit Risk Review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82044" y="2756611"/>
            <a:ext cx="180973" cy="269443"/>
          </a:xfrm>
          <a:prstGeom prst="upDown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99856" y="2238451"/>
            <a:ext cx="1373136" cy="476707"/>
          </a:xfrm>
          <a:prstGeom prst="rect">
            <a:avLst/>
          </a:prstGeom>
          <a:solidFill>
            <a:srgbClr val="FFFFFF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99856" y="2238451"/>
            <a:ext cx="1373136" cy="476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ERM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95937" y="2756611"/>
            <a:ext cx="180973" cy="269443"/>
          </a:xfrm>
          <a:prstGeom prst="upDown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13749" y="2238451"/>
            <a:ext cx="1373136" cy="476707"/>
          </a:xfrm>
          <a:prstGeom prst="rect">
            <a:avLst/>
          </a:prstGeom>
          <a:solidFill>
            <a:srgbClr val="FFFFFF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713749" y="2238451"/>
            <a:ext cx="1373136" cy="476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Personal &amp; Corporate Banking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309830" y="2756611"/>
            <a:ext cx="180973" cy="269443"/>
          </a:xfrm>
          <a:prstGeom prst="upDown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227642" y="2238451"/>
            <a:ext cx="1373136" cy="476707"/>
          </a:xfrm>
          <a:prstGeom prst="rect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11227642" y="2238451"/>
            <a:ext cx="1373136" cy="4767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Future applications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1823723" y="2756611"/>
            <a:ext cx="180973" cy="269443"/>
          </a:xfrm>
          <a:prstGeom prst="upDownArrow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85963" y="3046781"/>
            <a:ext cx="5914815" cy="227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Each application consumes and contributes knowledge.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85963" y="3336950"/>
            <a:ext cx="5914815" cy="1803197"/>
          </a:xfrm>
          <a:prstGeom prst="roundRect">
            <a:avLst>
              <a:gd name="adj" fmla="val 6691"/>
            </a:avLst>
          </a:prstGeom>
          <a:solidFill>
            <a:srgbClr val="F5F0E1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685963" y="3409493"/>
            <a:ext cx="5914815" cy="269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Shared knowledge graph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 flipV="1">
            <a:off x="7610938" y="3906926"/>
            <a:ext cx="1839897" cy="72542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50835" y="3906926"/>
            <a:ext cx="1860005" cy="72542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10938" y="3979469"/>
            <a:ext cx="935029" cy="580339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8545967" y="3906926"/>
            <a:ext cx="904867" cy="652882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50835" y="3906926"/>
            <a:ext cx="874705" cy="715061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310839" y="3979469"/>
            <a:ext cx="583137" cy="51816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45967" y="4559808"/>
            <a:ext cx="1779572" cy="62179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10325539" y="4497629"/>
            <a:ext cx="1568436" cy="124358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8545967" y="4497629"/>
            <a:ext cx="3348008" cy="62179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87585" y="3813658"/>
            <a:ext cx="1246706" cy="3316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987585" y="3813658"/>
            <a:ext cx="1246706" cy="331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827482" y="3741115"/>
            <a:ext cx="1246706" cy="3316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827482" y="3741115"/>
            <a:ext cx="1246706" cy="331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entities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0687486" y="3813658"/>
            <a:ext cx="1246706" cy="3316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687486" y="3813658"/>
            <a:ext cx="1246706" cy="331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evidence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922615" y="4393997"/>
            <a:ext cx="1246706" cy="3316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922615" y="4393997"/>
            <a:ext cx="1246706" cy="331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702187" y="4456176"/>
            <a:ext cx="1246706" cy="3316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702187" y="4456176"/>
            <a:ext cx="1246706" cy="331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controls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1270623" y="4331818"/>
            <a:ext cx="1246706" cy="3316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1270623" y="4331818"/>
            <a:ext cx="1246706" cy="331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decisions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6685963" y="4870704"/>
            <a:ext cx="5914815" cy="227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provenance kept to the source  |  queried, validated, and extended over time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6685963" y="5243779"/>
            <a:ext cx="5914815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Richer with every application. </a:t>
            </a:r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Applications reuse authorized knowledge and contribute structured evidence and relationships back.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6685963" y="5720486"/>
            <a:ext cx="5914815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Controls inherited, not rebuilt. </a:t>
            </a:r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Traceability, permissions, and human adjudication come with the platform.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9232661" y="6093562"/>
            <a:ext cx="3368117" cy="310896"/>
          </a:xfrm>
          <a:prstGeom prst="roundRect">
            <a:avLst>
              <a:gd name="adj" fmla="val 48509"/>
            </a:avLst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232661" y="6093562"/>
            <a:ext cx="336811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Target state: configure, don't rebuild.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02704" y="6632448"/>
            <a:ext cx="12399696" cy="704698"/>
          </a:xfrm>
          <a:prstGeom prst="rect">
            <a:avLst/>
          </a:prstGeom>
          <a:solidFill>
            <a:srgbClr val="B8B3A2"/>
          </a:solidFill>
          <a:ln w="12700">
            <a:solidFill>
              <a:srgbClr val="B8B3A2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04326" y="6632448"/>
            <a:ext cx="11796451" cy="704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1E1E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"Sentinel gives Risk a common, controlled way to convert evidence into better-prepared human judgment."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11293747" y="7378598"/>
            <a:ext cx="1156219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Internal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12500237" y="7378598"/>
            <a:ext cx="402163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Frutiger 45 Light" pitchFamily="34" charset="0"/>
                <a:ea typeface="Frutiger 45 Light" pitchFamily="34" charset="-122"/>
                <a:cs typeface="Frutiger 45 Light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Sentinel</dc:title>
  <dc:subject>PptxGenJS Presentation</dc:subject>
  <dc:creator>Credit Risk Review</dc:creator>
  <cp:lastModifiedBy>Credit Risk Review</cp:lastModifiedBy>
  <cp:revision>1</cp:revision>
  <dcterms:created xsi:type="dcterms:W3CDTF">2026-09-02T11:42:49Z</dcterms:created>
  <dcterms:modified xsi:type="dcterms:W3CDTF">2026-09-02T11:42:49Z</dcterms:modified>
</cp:coreProperties>
</file>