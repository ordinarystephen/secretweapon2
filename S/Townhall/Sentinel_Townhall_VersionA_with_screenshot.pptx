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spoken over this slide (about a minute). Optional: drop this slide if the master deck has its own divider.
You have just watched FAIR reading financial statements at scale, in production. I am going to take you one step earlier in the lifecycle, to something we are designing right now. It is in the same family: software that reads documents and pulls out what matters. It has a different job, preparing analysis and review rather than processing, and it is being built as a shared foundation for any team in Risk.
Every discipline in this room does a version of the same thing before it forms a view. We find the documents, read them, pull out what matters, and assemble it into something we can reason about. Only then does the risk judgment begin. That preparation is where a large share of our time goes, and it is not the part of the job that needs our expertise.
Sentinel is the answer to that. It started as one team's proof of concept. It is becoming a shared capability for Risk. Four slides: what it is and where it came from, how it is built, where we are, and what it means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where this came from, because it explains what it is.
A team in IB Commercial Lending [confirm; name the lead if you choose to credit them] built a proof of concept with a simple idea: upload a document, ask it a question, get an answer, and see where in the document the answer came from. It worked. And when I looked at it, what struck me was not the question-answering. It was everything underneath it. To answer one question well, that proof of concept had to take in a document, read it properly, find the passage that mattered, cite it, and control who could see it. Those are exactly the problems every Risk team has, whatever the documents and whatever the questions.
That was the insight behind Sentinel. Solve the hard part once, as a shared foundation, and let every group bring its own meaning: its own questions, its own standards, its own output. Credit Risk Review is the first application, because our work is as document-heavy as it gets. When a reviewer picks up a borrower, the first job is not analysis. It is logistics: credit agreements, financials, underwriting memos, covenant compliance, correspondence, sitting in different systems and shared folders. Hours, sometimes days, before a single judgment is written. And because it is manual, it varies by person, it goes stale, and statements do not always trace back to a source.
So here is what Sentinel will do. It will organize the evidence: read the documents and find the relevant text, tables, and figures. It will prepare the analysis: structure what it finds into the output the team needs. For us, that is a workpaper, section by section. It will show its work: every statement links back to the page it came from, so the reviewer can check it in one click. And it will keep people accountable: where it is not confident, it will say so and flag the item for review.
I want to be precise about that last point, because this is a Risk audience and you should hold me to it. Sentinel will not make risk judgments. It will not grade anything. It is not replacing reviewers and it is not replacing our systems of record. It addresses the document-heavy work that happens before judgment. Interpretation, challenge, approval, and the final conclusion stay with the person whose name is on the review.
Sentinel will automate preparation, not accountability.
Transition: Here is how it is put together, and this is the work we are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extended proof of concept looked like. A workpaper section populated from a set of credit documents. Every statement carries its source, down to the page. Where the tool was not confident, it flagged the item and held it for a person. I show it for one reason: it convinced us the approach works, and it showed us exactly what the real platform has to get right. It is a proof of concept, not an application, and the next slide is how the real one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I will show you, and it is not a technical one. It is about who owns what. It is also the work we are doing right now: this is the architecture we are defining with IT so the foundation gets built once, properly.
Start at the bottom: where documents will come from. Our upstream systems, direct upload, and monitored SharePoint folders. Documents flow in once.
The middle is the shared foundation. Think of it as the building's wiring: every floor uses it, no floor installs its own. This is the part built and controlled once, for everybody. Eight capabilities. It takes in documents. It reads text, tables, and images. It finds what matters. It cites every source. It flags what it is unsure about. It holds the rules and standards each team gives it, version-controlled, so we always know which version of a standard a conclusion was held to. It monitors itself and keeps records. And it keeps each team's data separate and access controlled. Every one of those is a control problem that the original proof of concept had to solve for one team. None of them should be solved again by the next team, and that is the whole point of building it as a platform.
The top is the applications, and this is where the meaning lives. Each Risk team owns its own. Credit Risk Review is the first: deep review of borrower relationships, workpapers with every statement cited, and, in a later release, a built-in second opinion where Sentinel argues the other side and the reviewer decides. Enterprise Risk Management has a very different need: scanning across a whole portfolio, asking questions of any set of documents, surfacing emerging risks. Personal &amp; Corporate Banking wants to define its own outputs and apply its own standards. Same foundation, different meaning.
For a new team, configuring Sentinel will not be a technology project. It is five steps: choose your evidence, choose the task, tell it the standards to apply, get a structured draft, review and decide. You bring the questions, the policies, the templates, the thresholds, and the points where a person must sign off. Engineering owns the components and the controlled deployment. You own the content and what the tool is supposed to do. That split is what keeps accountability clear.
The platform provides the mechanism; the risk team provides the meaning.
Transition: So where are we on actually building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where this is, because you have just seen something in production and this is not that.
Start at the dashed line. That is today, and we are in the middle of design workshops with IT and Data. Everything to the left of the line is done. Everything to the right is either dated and confirmed, or hollow, which means the timing gets confirmed once the sizing is finished. I would rather show you hollow diamonds than dates I cannot stand behind.
Look left first. The top lane is where this started: the Commercial Lending team's question-answering proof of concept, approved in June. That team carries on with a tactical solution in the meantime, and when the platform is ready their use case migrates onto it. Nobody waits for us, and nobody builds twice.
The bottom lane is Sentinel. In July we confirmed the proof of concept and the benefits case. We had extended the original proof of concept toward credit review to test the idea: it reads credit documents, cites the evidence, and fills the six workpaper sections our reviewers already use. It convinced us the approach works. It is not a production application and it is not going through governance as one.
Alongside that, the groundwork: platform requirements drafted and reviewed with IT; Credit Risk Review's own requirements written down, and the analyst journey documented step by step, so the tool will fit the work rather than the other way around; and three use cases drafted, with Enterprise Risk Management and Personal &amp; Corporate Banking alongside our own, which is why I can talk about a platform rather than a tool.
Now look right. September: the architecture goes to the AI Forum for ratification. Then build, on a timeline we confirm once it is sized. Then the releases, which are deliberately staged. Release 1, Assemble and Assess: the evidence-backed workpaper, validated and tested alongside the current process before anyone depends on it. Release 2, Challenge and Adjudicate: Sentinel presents a counter-position with its own evidence, and the reviewer rules on it and records why. That gives us something we have never had, an auditable record of applied judgment. Release 3, Learn and Scale: governed learning from reviewer feedback, connection to upstream systems, and the next teams onboarding, starting with Personal &amp; Corporate Banking and the Commercial Lending use case coming home to the platform.
The principle is simple: start with one controlled application, prove trust, then expand.
Transition: Which brings me to why this matters beyond credit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will this mean for Risk, beyond credit review?
Four things, and I will keep them concrete. Capacity: less time assembling documents, more time on the analysis only a specialist can do. Consistency: the same questions and standards applied the same way, every time, by every reviewer. Traceability: every conclusion tied to the evidence and to the version of the standard it was held against, which matters to us, to audit, and to our regulators. And a reusable capability: the hard part, taking in documents, reading them, citing sources, keeping records, controlling access, gets built once. The next team inherits it at a fraction of what it would cost to build alone.
Let me make that tangible. A policy changes: which of our documents are affected, and where? An event hits a sector: which counterparties in our book are exposed, and what does the file actually say about them? A new procedure lands: does this documentation meet it? If your team has a document-heavy process where judgment waits on preparation, that is a Sentinel use case.
One more benefit arrives with Release 2, and it is the one I find most interesting. When Sentinel presents a position and a counter-position, and a reviewer rules and records why, we accumulate a body of applied judgment. Over time that supports calibration, training, and quality management. Our expertise stops living only in people's heads.
Where Credit Risk Review fits in this: we recognized that one team's proof of concept was really a capability for all of Risk, and we took on the work of organizing it. We are the first application. We are writing the requirements and the architecture with IT. We are drafting the use cases with the next teams. That is the pattern everyone after us inherits, and we are offering it.
So here is my one ask. If your team spends hours preparing documents before judgment, tell us, and tell us before September. That is when the architecture is ratified, and I would rather design the foundation around your needs than retrofit it later. We would rather help you onboard than watch you build it again.
I will close with this. Sentinel will give Risk a common, controlled way to convert evidence into better-prepared human judgment. The judgment stays with us. The preparation does not have to.
Closing line (spoken): Sentinel will give Risk a common, controlled way to convert evidence into better-prepared human judgment. The judgment stays with us. The preparation does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103120"/>
            <a:ext cx="11277295" cy="822960"/>
          </a:xfrm>
          <a:prstGeom prst="rect">
            <a:avLst/>
          </a:prstGeom>
          <a:noFill/>
          <a:ln/>
        </p:spPr>
        <p:txBody>
          <a:bodyPr wrap="square" lIns="0" tIns="0" rIns="0" bIns="0" rtlCol="0" anchor="ctr"/>
          <a:lstStyle/>
          <a:p>
            <a:pPr indent="0" marL="0">
              <a:buNone/>
            </a:pPr>
            <a:r>
              <a:rPr lang="en-US" sz="4000" dirty="0">
                <a:solidFill>
                  <a:srgbClr val="1E1E1E"/>
                </a:solidFill>
                <a:latin typeface="Arial" pitchFamily="34" charset="0"/>
                <a:ea typeface="Arial" pitchFamily="34" charset="-122"/>
                <a:cs typeface="Arial" pitchFamily="34" charset="-120"/>
              </a:rPr>
              <a:t>Project Sentinel</a:t>
            </a:r>
            <a:endParaRPr lang="en-US" sz="4000" dirty="0"/>
          </a:p>
        </p:txBody>
      </p:sp>
      <p:sp>
        <p:nvSpPr>
          <p:cNvPr id="3" name="Text 1"/>
          <p:cNvSpPr txBox="1"/>
          <p:nvPr/>
        </p:nvSpPr>
        <p:spPr>
          <a:xfrm>
            <a:off x="457200" y="2926080"/>
            <a:ext cx="11277295" cy="548640"/>
          </a:xfrm>
          <a:prstGeom prst="rect">
            <a:avLst/>
          </a:prstGeom>
          <a:noFill/>
          <a:ln/>
        </p:spPr>
        <p:txBody>
          <a:bodyPr wrap="square" lIns="0" tIns="0" rIns="0" bIns="0" rtlCol="0" anchor="ctr"/>
          <a:lstStyle/>
          <a:p>
            <a:pPr indent="0" marL="0">
              <a:buNone/>
            </a:pPr>
            <a:r>
              <a:rPr lang="en-US" sz="2400" dirty="0">
                <a:solidFill>
                  <a:srgbClr val="E60000"/>
                </a:solidFill>
                <a:latin typeface="Arial" pitchFamily="34" charset="0"/>
                <a:ea typeface="Arial" pitchFamily="34" charset="-122"/>
                <a:cs typeface="Arial" pitchFamily="34" charset="-120"/>
              </a:rPr>
              <a:t>One foundation</a:t>
            </a:r>
            <a:pPr indent="0" marL="0">
              <a:buNone/>
            </a:pPr>
            <a:r>
              <a:rPr lang="en-US" sz="2400" dirty="0">
                <a:solidFill>
                  <a:srgbClr val="1E1E1E"/>
                </a:solidFill>
                <a:latin typeface="Arial" pitchFamily="34" charset="0"/>
                <a:ea typeface="Arial" pitchFamily="34" charset="-122"/>
                <a:cs typeface="Arial" pitchFamily="34" charset="-120"/>
              </a:rPr>
              <a:t> for Risk's document work</a:t>
            </a:r>
            <a:endParaRPr lang="en-US" sz="2400" dirty="0"/>
          </a:p>
        </p:txBody>
      </p:sp>
      <p:sp>
        <p:nvSpPr>
          <p:cNvPr id="4" name="Text 2"/>
          <p:cNvSpPr txBox="1"/>
          <p:nvPr/>
        </p:nvSpPr>
        <p:spPr>
          <a:xfrm>
            <a:off x="457200" y="3749040"/>
            <a:ext cx="11277295"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Credit Risk Review  |  Group Risk Control COO townhall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1E1E1E"/>
                </a:solidFill>
                <a:latin typeface="Arial" pitchFamily="34" charset="0"/>
                <a:ea typeface="Arial" pitchFamily="34" charset="-122"/>
                <a:cs typeface="Arial" pitchFamily="34" charset="-120"/>
              </a:rPr>
              <a:t>One team's question became </a:t>
            </a:r>
            <a:pPr indent="0" marL="0">
              <a:buNone/>
            </a:pPr>
            <a:r>
              <a:rPr lang="en-US" sz="2800" dirty="0">
                <a:solidFill>
                  <a:srgbClr val="E60000"/>
                </a:solidFill>
                <a:latin typeface="Arial" pitchFamily="34" charset="0"/>
                <a:ea typeface="Arial" pitchFamily="34" charset="-122"/>
                <a:cs typeface="Arial" pitchFamily="34" charset="-120"/>
              </a:rPr>
              <a:t>a capability for all of Risk</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Sentinel will do the document preparation, so our reviewers spend their time on judgment.</a:t>
            </a:r>
            <a:endParaRPr lang="en-US" sz="1400" dirty="0"/>
          </a:p>
        </p:txBody>
      </p:sp>
      <p:sp>
        <p:nvSpPr>
          <p:cNvPr id="4" name="Shape 2"/>
          <p:cNvSpPr/>
          <p:nvPr/>
        </p:nvSpPr>
        <p:spPr>
          <a:xfrm>
            <a:off x="457200" y="1508760"/>
            <a:ext cx="4480560" cy="4572000"/>
          </a:xfrm>
          <a:prstGeom prst="rect">
            <a:avLst/>
          </a:prstGeom>
          <a:solidFill>
            <a:srgbClr val="EFEDE8"/>
          </a:solidFill>
          <a:ln w="12700">
            <a:solidFill>
              <a:srgbClr val="EFEDE8"/>
            </a:solidFill>
            <a:prstDash val="solid"/>
          </a:ln>
        </p:spPr>
      </p:sp>
      <p:sp>
        <p:nvSpPr>
          <p:cNvPr id="5" name="Text 3"/>
          <p:cNvSpPr txBox="1"/>
          <p:nvPr/>
        </p:nvSpPr>
        <p:spPr>
          <a:xfrm>
            <a:off x="731520" y="1737360"/>
            <a:ext cx="3931920" cy="274320"/>
          </a:xfrm>
          <a:prstGeom prst="rect">
            <a:avLst/>
          </a:prstGeom>
          <a:noFill/>
          <a:ln/>
        </p:spPr>
        <p:txBody>
          <a:bodyPr wrap="square" lIns="0" tIns="0" rIns="0" bIns="0" rtlCol="0" anchor="t"/>
          <a:lstStyle/>
          <a:p>
            <a:pPr indent="0" marL="0">
              <a:buNone/>
            </a:pPr>
            <a:r>
              <a:rPr lang="en-US" sz="1400" b="1" dirty="0">
                <a:solidFill>
                  <a:srgbClr val="E60000"/>
                </a:solidFill>
                <a:latin typeface="Arial" pitchFamily="34" charset="0"/>
                <a:ea typeface="Arial" pitchFamily="34" charset="-122"/>
                <a:cs typeface="Arial" pitchFamily="34" charset="-120"/>
              </a:rPr>
              <a:t>What Sentinel will do</a:t>
            </a:r>
            <a:endParaRPr lang="en-US" sz="1400" dirty="0"/>
          </a:p>
        </p:txBody>
      </p:sp>
      <p:sp>
        <p:nvSpPr>
          <p:cNvPr id="6" name="Text 4"/>
          <p:cNvSpPr txBox="1"/>
          <p:nvPr/>
        </p:nvSpPr>
        <p:spPr>
          <a:xfrm>
            <a:off x="731520" y="2240280"/>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Organize the evidence.</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Read the documents and find the relevant text, tables, and figures.</a:t>
            </a:r>
            <a:endParaRPr lang="en-US" sz="1200" dirty="0"/>
          </a:p>
        </p:txBody>
      </p:sp>
      <p:sp>
        <p:nvSpPr>
          <p:cNvPr id="7" name="Text 5"/>
          <p:cNvSpPr txBox="1"/>
          <p:nvPr/>
        </p:nvSpPr>
        <p:spPr>
          <a:xfrm>
            <a:off x="731520" y="3264408"/>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Prepare the analysis.</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Structure what it finds into the output the team needs, such as a workpaper.</a:t>
            </a:r>
            <a:endParaRPr lang="en-US" sz="1200" dirty="0"/>
          </a:p>
        </p:txBody>
      </p:sp>
      <p:sp>
        <p:nvSpPr>
          <p:cNvPr id="8" name="Text 6"/>
          <p:cNvSpPr txBox="1"/>
          <p:nvPr/>
        </p:nvSpPr>
        <p:spPr>
          <a:xfrm>
            <a:off x="731520" y="4288536"/>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Show its work.</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Link every statement back to its source.</a:t>
            </a:r>
            <a:endParaRPr lang="en-US" sz="1200" dirty="0"/>
          </a:p>
        </p:txBody>
      </p:sp>
      <p:sp>
        <p:nvSpPr>
          <p:cNvPr id="9" name="Text 7"/>
          <p:cNvSpPr txBox="1"/>
          <p:nvPr/>
        </p:nvSpPr>
        <p:spPr>
          <a:xfrm>
            <a:off x="731520" y="5312664"/>
            <a:ext cx="3931920" cy="82296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Arial" pitchFamily="34" charset="0"/>
                <a:ea typeface="Arial" pitchFamily="34" charset="-122"/>
                <a:cs typeface="Arial" pitchFamily="34" charset="-120"/>
              </a:rPr>
              <a:t>Keep people accountable.</a:t>
            </a:r>
            <a:endParaRPr lang="en-US" sz="1200" dirty="0"/>
          </a:p>
          <a:p>
            <a:pPr indent="0" marL="0">
              <a:spcAft>
                <a:spcPts val="200"/>
              </a:spcAft>
              <a:buNone/>
            </a:pPr>
            <a:r>
              <a:rPr lang="en-US" sz="1200" dirty="0">
                <a:solidFill>
                  <a:srgbClr val="3A3A3A"/>
                </a:solidFill>
                <a:latin typeface="Arial" pitchFamily="34" charset="0"/>
                <a:ea typeface="Arial" pitchFamily="34" charset="-122"/>
                <a:cs typeface="Arial" pitchFamily="34" charset="-120"/>
              </a:rPr>
              <a:t>Flag uncertainty and hold items for a reviewer.</a:t>
            </a:r>
            <a:endParaRPr lang="en-US" sz="1200" dirty="0"/>
          </a:p>
        </p:txBody>
      </p:sp>
      <p:sp>
        <p:nvSpPr>
          <p:cNvPr id="10" name="Shape 8"/>
          <p:cNvSpPr/>
          <p:nvPr/>
        </p:nvSpPr>
        <p:spPr>
          <a:xfrm>
            <a:off x="5303520" y="1508760"/>
            <a:ext cx="6430975" cy="1371600"/>
          </a:xfrm>
          <a:prstGeom prst="rect">
            <a:avLst/>
          </a:prstGeom>
          <a:solidFill>
            <a:srgbClr val="EFEDE8"/>
          </a:solidFill>
          <a:ln w="12700">
            <a:solidFill>
              <a:srgbClr val="EFEDE8"/>
            </a:solidFill>
            <a:prstDash val="solid"/>
          </a:ln>
        </p:spPr>
      </p:sp>
      <p:sp>
        <p:nvSpPr>
          <p:cNvPr id="11" name="Text 9"/>
          <p:cNvSpPr txBox="1"/>
          <p:nvPr/>
        </p:nvSpPr>
        <p:spPr>
          <a:xfrm>
            <a:off x="5577840" y="169164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Where it started</a:t>
            </a:r>
            <a:endParaRPr lang="en-US" sz="1200" dirty="0"/>
          </a:p>
        </p:txBody>
      </p:sp>
      <p:sp>
        <p:nvSpPr>
          <p:cNvPr id="12" name="Shape 10"/>
          <p:cNvSpPr/>
          <p:nvPr/>
        </p:nvSpPr>
        <p:spPr>
          <a:xfrm>
            <a:off x="5577840" y="2011680"/>
            <a:ext cx="548640" cy="658368"/>
          </a:xfrm>
          <a:prstGeom prst="flowChartDocument">
            <a:avLst/>
          </a:prstGeom>
          <a:solidFill>
            <a:srgbClr val="FFFFFF"/>
          </a:solidFill>
          <a:ln w="12700">
            <a:solidFill>
              <a:srgbClr val="6B6B6B"/>
            </a:solidFill>
            <a:prstDash val="solid"/>
          </a:ln>
        </p:spPr>
      </p:sp>
      <p:sp>
        <p:nvSpPr>
          <p:cNvPr id="13" name="Text 11"/>
          <p:cNvSpPr txBox="1"/>
          <p:nvPr/>
        </p:nvSpPr>
        <p:spPr>
          <a:xfrm>
            <a:off x="5577840" y="2011680"/>
            <a:ext cx="548640" cy="566928"/>
          </a:xfrm>
          <a:prstGeom prst="rect">
            <a:avLst/>
          </a:prstGeom>
          <a:noFill/>
          <a:ln/>
        </p:spPr>
        <p:txBody>
          <a:bodyPr wrap="square" lIns="0" tIns="0" rIns="0" bIns="0" rtlCol="0" anchor="ctr"/>
          <a:lstStyle/>
          <a:p>
            <a:pPr algn="ctr" indent="0" marL="0">
              <a:buNone/>
            </a:pPr>
            <a:r>
              <a:rPr lang="en-US" sz="2000" b="1" dirty="0">
                <a:solidFill>
                  <a:srgbClr val="E60000"/>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6309360" y="2011680"/>
            <a:ext cx="5150815" cy="731520"/>
          </a:xfrm>
          <a:prstGeom prst="rect">
            <a:avLst/>
          </a:prstGeom>
          <a:noFill/>
          <a:ln/>
        </p:spPr>
        <p:txBody>
          <a:bodyPr wrap="square" lIns="0" tIns="0" rIns="0" bIns="0" rtlCol="0" anchor="t"/>
          <a:lstStyle/>
          <a:p>
            <a:pPr indent="0" marL="0">
              <a:buNone/>
            </a:pPr>
            <a:r>
              <a:rPr lang="en-US" sz="1200" dirty="0">
                <a:solidFill>
                  <a:srgbClr val="3A3A3A"/>
                </a:solidFill>
                <a:latin typeface="Arial" pitchFamily="34" charset="0"/>
                <a:ea typeface="Arial" pitchFamily="34" charset="-122"/>
                <a:cs typeface="Arial" pitchFamily="34" charset="-120"/>
              </a:rPr>
              <a:t>A proof of concept in IB Commercial Lending: upload a document, ask a question, get an answer with its source.</a:t>
            </a:r>
            <a:endParaRPr lang="en-US" sz="1200" dirty="0"/>
          </a:p>
        </p:txBody>
      </p:sp>
      <p:sp>
        <p:nvSpPr>
          <p:cNvPr id="15" name="Shape 13"/>
          <p:cNvSpPr/>
          <p:nvPr/>
        </p:nvSpPr>
        <p:spPr>
          <a:xfrm>
            <a:off x="5303520" y="3063240"/>
            <a:ext cx="6430975" cy="3017520"/>
          </a:xfrm>
          <a:prstGeom prst="rect">
            <a:avLst/>
          </a:prstGeom>
          <a:solidFill>
            <a:srgbClr val="EFEDE8"/>
          </a:solidFill>
          <a:ln w="12700">
            <a:solidFill>
              <a:srgbClr val="EFEDE8"/>
            </a:solidFill>
            <a:prstDash val="solid"/>
          </a:ln>
        </p:spPr>
      </p:sp>
      <p:sp>
        <p:nvSpPr>
          <p:cNvPr id="16" name="Text 14"/>
          <p:cNvSpPr txBox="1"/>
          <p:nvPr/>
        </p:nvSpPr>
        <p:spPr>
          <a:xfrm>
            <a:off x="5577840" y="3246120"/>
            <a:ext cx="2743200"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What we saw</a:t>
            </a:r>
            <a:endParaRPr lang="en-US" sz="1200" dirty="0"/>
          </a:p>
        </p:txBody>
      </p:sp>
      <p:sp>
        <p:nvSpPr>
          <p:cNvPr id="17" name="Text 15"/>
          <p:cNvSpPr txBox="1"/>
          <p:nvPr/>
        </p:nvSpPr>
        <p:spPr>
          <a:xfrm>
            <a:off x="5577840" y="3538728"/>
            <a:ext cx="5882335" cy="548640"/>
          </a:xfrm>
          <a:prstGeom prst="rect">
            <a:avLst/>
          </a:prstGeom>
          <a:noFill/>
          <a:ln/>
        </p:spPr>
        <p:txBody>
          <a:bodyPr wrap="square" lIns="0" tIns="0" rIns="0" bIns="0" rtlCol="0" anchor="t"/>
          <a:lstStyle/>
          <a:p>
            <a:pPr indent="0" marL="0">
              <a:buNone/>
            </a:pPr>
            <a:r>
              <a:rPr lang="en-US" sz="1200" dirty="0">
                <a:solidFill>
                  <a:srgbClr val="3A3A3A"/>
                </a:solidFill>
                <a:latin typeface="Arial" pitchFamily="34" charset="0"/>
                <a:ea typeface="Arial" pitchFamily="34" charset="-122"/>
                <a:cs typeface="Arial" pitchFamily="34" charset="-120"/>
              </a:rPr>
              <a:t>The hard part is the same for every Risk team. Build it once. Let every team bring its own questions, standards, and outputs.</a:t>
            </a:r>
            <a:endParaRPr lang="en-US" sz="1200" dirty="0"/>
          </a:p>
        </p:txBody>
      </p:sp>
      <p:sp>
        <p:nvSpPr>
          <p:cNvPr id="18" name="Shape 16"/>
          <p:cNvSpPr/>
          <p:nvPr/>
        </p:nvSpPr>
        <p:spPr>
          <a:xfrm>
            <a:off x="5577840" y="4206240"/>
            <a:ext cx="1024128" cy="502920"/>
          </a:xfrm>
          <a:prstGeom prst="rect">
            <a:avLst/>
          </a:prstGeom>
          <a:solidFill>
            <a:srgbClr val="FFFFFF"/>
          </a:solidFill>
          <a:ln w="12700">
            <a:solidFill>
              <a:srgbClr val="B9B5AB"/>
            </a:solidFill>
            <a:prstDash val="solid"/>
          </a:ln>
        </p:spPr>
      </p:sp>
      <p:sp>
        <p:nvSpPr>
          <p:cNvPr id="19" name="Text 17"/>
          <p:cNvSpPr txBox="1"/>
          <p:nvPr/>
        </p:nvSpPr>
        <p:spPr>
          <a:xfrm>
            <a:off x="5577840"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Credit Risk Review</a:t>
            </a:r>
            <a:endParaRPr lang="en-US" sz="1000" dirty="0"/>
          </a:p>
        </p:txBody>
      </p:sp>
      <p:sp>
        <p:nvSpPr>
          <p:cNvPr id="20" name="Shape 18"/>
          <p:cNvSpPr/>
          <p:nvPr/>
        </p:nvSpPr>
        <p:spPr>
          <a:xfrm>
            <a:off x="6693408" y="4206240"/>
            <a:ext cx="1024128" cy="502920"/>
          </a:xfrm>
          <a:prstGeom prst="rect">
            <a:avLst/>
          </a:prstGeom>
          <a:solidFill>
            <a:srgbClr val="FFFFFF"/>
          </a:solidFill>
          <a:ln w="12700">
            <a:solidFill>
              <a:srgbClr val="B9B5AB"/>
            </a:solidFill>
            <a:prstDash val="solid"/>
          </a:ln>
        </p:spPr>
      </p:sp>
      <p:sp>
        <p:nvSpPr>
          <p:cNvPr id="21" name="Text 19"/>
          <p:cNvSpPr txBox="1"/>
          <p:nvPr/>
        </p:nvSpPr>
        <p:spPr>
          <a:xfrm>
            <a:off x="6693408"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Enterprise Risk Management</a:t>
            </a:r>
            <a:endParaRPr lang="en-US" sz="1000" dirty="0"/>
          </a:p>
        </p:txBody>
      </p:sp>
      <p:sp>
        <p:nvSpPr>
          <p:cNvPr id="22" name="Shape 20"/>
          <p:cNvSpPr/>
          <p:nvPr/>
        </p:nvSpPr>
        <p:spPr>
          <a:xfrm>
            <a:off x="7808976" y="4206240"/>
            <a:ext cx="1024128" cy="502920"/>
          </a:xfrm>
          <a:prstGeom prst="rect">
            <a:avLst/>
          </a:prstGeom>
          <a:solidFill>
            <a:srgbClr val="FFFFFF"/>
          </a:solidFill>
          <a:ln w="12700">
            <a:solidFill>
              <a:srgbClr val="B9B5AB"/>
            </a:solidFill>
            <a:prstDash val="solid"/>
          </a:ln>
        </p:spPr>
      </p:sp>
      <p:sp>
        <p:nvSpPr>
          <p:cNvPr id="23" name="Text 21"/>
          <p:cNvSpPr txBox="1"/>
          <p:nvPr/>
        </p:nvSpPr>
        <p:spPr>
          <a:xfrm>
            <a:off x="7808976"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Personal &amp; Corporate Banking</a:t>
            </a:r>
            <a:endParaRPr lang="en-US" sz="1000" dirty="0"/>
          </a:p>
        </p:txBody>
      </p:sp>
      <p:sp>
        <p:nvSpPr>
          <p:cNvPr id="24" name="Shape 22"/>
          <p:cNvSpPr/>
          <p:nvPr/>
        </p:nvSpPr>
        <p:spPr>
          <a:xfrm>
            <a:off x="8924544" y="4206240"/>
            <a:ext cx="1024128" cy="502920"/>
          </a:xfrm>
          <a:prstGeom prst="rect">
            <a:avLst/>
          </a:prstGeom>
          <a:solidFill>
            <a:srgbClr val="FFFFFF"/>
          </a:solidFill>
          <a:ln w="12700">
            <a:solidFill>
              <a:srgbClr val="6B6B6B"/>
            </a:solidFill>
            <a:prstDash val="dash"/>
          </a:ln>
        </p:spPr>
      </p:sp>
      <p:sp>
        <p:nvSpPr>
          <p:cNvPr id="25" name="Text 23"/>
          <p:cNvSpPr txBox="1"/>
          <p:nvPr/>
        </p:nvSpPr>
        <p:spPr>
          <a:xfrm>
            <a:off x="8924544" y="4206240"/>
            <a:ext cx="1024128" cy="502920"/>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Your team</a:t>
            </a:r>
            <a:endParaRPr lang="en-US" sz="1000" dirty="0"/>
          </a:p>
        </p:txBody>
      </p:sp>
      <p:sp>
        <p:nvSpPr>
          <p:cNvPr id="26" name="Shape 24"/>
          <p:cNvSpPr/>
          <p:nvPr/>
        </p:nvSpPr>
        <p:spPr>
          <a:xfrm>
            <a:off x="5577840" y="4800600"/>
            <a:ext cx="4370832" cy="566928"/>
          </a:xfrm>
          <a:prstGeom prst="rect">
            <a:avLst/>
          </a:prstGeom>
          <a:solidFill>
            <a:srgbClr val="A39F92"/>
          </a:solidFill>
          <a:ln w="12700">
            <a:solidFill>
              <a:srgbClr val="A39F92"/>
            </a:solidFill>
            <a:prstDash val="solid"/>
          </a:ln>
        </p:spPr>
      </p:sp>
      <p:sp>
        <p:nvSpPr>
          <p:cNvPr id="27" name="Text 25"/>
          <p:cNvSpPr txBox="1"/>
          <p:nvPr/>
        </p:nvSpPr>
        <p:spPr>
          <a:xfrm>
            <a:off x="5669280" y="4800600"/>
            <a:ext cx="4187952" cy="566928"/>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Shared foundation: takes in documents, reads them, finds what matters, cites sources, controls access</a:t>
            </a:r>
            <a:endParaRPr lang="en-US" sz="1000" dirty="0"/>
          </a:p>
        </p:txBody>
      </p:sp>
      <p:sp>
        <p:nvSpPr>
          <p:cNvPr id="28" name="Shape 26"/>
          <p:cNvSpPr/>
          <p:nvPr/>
        </p:nvSpPr>
        <p:spPr>
          <a:xfrm>
            <a:off x="10040112" y="4910328"/>
            <a:ext cx="365760" cy="347472"/>
          </a:xfrm>
          <a:prstGeom prst="rightArrow">
            <a:avLst/>
          </a:prstGeom>
          <a:solidFill>
            <a:srgbClr val="6B6B6B"/>
          </a:solidFill>
          <a:ln w="12700">
            <a:solidFill>
              <a:srgbClr val="6B6B6B"/>
            </a:solidFill>
            <a:prstDash val="solid"/>
          </a:ln>
        </p:spPr>
      </p:sp>
      <p:sp>
        <p:nvSpPr>
          <p:cNvPr id="29" name="Text 27"/>
          <p:cNvSpPr txBox="1"/>
          <p:nvPr/>
        </p:nvSpPr>
        <p:spPr>
          <a:xfrm>
            <a:off x="9948672" y="4663440"/>
            <a:ext cx="548640" cy="201168"/>
          </a:xfrm>
          <a:prstGeom prst="rect">
            <a:avLst/>
          </a:prstGeom>
          <a:noFill/>
          <a:ln/>
        </p:spPr>
        <p:txBody>
          <a:bodyPr wrap="square" lIns="0" tIns="0" rIns="0" bIns="0" rtlCol="0" anchor="t"/>
          <a:lstStyle/>
          <a:p>
            <a:pPr algn="ctr" indent="0" marL="0">
              <a:buNone/>
            </a:pPr>
            <a:r>
              <a:rPr lang="en-US" sz="900" dirty="0">
                <a:solidFill>
                  <a:srgbClr val="6B6B6B"/>
                </a:solidFill>
                <a:latin typeface="Arial" pitchFamily="34" charset="0"/>
                <a:ea typeface="Arial" pitchFamily="34" charset="-122"/>
                <a:cs typeface="Arial" pitchFamily="34" charset="-120"/>
              </a:rPr>
              <a:t>draft</a:t>
            </a:r>
            <a:endParaRPr lang="en-US" sz="900" dirty="0"/>
          </a:p>
        </p:txBody>
      </p:sp>
      <p:sp>
        <p:nvSpPr>
          <p:cNvPr id="30" name="Shape 28"/>
          <p:cNvSpPr/>
          <p:nvPr/>
        </p:nvSpPr>
        <p:spPr>
          <a:xfrm>
            <a:off x="10497312" y="4251960"/>
            <a:ext cx="962863" cy="1207008"/>
          </a:xfrm>
          <a:prstGeom prst="roundRect">
            <a:avLst>
              <a:gd name="adj" fmla="val 7597"/>
            </a:avLst>
          </a:prstGeom>
          <a:solidFill>
            <a:srgbClr val="FFFFFF"/>
          </a:solidFill>
          <a:ln w="19050">
            <a:solidFill>
              <a:srgbClr val="E60000"/>
            </a:solidFill>
            <a:prstDash val="solid"/>
          </a:ln>
        </p:spPr>
      </p:sp>
      <p:sp>
        <p:nvSpPr>
          <p:cNvPr id="31" name="Text 29"/>
          <p:cNvSpPr txBox="1"/>
          <p:nvPr/>
        </p:nvSpPr>
        <p:spPr>
          <a:xfrm>
            <a:off x="10497312" y="4251960"/>
            <a:ext cx="962863" cy="1207008"/>
          </a:xfrm>
          <a:prstGeom prst="rect">
            <a:avLst/>
          </a:prstGeom>
          <a:noFill/>
          <a:ln/>
        </p:spPr>
        <p:txBody>
          <a:bodyPr wrap="square" lIns="38100" tIns="38100" rIns="38100" bIns="38100" rtlCol="0" anchor="ctr"/>
          <a:lstStyle/>
          <a:p>
            <a:pPr algn="ctr" indent="0" marL="0">
              <a:buNone/>
            </a:pPr>
            <a:r>
              <a:rPr lang="en-US" sz="1000" b="1" dirty="0">
                <a:solidFill>
                  <a:srgbClr val="1E1E1E"/>
                </a:solidFill>
                <a:latin typeface="Arial" pitchFamily="34" charset="0"/>
                <a:ea typeface="Arial" pitchFamily="34" charset="-122"/>
                <a:cs typeface="Arial" pitchFamily="34" charset="-120"/>
              </a:rPr>
              <a:t>Reviewer</a:t>
            </a:r>
            <a:endParaRPr lang="en-US" sz="1000" dirty="0"/>
          </a:p>
          <a:p>
            <a:pPr algn="ctr" indent="0" marL="0">
              <a:buNone/>
            </a:pPr>
            <a:r>
              <a:rPr lang="en-US" sz="1000" dirty="0">
                <a:solidFill>
                  <a:srgbClr val="3A3A3A"/>
                </a:solidFill>
                <a:latin typeface="Arial" pitchFamily="34" charset="0"/>
                <a:ea typeface="Arial" pitchFamily="34" charset="-122"/>
                <a:cs typeface="Arial" pitchFamily="34" charset="-120"/>
              </a:rPr>
              <a:t>checks, challenges, decides</a:t>
            </a:r>
            <a:endParaRPr lang="en-US" sz="1000" dirty="0"/>
          </a:p>
        </p:txBody>
      </p:sp>
      <p:sp>
        <p:nvSpPr>
          <p:cNvPr id="32" name="Text 30"/>
          <p:cNvSpPr txBox="1"/>
          <p:nvPr/>
        </p:nvSpPr>
        <p:spPr>
          <a:xfrm>
            <a:off x="5577840" y="5696712"/>
            <a:ext cx="5882335" cy="27432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Judgment stays with people.</a:t>
            </a:r>
            <a:endParaRPr lang="en-US" sz="1100" dirty="0"/>
          </a:p>
        </p:txBody>
      </p:sp>
      <p:sp>
        <p:nvSpPr>
          <p:cNvPr id="34" name="Text 31"/>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The proof of concept showed</a:t>
            </a:r>
            <a:pPr indent="0" marL="0">
              <a:buNone/>
            </a:pPr>
            <a:r>
              <a:rPr lang="en-US" sz="2800" dirty="0">
                <a:solidFill>
                  <a:srgbClr val="1E1E1E"/>
                </a:solidFill>
                <a:latin typeface="Arial" pitchFamily="34" charset="0"/>
                <a:ea typeface="Arial" pitchFamily="34" charset="-122"/>
                <a:cs typeface="Arial" pitchFamily="34" charset="-120"/>
              </a:rPr>
              <a:t> the approach works</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Proof of concept only. Not a production application. Shown to illustrate the idea.</a:t>
            </a:r>
            <a:endParaRPr lang="en-US" sz="1400" dirty="0"/>
          </a:p>
        </p:txBody>
      </p:sp>
      <p:sp>
        <p:nvSpPr>
          <p:cNvPr id="4" name="Shape 2"/>
          <p:cNvSpPr/>
          <p:nvPr/>
        </p:nvSpPr>
        <p:spPr>
          <a:xfrm>
            <a:off x="457200" y="1508760"/>
            <a:ext cx="8595360" cy="4709160"/>
          </a:xfrm>
          <a:prstGeom prst="rect">
            <a:avLst/>
          </a:prstGeom>
          <a:solidFill>
            <a:srgbClr val="F7F6F3"/>
          </a:solidFill>
          <a:ln w="12700">
            <a:solidFill>
              <a:srgbClr val="6B6B6B"/>
            </a:solidFill>
            <a:prstDash val="dash"/>
          </a:ln>
        </p:spPr>
      </p:sp>
      <p:sp>
        <p:nvSpPr>
          <p:cNvPr id="5" name="Text 3"/>
          <p:cNvSpPr txBox="1"/>
          <p:nvPr/>
        </p:nvSpPr>
        <p:spPr>
          <a:xfrm>
            <a:off x="1554480" y="2971800"/>
            <a:ext cx="6400800" cy="1463040"/>
          </a:xfrm>
          <a:prstGeom prst="rect">
            <a:avLst/>
          </a:prstGeom>
          <a:noFill/>
          <a:ln/>
        </p:spPr>
        <p:txBody>
          <a:bodyPr wrap="square" lIns="0" tIns="0" rIns="0" bIns="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Screenshot placeholder</a:t>
            </a:r>
            <a:endParaRPr lang="en-US" sz="1200" dirty="0"/>
          </a:p>
          <a:p>
            <a:pPr algn="ctr" indent="0" marL="0">
              <a:buNone/>
            </a:pP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Paste the proof-of-concept workpaper screen here: a populated section, a page-cited source, and a review-required flag visible. Then move the three numbered markers onto the matching spots.</a:t>
            </a:r>
            <a:endParaRPr lang="en-US" sz="1200" dirty="0"/>
          </a:p>
        </p:txBody>
      </p:sp>
      <p:sp>
        <p:nvSpPr>
          <p:cNvPr id="6" name="Shape 4"/>
          <p:cNvSpPr/>
          <p:nvPr/>
        </p:nvSpPr>
        <p:spPr>
          <a:xfrm>
            <a:off x="914400" y="1965960"/>
            <a:ext cx="365760" cy="365760"/>
          </a:xfrm>
          <a:prstGeom prst="ellipse">
            <a:avLst/>
          </a:prstGeom>
          <a:solidFill>
            <a:srgbClr val="E60000"/>
          </a:solidFill>
          <a:ln w="12700">
            <a:solidFill>
              <a:srgbClr val="E60000"/>
            </a:solidFill>
            <a:prstDash val="solid"/>
          </a:ln>
        </p:spPr>
      </p:sp>
      <p:sp>
        <p:nvSpPr>
          <p:cNvPr id="7" name="Text 5"/>
          <p:cNvSpPr txBox="1"/>
          <p:nvPr/>
        </p:nvSpPr>
        <p:spPr>
          <a:xfrm>
            <a:off x="914400" y="1965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Shape 6"/>
          <p:cNvSpPr/>
          <p:nvPr/>
        </p:nvSpPr>
        <p:spPr>
          <a:xfrm>
            <a:off x="8046720" y="3611880"/>
            <a:ext cx="365760" cy="365760"/>
          </a:xfrm>
          <a:prstGeom prst="ellipse">
            <a:avLst/>
          </a:prstGeom>
          <a:solidFill>
            <a:srgbClr val="E60000"/>
          </a:solidFill>
          <a:ln w="12700">
            <a:solidFill>
              <a:srgbClr val="E60000"/>
            </a:solidFill>
            <a:prstDash val="solid"/>
          </a:ln>
        </p:spPr>
      </p:sp>
      <p:sp>
        <p:nvSpPr>
          <p:cNvPr id="9" name="Text 7"/>
          <p:cNvSpPr txBox="1"/>
          <p:nvPr/>
        </p:nvSpPr>
        <p:spPr>
          <a:xfrm>
            <a:off x="8046720" y="3611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Shape 8"/>
          <p:cNvSpPr/>
          <p:nvPr/>
        </p:nvSpPr>
        <p:spPr>
          <a:xfrm>
            <a:off x="914400" y="5394960"/>
            <a:ext cx="365760" cy="365760"/>
          </a:xfrm>
          <a:prstGeom prst="ellipse">
            <a:avLst/>
          </a:prstGeom>
          <a:solidFill>
            <a:srgbClr val="E60000"/>
          </a:solidFill>
          <a:ln w="12700">
            <a:solidFill>
              <a:srgbClr val="E60000"/>
            </a:solidFill>
            <a:prstDash val="solid"/>
          </a:ln>
        </p:spPr>
      </p:sp>
      <p:sp>
        <p:nvSpPr>
          <p:cNvPr id="11" name="Text 9"/>
          <p:cNvSpPr txBox="1"/>
          <p:nvPr/>
        </p:nvSpPr>
        <p:spPr>
          <a:xfrm>
            <a:off x="914400" y="5394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Shape 10"/>
          <p:cNvSpPr/>
          <p:nvPr/>
        </p:nvSpPr>
        <p:spPr>
          <a:xfrm>
            <a:off x="9372600" y="1783080"/>
            <a:ext cx="365760" cy="365760"/>
          </a:xfrm>
          <a:prstGeom prst="ellipse">
            <a:avLst/>
          </a:prstGeom>
          <a:solidFill>
            <a:srgbClr val="E60000"/>
          </a:solidFill>
          <a:ln w="12700">
            <a:solidFill>
              <a:srgbClr val="E60000"/>
            </a:solidFill>
            <a:prstDash val="solid"/>
          </a:ln>
        </p:spPr>
      </p:sp>
      <p:sp>
        <p:nvSpPr>
          <p:cNvPr id="13" name="Text 11"/>
          <p:cNvSpPr txBox="1"/>
          <p:nvPr/>
        </p:nvSpPr>
        <p:spPr>
          <a:xfrm>
            <a:off x="9372600" y="1783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4" name="Text 12"/>
          <p:cNvSpPr txBox="1"/>
          <p:nvPr/>
        </p:nvSpPr>
        <p:spPr>
          <a:xfrm>
            <a:off x="9875520" y="1764792"/>
            <a:ext cx="1858975" cy="82296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Workpaper section populated from the documents</a:t>
            </a:r>
            <a:endParaRPr lang="en-US" sz="1200" dirty="0"/>
          </a:p>
        </p:txBody>
      </p:sp>
      <p:sp>
        <p:nvSpPr>
          <p:cNvPr id="15" name="Shape 13"/>
          <p:cNvSpPr/>
          <p:nvPr/>
        </p:nvSpPr>
        <p:spPr>
          <a:xfrm>
            <a:off x="9372600" y="2971800"/>
            <a:ext cx="365760" cy="365760"/>
          </a:xfrm>
          <a:prstGeom prst="ellipse">
            <a:avLst/>
          </a:prstGeom>
          <a:solidFill>
            <a:srgbClr val="E60000"/>
          </a:solidFill>
          <a:ln w="12700">
            <a:solidFill>
              <a:srgbClr val="E60000"/>
            </a:solidFill>
            <a:prstDash val="solid"/>
          </a:ln>
        </p:spPr>
      </p:sp>
      <p:sp>
        <p:nvSpPr>
          <p:cNvPr id="16" name="Text 14"/>
          <p:cNvSpPr txBox="1"/>
          <p:nvPr/>
        </p:nvSpPr>
        <p:spPr>
          <a:xfrm>
            <a:off x="9372600" y="2971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txBox="1"/>
          <p:nvPr/>
        </p:nvSpPr>
        <p:spPr>
          <a:xfrm>
            <a:off x="9875520" y="2953512"/>
            <a:ext cx="1858975" cy="82296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Evidence cited to the page</a:t>
            </a:r>
            <a:endParaRPr lang="en-US" sz="1200" dirty="0"/>
          </a:p>
        </p:txBody>
      </p:sp>
      <p:sp>
        <p:nvSpPr>
          <p:cNvPr id="18" name="Shape 16"/>
          <p:cNvSpPr/>
          <p:nvPr/>
        </p:nvSpPr>
        <p:spPr>
          <a:xfrm>
            <a:off x="9372600" y="4160520"/>
            <a:ext cx="365760" cy="365760"/>
          </a:xfrm>
          <a:prstGeom prst="ellipse">
            <a:avLst/>
          </a:prstGeom>
          <a:solidFill>
            <a:srgbClr val="E60000"/>
          </a:solidFill>
          <a:ln w="12700">
            <a:solidFill>
              <a:srgbClr val="E60000"/>
            </a:solidFill>
            <a:prstDash val="solid"/>
          </a:ln>
        </p:spPr>
      </p:sp>
      <p:sp>
        <p:nvSpPr>
          <p:cNvPr id="19" name="Text 17"/>
          <p:cNvSpPr txBox="1"/>
          <p:nvPr/>
        </p:nvSpPr>
        <p:spPr>
          <a:xfrm>
            <a:off x="9372600"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0" name="Text 18"/>
          <p:cNvSpPr txBox="1"/>
          <p:nvPr/>
        </p:nvSpPr>
        <p:spPr>
          <a:xfrm>
            <a:off x="9875520" y="4142232"/>
            <a:ext cx="1858975" cy="82296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Flagged for the reviewer</a:t>
            </a:r>
            <a:endParaRPr lang="en-US" sz="1200" dirty="0"/>
          </a:p>
        </p:txBody>
      </p:sp>
      <p:sp>
        <p:nvSpPr>
          <p:cNvPr id="22" name="Text 19"/>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One shared foundation.</a:t>
            </a:r>
            <a:pPr indent="0" marL="0">
              <a:buNone/>
            </a:pPr>
            <a:r>
              <a:rPr lang="en-US" sz="2800" dirty="0">
                <a:solidFill>
                  <a:srgbClr val="1E1E1E"/>
                </a:solidFill>
                <a:latin typeface="Arial" pitchFamily="34" charset="0"/>
                <a:ea typeface="Arial" pitchFamily="34" charset="-122"/>
                <a:cs typeface="Arial" pitchFamily="34" charset="-120"/>
              </a:rPr>
              <a:t> Each team brings its own rules.</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Built once with IT, inherited by every team that follows. Technical architecture in progress.</a:t>
            </a:r>
            <a:endParaRPr lang="en-US" sz="1400" dirty="0"/>
          </a:p>
        </p:txBody>
      </p:sp>
      <p:sp>
        <p:nvSpPr>
          <p:cNvPr id="4" name="Shape 2"/>
          <p:cNvSpPr/>
          <p:nvPr/>
        </p:nvSpPr>
        <p:spPr>
          <a:xfrm>
            <a:off x="457200" y="1481328"/>
            <a:ext cx="274320" cy="274320"/>
          </a:xfrm>
          <a:prstGeom prst="ellipse">
            <a:avLst/>
          </a:prstGeom>
          <a:solidFill>
            <a:srgbClr val="E60000"/>
          </a:solidFill>
          <a:ln w="12700">
            <a:solidFill>
              <a:srgbClr val="E60000"/>
            </a:solidFill>
            <a:prstDash val="solid"/>
          </a:ln>
        </p:spPr>
      </p:sp>
      <p:sp>
        <p:nvSpPr>
          <p:cNvPr id="5" name="Text 3"/>
          <p:cNvSpPr txBox="1"/>
          <p:nvPr/>
        </p:nvSpPr>
        <p:spPr>
          <a:xfrm>
            <a:off x="457200" y="14813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6" name="Text 4"/>
          <p:cNvSpPr txBox="1"/>
          <p:nvPr/>
        </p:nvSpPr>
        <p:spPr>
          <a:xfrm>
            <a:off x="822960" y="1499616"/>
            <a:ext cx="5486400" cy="27432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Each team owns its own application</a:t>
            </a:r>
            <a:endParaRPr lang="en-US" sz="1200" dirty="0"/>
          </a:p>
        </p:txBody>
      </p:sp>
      <p:sp>
        <p:nvSpPr>
          <p:cNvPr id="7" name="Shape 5"/>
          <p:cNvSpPr/>
          <p:nvPr/>
        </p:nvSpPr>
        <p:spPr>
          <a:xfrm>
            <a:off x="457200" y="1810512"/>
            <a:ext cx="2697480" cy="1719072"/>
          </a:xfrm>
          <a:prstGeom prst="rect">
            <a:avLst/>
          </a:prstGeom>
          <a:solidFill>
            <a:srgbClr val="EFEDE8"/>
          </a:solidFill>
          <a:ln w="19050">
            <a:solidFill>
              <a:srgbClr val="E60000"/>
            </a:solidFill>
            <a:prstDash val="solid"/>
          </a:ln>
        </p:spPr>
      </p:sp>
      <p:sp>
        <p:nvSpPr>
          <p:cNvPr id="8" name="Text 6"/>
          <p:cNvSpPr txBox="1"/>
          <p:nvPr/>
        </p:nvSpPr>
        <p:spPr>
          <a:xfrm>
            <a:off x="621792"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Credit Risk Review</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first application, in design</a:t>
            </a:r>
            <a:endParaRPr lang="en-US" sz="1200" dirty="0"/>
          </a:p>
        </p:txBody>
      </p:sp>
      <p:sp>
        <p:nvSpPr>
          <p:cNvPr id="9" name="Text 7"/>
          <p:cNvSpPr txBox="1"/>
          <p:nvPr/>
        </p:nvSpPr>
        <p:spPr>
          <a:xfrm>
            <a:off x="621792"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Deep review of borrower relationships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Workpapers with every statement cited</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Built-in second opinion; a person decides</a:t>
            </a:r>
            <a:endParaRPr lang="en-US" sz="1100" dirty="0"/>
          </a:p>
        </p:txBody>
      </p:sp>
      <p:sp>
        <p:nvSpPr>
          <p:cNvPr id="10" name="Shape 8"/>
          <p:cNvSpPr/>
          <p:nvPr/>
        </p:nvSpPr>
        <p:spPr>
          <a:xfrm>
            <a:off x="1696212" y="3584448"/>
            <a:ext cx="219456" cy="237744"/>
          </a:xfrm>
          <a:prstGeom prst="upArrow">
            <a:avLst/>
          </a:prstGeom>
          <a:solidFill>
            <a:srgbClr val="6B6B6B"/>
          </a:solidFill>
          <a:ln w="12700">
            <a:solidFill>
              <a:srgbClr val="6B6B6B"/>
            </a:solidFill>
            <a:prstDash val="solid"/>
          </a:ln>
        </p:spPr>
      </p:sp>
      <p:sp>
        <p:nvSpPr>
          <p:cNvPr id="11" name="Shape 9"/>
          <p:cNvSpPr/>
          <p:nvPr/>
        </p:nvSpPr>
        <p:spPr>
          <a:xfrm>
            <a:off x="3317138" y="1810512"/>
            <a:ext cx="2697480" cy="1719072"/>
          </a:xfrm>
          <a:prstGeom prst="rect">
            <a:avLst/>
          </a:prstGeom>
          <a:solidFill>
            <a:srgbClr val="EFEDE8"/>
          </a:solidFill>
          <a:ln w="12700">
            <a:solidFill>
              <a:srgbClr val="EFEDE8"/>
            </a:solidFill>
            <a:prstDash val="solid"/>
          </a:ln>
        </p:spPr>
      </p:sp>
      <p:sp>
        <p:nvSpPr>
          <p:cNvPr id="12" name="Text 10"/>
          <p:cNvSpPr txBox="1"/>
          <p:nvPr/>
        </p:nvSpPr>
        <p:spPr>
          <a:xfrm>
            <a:off x="3481730"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Enterprise Risk Management</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planned</a:t>
            </a:r>
            <a:endParaRPr lang="en-US" sz="1200" dirty="0"/>
          </a:p>
        </p:txBody>
      </p:sp>
      <p:sp>
        <p:nvSpPr>
          <p:cNvPr id="13" name="Text 11"/>
          <p:cNvSpPr txBox="1"/>
          <p:nvPr/>
        </p:nvSpPr>
        <p:spPr>
          <a:xfrm>
            <a:off x="3481730"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Scan across a whole portfolio</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Ask questions of any set of documents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Surface emerging risks</a:t>
            </a:r>
            <a:endParaRPr lang="en-US" sz="1100" dirty="0"/>
          </a:p>
        </p:txBody>
      </p:sp>
      <p:sp>
        <p:nvSpPr>
          <p:cNvPr id="14" name="Shape 12"/>
          <p:cNvSpPr/>
          <p:nvPr/>
        </p:nvSpPr>
        <p:spPr>
          <a:xfrm>
            <a:off x="4556150" y="3584448"/>
            <a:ext cx="219456" cy="237744"/>
          </a:xfrm>
          <a:prstGeom prst="upArrow">
            <a:avLst/>
          </a:prstGeom>
          <a:solidFill>
            <a:srgbClr val="6B6B6B"/>
          </a:solidFill>
          <a:ln w="12700">
            <a:solidFill>
              <a:srgbClr val="6B6B6B"/>
            </a:solidFill>
            <a:prstDash val="solid"/>
          </a:ln>
        </p:spPr>
      </p:sp>
      <p:sp>
        <p:nvSpPr>
          <p:cNvPr id="15" name="Shape 13"/>
          <p:cNvSpPr/>
          <p:nvPr/>
        </p:nvSpPr>
        <p:spPr>
          <a:xfrm>
            <a:off x="6177077" y="1810512"/>
            <a:ext cx="2697480" cy="1719072"/>
          </a:xfrm>
          <a:prstGeom prst="rect">
            <a:avLst/>
          </a:prstGeom>
          <a:solidFill>
            <a:srgbClr val="EFEDE8"/>
          </a:solidFill>
          <a:ln w="12700">
            <a:solidFill>
              <a:srgbClr val="EFEDE8"/>
            </a:solidFill>
            <a:prstDash val="solid"/>
          </a:ln>
        </p:spPr>
      </p:sp>
      <p:sp>
        <p:nvSpPr>
          <p:cNvPr id="16" name="Text 14"/>
          <p:cNvSpPr txBox="1"/>
          <p:nvPr/>
        </p:nvSpPr>
        <p:spPr>
          <a:xfrm>
            <a:off x="6341669"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Personal &amp; Corporate Banking</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planned</a:t>
            </a:r>
            <a:endParaRPr lang="en-US" sz="1200" dirty="0"/>
          </a:p>
        </p:txBody>
      </p:sp>
      <p:sp>
        <p:nvSpPr>
          <p:cNvPr id="17" name="Text 15"/>
          <p:cNvSpPr txBox="1"/>
          <p:nvPr/>
        </p:nvSpPr>
        <p:spPr>
          <a:xfrm>
            <a:off x="6341669"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Define your own outputs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Apply your own standards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Built on the shared foundation</a:t>
            </a:r>
            <a:endParaRPr lang="en-US" sz="1100" dirty="0"/>
          </a:p>
        </p:txBody>
      </p:sp>
      <p:sp>
        <p:nvSpPr>
          <p:cNvPr id="18" name="Shape 16"/>
          <p:cNvSpPr/>
          <p:nvPr/>
        </p:nvSpPr>
        <p:spPr>
          <a:xfrm>
            <a:off x="7416089" y="3584448"/>
            <a:ext cx="219456" cy="237744"/>
          </a:xfrm>
          <a:prstGeom prst="upArrow">
            <a:avLst/>
          </a:prstGeom>
          <a:solidFill>
            <a:srgbClr val="6B6B6B"/>
          </a:solidFill>
          <a:ln w="12700">
            <a:solidFill>
              <a:srgbClr val="6B6B6B"/>
            </a:solidFill>
            <a:prstDash val="solid"/>
          </a:ln>
        </p:spPr>
      </p:sp>
      <p:sp>
        <p:nvSpPr>
          <p:cNvPr id="19" name="Shape 17"/>
          <p:cNvSpPr/>
          <p:nvPr/>
        </p:nvSpPr>
        <p:spPr>
          <a:xfrm>
            <a:off x="9037015" y="1810512"/>
            <a:ext cx="2697480" cy="1719072"/>
          </a:xfrm>
          <a:prstGeom prst="rect">
            <a:avLst/>
          </a:prstGeom>
          <a:solidFill>
            <a:srgbClr val="FFFFFF"/>
          </a:solidFill>
          <a:ln w="12700">
            <a:solidFill>
              <a:srgbClr val="6B6B6B"/>
            </a:solidFill>
            <a:prstDash val="dash"/>
          </a:ln>
        </p:spPr>
      </p:sp>
      <p:sp>
        <p:nvSpPr>
          <p:cNvPr id="20" name="Text 18"/>
          <p:cNvSpPr txBox="1"/>
          <p:nvPr/>
        </p:nvSpPr>
        <p:spPr>
          <a:xfrm>
            <a:off x="9201607" y="1920240"/>
            <a:ext cx="2368296" cy="45720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Your team</a:t>
            </a:r>
            <a:endParaRPr lang="en-US" sz="1200" dirty="0"/>
          </a:p>
          <a:p>
            <a:pPr indent="0" marL="0">
              <a:buNone/>
            </a:pPr>
            <a:r>
              <a:rPr lang="en-US" sz="1000" i="1" dirty="0">
                <a:solidFill>
                  <a:srgbClr val="6B6B6B"/>
                </a:solidFill>
                <a:latin typeface="Arial" pitchFamily="34" charset="0"/>
                <a:ea typeface="Arial" pitchFamily="34" charset="-122"/>
                <a:cs typeface="Arial" pitchFamily="34" charset="-120"/>
              </a:rPr>
              <a:t>onboarding-ready</a:t>
            </a:r>
            <a:endParaRPr lang="en-US" sz="1200" dirty="0"/>
          </a:p>
        </p:txBody>
      </p:sp>
      <p:sp>
        <p:nvSpPr>
          <p:cNvPr id="21" name="Text 19"/>
          <p:cNvSpPr txBox="1"/>
          <p:nvPr/>
        </p:nvSpPr>
        <p:spPr>
          <a:xfrm>
            <a:off x="9201607" y="2377440"/>
            <a:ext cx="2368296" cy="107899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Bring your documents, standards, and templates</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Inherit the controls automatically</a:t>
            </a:r>
            <a:endParaRPr lang="en-US" sz="1100" dirty="0"/>
          </a:p>
          <a:p>
            <a:pPr marL="127000" indent="-127000">
              <a:spcAft>
                <a:spcPts val="200"/>
              </a:spcAft>
              <a:buSzPct val="100000"/>
              <a:buChar char="•"/>
            </a:pPr>
            <a:r>
              <a:rPr lang="en-US" sz="1100" dirty="0">
                <a:solidFill>
                  <a:srgbClr val="3A3A3A"/>
                </a:solidFill>
                <a:latin typeface="Arial" pitchFamily="34" charset="0"/>
                <a:ea typeface="Arial" pitchFamily="34" charset="-122"/>
                <a:cs typeface="Arial" pitchFamily="34" charset="-120"/>
              </a:rPr>
              <a:t>Far cheaper than building alone</a:t>
            </a:r>
            <a:endParaRPr lang="en-US" sz="1100" dirty="0"/>
          </a:p>
        </p:txBody>
      </p:sp>
      <p:sp>
        <p:nvSpPr>
          <p:cNvPr id="22" name="Shape 20"/>
          <p:cNvSpPr/>
          <p:nvPr/>
        </p:nvSpPr>
        <p:spPr>
          <a:xfrm>
            <a:off x="10276027" y="3584448"/>
            <a:ext cx="219456" cy="237744"/>
          </a:xfrm>
          <a:prstGeom prst="upArrow">
            <a:avLst/>
          </a:prstGeom>
          <a:solidFill>
            <a:srgbClr val="6B6B6B"/>
          </a:solidFill>
          <a:ln w="12700">
            <a:solidFill>
              <a:srgbClr val="6B6B6B"/>
            </a:solidFill>
            <a:prstDash val="solid"/>
          </a:ln>
        </p:spPr>
      </p:sp>
      <p:sp>
        <p:nvSpPr>
          <p:cNvPr id="23" name="Shape 21"/>
          <p:cNvSpPr/>
          <p:nvPr/>
        </p:nvSpPr>
        <p:spPr>
          <a:xfrm>
            <a:off x="457200" y="3858768"/>
            <a:ext cx="11277295" cy="1554480"/>
          </a:xfrm>
          <a:prstGeom prst="rect">
            <a:avLst/>
          </a:prstGeom>
          <a:solidFill>
            <a:srgbClr val="A39F92"/>
          </a:solidFill>
          <a:ln w="12700">
            <a:solidFill>
              <a:srgbClr val="A39F92"/>
            </a:solidFill>
            <a:prstDash val="solid"/>
          </a:ln>
        </p:spPr>
      </p:sp>
      <p:sp>
        <p:nvSpPr>
          <p:cNvPr id="24" name="Shape 22"/>
          <p:cNvSpPr/>
          <p:nvPr/>
        </p:nvSpPr>
        <p:spPr>
          <a:xfrm>
            <a:off x="640080" y="3986784"/>
            <a:ext cx="274320" cy="274320"/>
          </a:xfrm>
          <a:prstGeom prst="ellipse">
            <a:avLst/>
          </a:prstGeom>
          <a:solidFill>
            <a:srgbClr val="E60000"/>
          </a:solidFill>
          <a:ln w="12700">
            <a:solidFill>
              <a:srgbClr val="E60000"/>
            </a:solidFill>
            <a:prstDash val="solid"/>
          </a:ln>
        </p:spPr>
      </p:sp>
      <p:sp>
        <p:nvSpPr>
          <p:cNvPr id="25" name="Text 23"/>
          <p:cNvSpPr txBox="1"/>
          <p:nvPr/>
        </p:nvSpPr>
        <p:spPr>
          <a:xfrm>
            <a:off x="640080" y="39867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6" name="Text 24"/>
          <p:cNvSpPr txBox="1"/>
          <p:nvPr/>
        </p:nvSpPr>
        <p:spPr>
          <a:xfrm>
            <a:off x="1005840" y="4005072"/>
            <a:ext cx="548640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The shared foundation does the heavy lifting</a:t>
            </a:r>
            <a:endParaRPr lang="en-US" sz="1200" dirty="0"/>
          </a:p>
        </p:txBody>
      </p:sp>
      <p:sp>
        <p:nvSpPr>
          <p:cNvPr id="27" name="Text 25"/>
          <p:cNvSpPr txBox="1"/>
          <p:nvPr/>
        </p:nvSpPr>
        <p:spPr>
          <a:xfrm>
            <a:off x="7619695" y="4005072"/>
            <a:ext cx="3931920" cy="274320"/>
          </a:xfrm>
          <a:prstGeom prst="rect">
            <a:avLst/>
          </a:prstGeom>
          <a:noFill/>
          <a:ln/>
        </p:spPr>
        <p:txBody>
          <a:bodyPr wrap="square" lIns="0" tIns="0" rIns="0" bIns="0" rtlCol="0" anchor="t"/>
          <a:lstStyle/>
          <a:p>
            <a:pPr algn="r" indent="0" marL="0">
              <a:buNone/>
            </a:pPr>
            <a:r>
              <a:rPr lang="en-US" sz="1100" i="1" dirty="0">
                <a:solidFill>
                  <a:srgbClr val="FFFFFF"/>
                </a:solidFill>
                <a:latin typeface="Arial" pitchFamily="34" charset="0"/>
                <a:ea typeface="Arial" pitchFamily="34" charset="-122"/>
                <a:cs typeface="Arial" pitchFamily="34" charset="-120"/>
              </a:rPr>
              <a:t>Processed once. Inherited by every application.</a:t>
            </a:r>
            <a:endParaRPr lang="en-US" sz="1100" dirty="0"/>
          </a:p>
        </p:txBody>
      </p:sp>
      <p:sp>
        <p:nvSpPr>
          <p:cNvPr id="28" name="Shape 26"/>
          <p:cNvSpPr/>
          <p:nvPr/>
        </p:nvSpPr>
        <p:spPr>
          <a:xfrm>
            <a:off x="640080" y="4334256"/>
            <a:ext cx="2606040" cy="438912"/>
          </a:xfrm>
          <a:prstGeom prst="rect">
            <a:avLst/>
          </a:prstGeom>
          <a:solidFill>
            <a:srgbClr val="FFFFFF"/>
          </a:solidFill>
          <a:ln w="12700">
            <a:solidFill>
              <a:srgbClr val="FFFFFF"/>
            </a:solidFill>
            <a:prstDash val="solid"/>
          </a:ln>
        </p:spPr>
      </p:sp>
      <p:sp>
        <p:nvSpPr>
          <p:cNvPr id="29" name="Text 27"/>
          <p:cNvSpPr txBox="1"/>
          <p:nvPr/>
        </p:nvSpPr>
        <p:spPr>
          <a:xfrm>
            <a:off x="640080"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Takes in documents</a:t>
            </a:r>
            <a:endParaRPr lang="en-US" sz="1100" dirty="0"/>
          </a:p>
        </p:txBody>
      </p:sp>
      <p:sp>
        <p:nvSpPr>
          <p:cNvPr id="30" name="Shape 28"/>
          <p:cNvSpPr/>
          <p:nvPr/>
        </p:nvSpPr>
        <p:spPr>
          <a:xfrm>
            <a:off x="3408578" y="4334256"/>
            <a:ext cx="2606040" cy="438912"/>
          </a:xfrm>
          <a:prstGeom prst="rect">
            <a:avLst/>
          </a:prstGeom>
          <a:solidFill>
            <a:srgbClr val="FFFFFF"/>
          </a:solidFill>
          <a:ln w="12700">
            <a:solidFill>
              <a:srgbClr val="FFFFFF"/>
            </a:solidFill>
            <a:prstDash val="solid"/>
          </a:ln>
        </p:spPr>
      </p:sp>
      <p:sp>
        <p:nvSpPr>
          <p:cNvPr id="31" name="Text 29"/>
          <p:cNvSpPr txBox="1"/>
          <p:nvPr/>
        </p:nvSpPr>
        <p:spPr>
          <a:xfrm>
            <a:off x="3408578"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Reads text, tables, and images</a:t>
            </a:r>
            <a:endParaRPr lang="en-US" sz="1100" dirty="0"/>
          </a:p>
        </p:txBody>
      </p:sp>
      <p:sp>
        <p:nvSpPr>
          <p:cNvPr id="32" name="Shape 30"/>
          <p:cNvSpPr/>
          <p:nvPr/>
        </p:nvSpPr>
        <p:spPr>
          <a:xfrm>
            <a:off x="6177077" y="4334256"/>
            <a:ext cx="2606040" cy="438912"/>
          </a:xfrm>
          <a:prstGeom prst="rect">
            <a:avLst/>
          </a:prstGeom>
          <a:solidFill>
            <a:srgbClr val="FFFFFF"/>
          </a:solidFill>
          <a:ln w="12700">
            <a:solidFill>
              <a:srgbClr val="FFFFFF"/>
            </a:solidFill>
            <a:prstDash val="solid"/>
          </a:ln>
        </p:spPr>
      </p:sp>
      <p:sp>
        <p:nvSpPr>
          <p:cNvPr id="33" name="Text 31"/>
          <p:cNvSpPr txBox="1"/>
          <p:nvPr/>
        </p:nvSpPr>
        <p:spPr>
          <a:xfrm>
            <a:off x="6177077"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Finds what matters</a:t>
            </a:r>
            <a:endParaRPr lang="en-US" sz="1100" dirty="0"/>
          </a:p>
        </p:txBody>
      </p:sp>
      <p:sp>
        <p:nvSpPr>
          <p:cNvPr id="34" name="Shape 32"/>
          <p:cNvSpPr/>
          <p:nvPr/>
        </p:nvSpPr>
        <p:spPr>
          <a:xfrm>
            <a:off x="8945575" y="4334256"/>
            <a:ext cx="2606040" cy="438912"/>
          </a:xfrm>
          <a:prstGeom prst="rect">
            <a:avLst/>
          </a:prstGeom>
          <a:solidFill>
            <a:srgbClr val="FFFFFF"/>
          </a:solidFill>
          <a:ln w="12700">
            <a:solidFill>
              <a:srgbClr val="FFFFFF"/>
            </a:solidFill>
            <a:prstDash val="solid"/>
          </a:ln>
        </p:spPr>
      </p:sp>
      <p:sp>
        <p:nvSpPr>
          <p:cNvPr id="35" name="Text 33"/>
          <p:cNvSpPr txBox="1"/>
          <p:nvPr/>
        </p:nvSpPr>
        <p:spPr>
          <a:xfrm>
            <a:off x="8945575" y="4334256"/>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Cites every source</a:t>
            </a:r>
            <a:endParaRPr lang="en-US" sz="1100" dirty="0"/>
          </a:p>
        </p:txBody>
      </p:sp>
      <p:sp>
        <p:nvSpPr>
          <p:cNvPr id="36" name="Shape 34"/>
          <p:cNvSpPr/>
          <p:nvPr/>
        </p:nvSpPr>
        <p:spPr>
          <a:xfrm>
            <a:off x="640080" y="4864608"/>
            <a:ext cx="2606040" cy="438912"/>
          </a:xfrm>
          <a:prstGeom prst="rect">
            <a:avLst/>
          </a:prstGeom>
          <a:solidFill>
            <a:srgbClr val="FFFFFF"/>
          </a:solidFill>
          <a:ln w="12700">
            <a:solidFill>
              <a:srgbClr val="FFFFFF"/>
            </a:solidFill>
            <a:prstDash val="solid"/>
          </a:ln>
        </p:spPr>
      </p:sp>
      <p:sp>
        <p:nvSpPr>
          <p:cNvPr id="37" name="Text 35"/>
          <p:cNvSpPr txBox="1"/>
          <p:nvPr/>
        </p:nvSpPr>
        <p:spPr>
          <a:xfrm>
            <a:off x="640080"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Flags what it is unsure about</a:t>
            </a:r>
            <a:endParaRPr lang="en-US" sz="1100" dirty="0"/>
          </a:p>
        </p:txBody>
      </p:sp>
      <p:sp>
        <p:nvSpPr>
          <p:cNvPr id="38" name="Shape 36"/>
          <p:cNvSpPr/>
          <p:nvPr/>
        </p:nvSpPr>
        <p:spPr>
          <a:xfrm>
            <a:off x="3408578" y="4864608"/>
            <a:ext cx="2606040" cy="438912"/>
          </a:xfrm>
          <a:prstGeom prst="rect">
            <a:avLst/>
          </a:prstGeom>
          <a:solidFill>
            <a:srgbClr val="FFFFFF"/>
          </a:solidFill>
          <a:ln w="12700">
            <a:solidFill>
              <a:srgbClr val="FFFFFF"/>
            </a:solidFill>
            <a:prstDash val="solid"/>
          </a:ln>
        </p:spPr>
      </p:sp>
      <p:sp>
        <p:nvSpPr>
          <p:cNvPr id="39" name="Text 37"/>
          <p:cNvSpPr txBox="1"/>
          <p:nvPr/>
        </p:nvSpPr>
        <p:spPr>
          <a:xfrm>
            <a:off x="3408578"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Holds each team's rules and standards, version-controlled</a:t>
            </a:r>
            <a:endParaRPr lang="en-US" sz="1100" dirty="0"/>
          </a:p>
        </p:txBody>
      </p:sp>
      <p:sp>
        <p:nvSpPr>
          <p:cNvPr id="40" name="Shape 38"/>
          <p:cNvSpPr/>
          <p:nvPr/>
        </p:nvSpPr>
        <p:spPr>
          <a:xfrm>
            <a:off x="6177077" y="4864608"/>
            <a:ext cx="2606040" cy="438912"/>
          </a:xfrm>
          <a:prstGeom prst="rect">
            <a:avLst/>
          </a:prstGeom>
          <a:solidFill>
            <a:srgbClr val="FFFFFF"/>
          </a:solidFill>
          <a:ln w="12700">
            <a:solidFill>
              <a:srgbClr val="FFFFFF"/>
            </a:solidFill>
            <a:prstDash val="solid"/>
          </a:ln>
        </p:spPr>
      </p:sp>
      <p:sp>
        <p:nvSpPr>
          <p:cNvPr id="41" name="Text 39"/>
          <p:cNvSpPr txBox="1"/>
          <p:nvPr/>
        </p:nvSpPr>
        <p:spPr>
          <a:xfrm>
            <a:off x="6177077"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Monitors itself and keeps records</a:t>
            </a:r>
            <a:endParaRPr lang="en-US" sz="1100" dirty="0"/>
          </a:p>
        </p:txBody>
      </p:sp>
      <p:sp>
        <p:nvSpPr>
          <p:cNvPr id="42" name="Shape 40"/>
          <p:cNvSpPr/>
          <p:nvPr/>
        </p:nvSpPr>
        <p:spPr>
          <a:xfrm>
            <a:off x="8945575" y="4864608"/>
            <a:ext cx="2606040" cy="438912"/>
          </a:xfrm>
          <a:prstGeom prst="rect">
            <a:avLst/>
          </a:prstGeom>
          <a:solidFill>
            <a:srgbClr val="FFFFFF"/>
          </a:solidFill>
          <a:ln w="12700">
            <a:solidFill>
              <a:srgbClr val="FFFFFF"/>
            </a:solidFill>
            <a:prstDash val="solid"/>
          </a:ln>
        </p:spPr>
      </p:sp>
      <p:sp>
        <p:nvSpPr>
          <p:cNvPr id="43" name="Text 41"/>
          <p:cNvSpPr txBox="1"/>
          <p:nvPr/>
        </p:nvSpPr>
        <p:spPr>
          <a:xfrm>
            <a:off x="8945575" y="4864608"/>
            <a:ext cx="2606040" cy="43891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Keeps each team's data separate and access controlled</a:t>
            </a:r>
            <a:endParaRPr lang="en-US" sz="1100" dirty="0"/>
          </a:p>
        </p:txBody>
      </p:sp>
      <p:sp>
        <p:nvSpPr>
          <p:cNvPr id="44" name="Shape 42"/>
          <p:cNvSpPr/>
          <p:nvPr/>
        </p:nvSpPr>
        <p:spPr>
          <a:xfrm>
            <a:off x="457200" y="5861304"/>
            <a:ext cx="274320" cy="274320"/>
          </a:xfrm>
          <a:prstGeom prst="ellipse">
            <a:avLst/>
          </a:prstGeom>
          <a:solidFill>
            <a:srgbClr val="E60000"/>
          </a:solidFill>
          <a:ln w="12700">
            <a:solidFill>
              <a:srgbClr val="E60000"/>
            </a:solidFill>
            <a:prstDash val="solid"/>
          </a:ln>
        </p:spPr>
      </p:sp>
      <p:sp>
        <p:nvSpPr>
          <p:cNvPr id="45" name="Text 43"/>
          <p:cNvSpPr txBox="1"/>
          <p:nvPr/>
        </p:nvSpPr>
        <p:spPr>
          <a:xfrm>
            <a:off x="457200" y="586130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6" name="Text 44"/>
          <p:cNvSpPr txBox="1"/>
          <p:nvPr/>
        </p:nvSpPr>
        <p:spPr>
          <a:xfrm>
            <a:off x="822960" y="5879592"/>
            <a:ext cx="2194560" cy="274320"/>
          </a:xfrm>
          <a:prstGeom prst="rect">
            <a:avLst/>
          </a:prstGeom>
          <a:noFill/>
          <a:ln/>
        </p:spPr>
        <p:txBody>
          <a:bodyPr wrap="square" lIns="0" tIns="0" rIns="0" bIns="0" rtlCol="0" anchor="t"/>
          <a:lstStyle/>
          <a:p>
            <a:pPr indent="0" marL="0">
              <a:buNone/>
            </a:pPr>
            <a:r>
              <a:rPr lang="en-US" sz="1200" b="1" dirty="0">
                <a:solidFill>
                  <a:srgbClr val="1E1E1E"/>
                </a:solidFill>
                <a:latin typeface="Arial" pitchFamily="34" charset="0"/>
                <a:ea typeface="Arial" pitchFamily="34" charset="-122"/>
                <a:cs typeface="Arial" pitchFamily="34" charset="-120"/>
              </a:rPr>
              <a:t>Documents come in once</a:t>
            </a:r>
            <a:endParaRPr lang="en-US" sz="1200" dirty="0"/>
          </a:p>
        </p:txBody>
      </p:sp>
      <p:sp>
        <p:nvSpPr>
          <p:cNvPr id="47" name="Shape 45"/>
          <p:cNvSpPr/>
          <p:nvPr/>
        </p:nvSpPr>
        <p:spPr>
          <a:xfrm>
            <a:off x="3200400" y="5724144"/>
            <a:ext cx="2692298" cy="566928"/>
          </a:xfrm>
          <a:prstGeom prst="rect">
            <a:avLst/>
          </a:prstGeom>
          <a:solidFill>
            <a:srgbClr val="EFEDE8"/>
          </a:solidFill>
          <a:ln w="12700">
            <a:solidFill>
              <a:srgbClr val="EFEDE8"/>
            </a:solidFill>
            <a:prstDash val="solid"/>
          </a:ln>
        </p:spPr>
      </p:sp>
      <p:sp>
        <p:nvSpPr>
          <p:cNvPr id="48" name="Text 46"/>
          <p:cNvSpPr txBox="1"/>
          <p:nvPr/>
        </p:nvSpPr>
        <p:spPr>
          <a:xfrm>
            <a:off x="3200400"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Our upstream systems, pulled directly</a:t>
            </a:r>
            <a:endParaRPr lang="en-US" sz="1100" dirty="0"/>
          </a:p>
        </p:txBody>
      </p:sp>
      <p:sp>
        <p:nvSpPr>
          <p:cNvPr id="49" name="Shape 47"/>
          <p:cNvSpPr/>
          <p:nvPr/>
        </p:nvSpPr>
        <p:spPr>
          <a:xfrm>
            <a:off x="4436821" y="5431536"/>
            <a:ext cx="219456" cy="237744"/>
          </a:xfrm>
          <a:prstGeom prst="upArrow">
            <a:avLst/>
          </a:prstGeom>
          <a:solidFill>
            <a:srgbClr val="6B6B6B"/>
          </a:solidFill>
          <a:ln w="12700">
            <a:solidFill>
              <a:srgbClr val="6B6B6B"/>
            </a:solidFill>
            <a:prstDash val="solid"/>
          </a:ln>
        </p:spPr>
      </p:sp>
      <p:sp>
        <p:nvSpPr>
          <p:cNvPr id="50" name="Shape 48"/>
          <p:cNvSpPr/>
          <p:nvPr/>
        </p:nvSpPr>
        <p:spPr>
          <a:xfrm>
            <a:off x="6121298" y="5724144"/>
            <a:ext cx="2692298" cy="566928"/>
          </a:xfrm>
          <a:prstGeom prst="rect">
            <a:avLst/>
          </a:prstGeom>
          <a:solidFill>
            <a:srgbClr val="EFEDE8"/>
          </a:solidFill>
          <a:ln w="12700">
            <a:solidFill>
              <a:srgbClr val="EFEDE8"/>
            </a:solidFill>
            <a:prstDash val="solid"/>
          </a:ln>
        </p:spPr>
      </p:sp>
      <p:sp>
        <p:nvSpPr>
          <p:cNvPr id="51" name="Text 49"/>
          <p:cNvSpPr txBox="1"/>
          <p:nvPr/>
        </p:nvSpPr>
        <p:spPr>
          <a:xfrm>
            <a:off x="6121298"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Direct upload, single documents or batches</a:t>
            </a:r>
            <a:endParaRPr lang="en-US" sz="1100" dirty="0"/>
          </a:p>
        </p:txBody>
      </p:sp>
      <p:sp>
        <p:nvSpPr>
          <p:cNvPr id="52" name="Shape 50"/>
          <p:cNvSpPr/>
          <p:nvPr/>
        </p:nvSpPr>
        <p:spPr>
          <a:xfrm>
            <a:off x="7357720" y="5431536"/>
            <a:ext cx="219456" cy="237744"/>
          </a:xfrm>
          <a:prstGeom prst="upArrow">
            <a:avLst/>
          </a:prstGeom>
          <a:solidFill>
            <a:srgbClr val="6B6B6B"/>
          </a:solidFill>
          <a:ln w="12700">
            <a:solidFill>
              <a:srgbClr val="6B6B6B"/>
            </a:solidFill>
            <a:prstDash val="solid"/>
          </a:ln>
        </p:spPr>
      </p:sp>
      <p:sp>
        <p:nvSpPr>
          <p:cNvPr id="53" name="Shape 51"/>
          <p:cNvSpPr/>
          <p:nvPr/>
        </p:nvSpPr>
        <p:spPr>
          <a:xfrm>
            <a:off x="9042197" y="5724144"/>
            <a:ext cx="2692298" cy="566928"/>
          </a:xfrm>
          <a:prstGeom prst="rect">
            <a:avLst/>
          </a:prstGeom>
          <a:solidFill>
            <a:srgbClr val="EFEDE8"/>
          </a:solidFill>
          <a:ln w="12700">
            <a:solidFill>
              <a:srgbClr val="EFEDE8"/>
            </a:solidFill>
            <a:prstDash val="solid"/>
          </a:ln>
        </p:spPr>
      </p:sp>
      <p:sp>
        <p:nvSpPr>
          <p:cNvPr id="54" name="Text 52"/>
          <p:cNvSpPr txBox="1"/>
          <p:nvPr/>
        </p:nvSpPr>
        <p:spPr>
          <a:xfrm>
            <a:off x="9042197" y="5724144"/>
            <a:ext cx="2692298" cy="566928"/>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Monitored SharePoint folders, picked up automatically</a:t>
            </a:r>
            <a:endParaRPr lang="en-US" sz="1100" dirty="0"/>
          </a:p>
        </p:txBody>
      </p:sp>
      <p:sp>
        <p:nvSpPr>
          <p:cNvPr id="55" name="Shape 53"/>
          <p:cNvSpPr/>
          <p:nvPr/>
        </p:nvSpPr>
        <p:spPr>
          <a:xfrm>
            <a:off x="10278618" y="5431536"/>
            <a:ext cx="219456" cy="237744"/>
          </a:xfrm>
          <a:prstGeom prst="upArrow">
            <a:avLst/>
          </a:prstGeom>
          <a:solidFill>
            <a:srgbClr val="6B6B6B"/>
          </a:solidFill>
          <a:ln w="12700">
            <a:solidFill>
              <a:srgbClr val="6B6B6B"/>
            </a:solidFill>
            <a:prstDash val="solid"/>
          </a:ln>
        </p:spPr>
      </p:sp>
      <p:sp>
        <p:nvSpPr>
          <p:cNvPr id="57" name="Text 54"/>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In technical architecture now.</a:t>
            </a:r>
            <a:pPr indent="0" marL="0">
              <a:buNone/>
            </a:pPr>
            <a:r>
              <a:rPr lang="en-US" sz="2800" dirty="0">
                <a:solidFill>
                  <a:srgbClr val="1E1E1E"/>
                </a:solidFill>
                <a:latin typeface="Arial" pitchFamily="34" charset="0"/>
                <a:ea typeface="Arial" pitchFamily="34" charset="-122"/>
                <a:cs typeface="Arial" pitchFamily="34" charset="-120"/>
              </a:rPr>
              <a:t> Staged releases to follow.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Confirmed milestones are dated. Everything else is timed once the build is sized.</a:t>
            </a:r>
            <a:endParaRPr lang="en-US" sz="1400" dirty="0"/>
          </a:p>
        </p:txBody>
      </p:sp>
      <p:sp>
        <p:nvSpPr>
          <p:cNvPr id="4" name="Shape 2"/>
          <p:cNvSpPr/>
          <p:nvPr/>
        </p:nvSpPr>
        <p:spPr>
          <a:xfrm>
            <a:off x="1508760" y="1508760"/>
            <a:ext cx="777240" cy="384048"/>
          </a:xfrm>
          <a:prstGeom prst="chevron">
            <a:avLst/>
          </a:prstGeom>
          <a:solidFill>
            <a:srgbClr val="DAD6CD"/>
          </a:solidFill>
          <a:ln w="12700">
            <a:solidFill>
              <a:srgbClr val="FFFFFF"/>
            </a:solidFill>
            <a:prstDash val="solid"/>
          </a:ln>
        </p:spPr>
      </p:sp>
      <p:sp>
        <p:nvSpPr>
          <p:cNvPr id="5" name="Text 3"/>
          <p:cNvSpPr txBox="1"/>
          <p:nvPr/>
        </p:nvSpPr>
        <p:spPr>
          <a:xfrm>
            <a:off x="1618488" y="1508760"/>
            <a:ext cx="55778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Q2-26</a:t>
            </a:r>
            <a:endParaRPr lang="en-US" sz="1100" dirty="0"/>
          </a:p>
        </p:txBody>
      </p:sp>
      <p:sp>
        <p:nvSpPr>
          <p:cNvPr id="6" name="Shape 4"/>
          <p:cNvSpPr/>
          <p:nvPr/>
        </p:nvSpPr>
        <p:spPr>
          <a:xfrm>
            <a:off x="2286000" y="1508760"/>
            <a:ext cx="1965960" cy="384048"/>
          </a:xfrm>
          <a:prstGeom prst="chevron">
            <a:avLst/>
          </a:prstGeom>
          <a:solidFill>
            <a:srgbClr val="DAD6CD"/>
          </a:solidFill>
          <a:ln w="12700">
            <a:solidFill>
              <a:srgbClr val="FFFFFF"/>
            </a:solidFill>
            <a:prstDash val="solid"/>
          </a:ln>
        </p:spPr>
      </p:sp>
      <p:sp>
        <p:nvSpPr>
          <p:cNvPr id="7" name="Text 5"/>
          <p:cNvSpPr txBox="1"/>
          <p:nvPr/>
        </p:nvSpPr>
        <p:spPr>
          <a:xfrm>
            <a:off x="2395728" y="1508760"/>
            <a:ext cx="17465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Q3-26</a:t>
            </a:r>
            <a:endParaRPr lang="en-US" sz="1100" dirty="0"/>
          </a:p>
        </p:txBody>
      </p:sp>
      <p:sp>
        <p:nvSpPr>
          <p:cNvPr id="8" name="Shape 6"/>
          <p:cNvSpPr/>
          <p:nvPr/>
        </p:nvSpPr>
        <p:spPr>
          <a:xfrm>
            <a:off x="4251960" y="1508760"/>
            <a:ext cx="1051560" cy="384048"/>
          </a:xfrm>
          <a:prstGeom prst="chevron">
            <a:avLst/>
          </a:prstGeom>
          <a:solidFill>
            <a:srgbClr val="EFEDE8"/>
          </a:solidFill>
          <a:ln w="12700">
            <a:solidFill>
              <a:srgbClr val="FFFFFF"/>
            </a:solidFill>
            <a:prstDash val="solid"/>
          </a:ln>
        </p:spPr>
      </p:sp>
      <p:sp>
        <p:nvSpPr>
          <p:cNvPr id="9" name="Text 7"/>
          <p:cNvSpPr txBox="1"/>
          <p:nvPr/>
        </p:nvSpPr>
        <p:spPr>
          <a:xfrm>
            <a:off x="4361688" y="1508760"/>
            <a:ext cx="83210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Q4-26</a:t>
            </a:r>
            <a:endParaRPr lang="en-US" sz="1100" dirty="0"/>
          </a:p>
        </p:txBody>
      </p:sp>
      <p:sp>
        <p:nvSpPr>
          <p:cNvPr id="10" name="Shape 8"/>
          <p:cNvSpPr/>
          <p:nvPr/>
        </p:nvSpPr>
        <p:spPr>
          <a:xfrm>
            <a:off x="5303520" y="1508760"/>
            <a:ext cx="960120" cy="384048"/>
          </a:xfrm>
          <a:prstGeom prst="chevron">
            <a:avLst/>
          </a:prstGeom>
          <a:solidFill>
            <a:srgbClr val="EFEDE8"/>
          </a:solidFill>
          <a:ln w="12700">
            <a:solidFill>
              <a:srgbClr val="FFFFFF"/>
            </a:solidFill>
            <a:prstDash val="solid"/>
          </a:ln>
        </p:spPr>
      </p:sp>
      <p:sp>
        <p:nvSpPr>
          <p:cNvPr id="11" name="Text 9"/>
          <p:cNvSpPr txBox="1"/>
          <p:nvPr/>
        </p:nvSpPr>
        <p:spPr>
          <a:xfrm>
            <a:off x="5413248" y="1508760"/>
            <a:ext cx="7406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Q1-27</a:t>
            </a:r>
            <a:endParaRPr lang="en-US" sz="1100" dirty="0"/>
          </a:p>
        </p:txBody>
      </p:sp>
      <p:sp>
        <p:nvSpPr>
          <p:cNvPr id="12" name="Shape 10"/>
          <p:cNvSpPr/>
          <p:nvPr/>
        </p:nvSpPr>
        <p:spPr>
          <a:xfrm>
            <a:off x="6263640" y="1508760"/>
            <a:ext cx="1417320" cy="384048"/>
          </a:xfrm>
          <a:prstGeom prst="chevron">
            <a:avLst/>
          </a:prstGeom>
          <a:solidFill>
            <a:srgbClr val="EFEDE8"/>
          </a:solidFill>
          <a:ln w="12700">
            <a:solidFill>
              <a:srgbClr val="FFFFFF"/>
            </a:solidFill>
            <a:prstDash val="solid"/>
          </a:ln>
        </p:spPr>
      </p:sp>
      <p:sp>
        <p:nvSpPr>
          <p:cNvPr id="13" name="Text 11"/>
          <p:cNvSpPr txBox="1"/>
          <p:nvPr/>
        </p:nvSpPr>
        <p:spPr>
          <a:xfrm>
            <a:off x="6373368" y="1508760"/>
            <a:ext cx="1197864" cy="384048"/>
          </a:xfrm>
          <a:prstGeom prst="rect">
            <a:avLst/>
          </a:prstGeom>
          <a:noFill/>
          <a:ln/>
        </p:spPr>
        <p:txBody>
          <a:bodyPr wrap="square" lIns="0" tIns="0" rIns="0" bIns="0" rtlCol="0" anchor="ctr"/>
          <a:lstStyle/>
          <a:p>
            <a:pPr algn="ctr" indent="0" marL="0">
              <a:buNone/>
            </a:pPr>
            <a:r>
              <a:rPr lang="en-US" sz="1100" dirty="0">
                <a:solidFill>
                  <a:srgbClr val="1E1E1E"/>
                </a:solidFill>
                <a:latin typeface="Arial" pitchFamily="34" charset="0"/>
                <a:ea typeface="Arial" pitchFamily="34" charset="-122"/>
                <a:cs typeface="Arial" pitchFamily="34" charset="-120"/>
              </a:rPr>
              <a:t>Q2-27 and beyond</a:t>
            </a:r>
            <a:endParaRPr lang="en-US" sz="1100" dirty="0"/>
          </a:p>
        </p:txBody>
      </p:sp>
      <p:sp>
        <p:nvSpPr>
          <p:cNvPr id="14" name="Text 12"/>
          <p:cNvSpPr txBox="1"/>
          <p:nvPr/>
        </p:nvSpPr>
        <p:spPr>
          <a:xfrm>
            <a:off x="457200" y="2331720"/>
            <a:ext cx="1005840" cy="548640"/>
          </a:xfrm>
          <a:prstGeom prst="rect">
            <a:avLst/>
          </a:prstGeom>
          <a:noFill/>
          <a:ln/>
        </p:spPr>
        <p:txBody>
          <a:bodyPr wrap="square" lIns="0" tIns="0" rIns="0" bIns="0" rtlCol="0" anchor="ctr"/>
          <a:lstStyle/>
          <a:p>
            <a:pPr indent="0" marL="0">
              <a:buNone/>
            </a:pPr>
            <a:r>
              <a:rPr lang="en-US" sz="1100" b="1" dirty="0">
                <a:solidFill>
                  <a:srgbClr val="6B6B6B"/>
                </a:solidFill>
                <a:latin typeface="Arial" pitchFamily="34" charset="0"/>
                <a:ea typeface="Arial" pitchFamily="34" charset="-122"/>
                <a:cs typeface="Arial" pitchFamily="34" charset="-120"/>
              </a:rPr>
              <a:t>Where it started</a:t>
            </a:r>
            <a:endParaRPr lang="en-US" sz="1100" dirty="0"/>
          </a:p>
        </p:txBody>
      </p:sp>
      <p:sp>
        <p:nvSpPr>
          <p:cNvPr id="15" name="Text 13"/>
          <p:cNvSpPr txBox="1"/>
          <p:nvPr/>
        </p:nvSpPr>
        <p:spPr>
          <a:xfrm>
            <a:off x="457200" y="3794760"/>
            <a:ext cx="1005840" cy="548640"/>
          </a:xfrm>
          <a:prstGeom prst="rect">
            <a:avLst/>
          </a:prstGeom>
          <a:noFill/>
          <a:ln/>
        </p:spPr>
        <p:txBody>
          <a:bodyPr wrap="square" lIns="0" tIns="0" rIns="0" bIns="0" rtlCol="0" anchor="ctr"/>
          <a:lstStyle/>
          <a:p>
            <a:pPr indent="0" marL="0">
              <a:buNone/>
            </a:pPr>
            <a:r>
              <a:rPr lang="en-US" sz="1100" b="1" dirty="0">
                <a:solidFill>
                  <a:srgbClr val="1E1E1E"/>
                </a:solidFill>
                <a:latin typeface="Arial" pitchFamily="34" charset="0"/>
                <a:ea typeface="Arial" pitchFamily="34" charset="-122"/>
                <a:cs typeface="Arial" pitchFamily="34" charset="-120"/>
              </a:rPr>
              <a:t>Sentinel, the shared platform</a:t>
            </a:r>
            <a:endParaRPr lang="en-US" sz="1100" dirty="0"/>
          </a:p>
        </p:txBody>
      </p:sp>
      <p:sp>
        <p:nvSpPr>
          <p:cNvPr id="16" name="Shape 14"/>
          <p:cNvSpPr/>
          <p:nvPr/>
        </p:nvSpPr>
        <p:spPr>
          <a:xfrm>
            <a:off x="1508760" y="2606040"/>
            <a:ext cx="6172200" cy="0"/>
          </a:xfrm>
          <a:prstGeom prst="line">
            <a:avLst/>
          </a:prstGeom>
          <a:noFill/>
          <a:ln w="15875">
            <a:solidFill>
              <a:srgbClr val="B9B5AB"/>
            </a:solidFill>
            <a:prstDash val="solid"/>
          </a:ln>
        </p:spPr>
      </p:sp>
      <p:sp>
        <p:nvSpPr>
          <p:cNvPr id="17" name="Shape 15"/>
          <p:cNvSpPr/>
          <p:nvPr/>
        </p:nvSpPr>
        <p:spPr>
          <a:xfrm>
            <a:off x="1508760" y="4069080"/>
            <a:ext cx="6172200" cy="0"/>
          </a:xfrm>
          <a:prstGeom prst="line">
            <a:avLst/>
          </a:prstGeom>
          <a:noFill/>
          <a:ln w="22225">
            <a:solidFill>
              <a:srgbClr val="6B6B6B"/>
            </a:solidFill>
            <a:prstDash val="solid"/>
          </a:ln>
        </p:spPr>
      </p:sp>
      <p:sp>
        <p:nvSpPr>
          <p:cNvPr id="18" name="Shape 16"/>
          <p:cNvSpPr/>
          <p:nvPr/>
        </p:nvSpPr>
        <p:spPr>
          <a:xfrm>
            <a:off x="3563874" y="1463040"/>
            <a:ext cx="0" cy="4069080"/>
          </a:xfrm>
          <a:prstGeom prst="line">
            <a:avLst/>
          </a:prstGeom>
          <a:noFill/>
          <a:ln w="12700">
            <a:solidFill>
              <a:srgbClr val="E60000"/>
            </a:solidFill>
            <a:prstDash val="dash"/>
          </a:ln>
        </p:spPr>
      </p:sp>
      <p:sp>
        <p:nvSpPr>
          <p:cNvPr id="19" name="Text 17"/>
          <p:cNvSpPr txBox="1"/>
          <p:nvPr/>
        </p:nvSpPr>
        <p:spPr>
          <a:xfrm>
            <a:off x="3198114" y="5550408"/>
            <a:ext cx="731520" cy="228600"/>
          </a:xfrm>
          <a:prstGeom prst="rect">
            <a:avLst/>
          </a:prstGeom>
          <a:noFill/>
          <a:ln/>
        </p:spPr>
        <p:txBody>
          <a:bodyPr wrap="square" lIns="0" tIns="0" rIns="0" bIns="0" rtlCol="0" anchor="t"/>
          <a:lstStyle/>
          <a:p>
            <a:pPr algn="ctr" indent="0" marL="0">
              <a:buNone/>
            </a:pPr>
            <a:r>
              <a:rPr lang="en-US" sz="1000" b="1" dirty="0">
                <a:solidFill>
                  <a:srgbClr val="E60000"/>
                </a:solidFill>
                <a:latin typeface="Arial" pitchFamily="34" charset="0"/>
                <a:ea typeface="Arial" pitchFamily="34" charset="-122"/>
                <a:cs typeface="Arial" pitchFamily="34" charset="-120"/>
              </a:rPr>
              <a:t>Today</a:t>
            </a:r>
            <a:endParaRPr lang="en-US" sz="1000" dirty="0"/>
          </a:p>
        </p:txBody>
      </p:sp>
      <p:sp>
        <p:nvSpPr>
          <p:cNvPr id="20" name="Shape 18"/>
          <p:cNvSpPr/>
          <p:nvPr/>
        </p:nvSpPr>
        <p:spPr>
          <a:xfrm>
            <a:off x="2059686" y="2496312"/>
            <a:ext cx="219456" cy="219456"/>
          </a:xfrm>
          <a:prstGeom prst="diamond">
            <a:avLst/>
          </a:prstGeom>
          <a:solidFill>
            <a:srgbClr val="1E1E1E"/>
          </a:solidFill>
          <a:ln w="12700">
            <a:solidFill>
              <a:srgbClr val="1E1E1E"/>
            </a:solidFill>
            <a:prstDash val="solid"/>
          </a:ln>
        </p:spPr>
      </p:sp>
      <p:sp>
        <p:nvSpPr>
          <p:cNvPr id="21" name="Text 19"/>
          <p:cNvSpPr txBox="1"/>
          <p:nvPr/>
        </p:nvSpPr>
        <p:spPr>
          <a:xfrm>
            <a:off x="1529334" y="1947672"/>
            <a:ext cx="1280160" cy="50292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Jun: question-answering proof of concept approved</a:t>
            </a:r>
            <a:endParaRPr lang="en-US" sz="1000" dirty="0"/>
          </a:p>
        </p:txBody>
      </p:sp>
      <p:sp>
        <p:nvSpPr>
          <p:cNvPr id="22" name="Shape 20"/>
          <p:cNvSpPr/>
          <p:nvPr/>
        </p:nvSpPr>
        <p:spPr>
          <a:xfrm>
            <a:off x="4299966" y="2496312"/>
            <a:ext cx="219456" cy="219456"/>
          </a:xfrm>
          <a:prstGeom prst="diamond">
            <a:avLst/>
          </a:prstGeom>
          <a:solidFill>
            <a:srgbClr val="1E1E1E"/>
          </a:solidFill>
          <a:ln w="12700">
            <a:solidFill>
              <a:srgbClr val="1E1E1E"/>
            </a:solidFill>
            <a:prstDash val="solid"/>
          </a:ln>
        </p:spPr>
      </p:sp>
      <p:sp>
        <p:nvSpPr>
          <p:cNvPr id="23" name="Text 21"/>
          <p:cNvSpPr txBox="1"/>
          <p:nvPr/>
        </p:nvSpPr>
        <p:spPr>
          <a:xfrm>
            <a:off x="3792474" y="1947672"/>
            <a:ext cx="1234440" cy="50292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Oct: approved to run as a tactical solution</a:t>
            </a:r>
            <a:endParaRPr lang="en-US" sz="1000" dirty="0"/>
          </a:p>
        </p:txBody>
      </p:sp>
      <p:sp>
        <p:nvSpPr>
          <p:cNvPr id="24" name="Shape 22"/>
          <p:cNvSpPr/>
          <p:nvPr/>
        </p:nvSpPr>
        <p:spPr>
          <a:xfrm>
            <a:off x="4983480" y="2496312"/>
            <a:ext cx="219456" cy="219456"/>
          </a:xfrm>
          <a:prstGeom prst="diamond">
            <a:avLst/>
          </a:prstGeom>
          <a:solidFill>
            <a:srgbClr val="FFFFFF"/>
          </a:solidFill>
          <a:ln w="12700">
            <a:solidFill>
              <a:srgbClr val="6B6B6B"/>
            </a:solidFill>
            <a:prstDash val="solid"/>
          </a:ln>
        </p:spPr>
      </p:sp>
      <p:sp>
        <p:nvSpPr>
          <p:cNvPr id="25" name="Text 23"/>
          <p:cNvSpPr txBox="1"/>
          <p:nvPr/>
        </p:nvSpPr>
        <p:spPr>
          <a:xfrm>
            <a:off x="5257800" y="2459736"/>
            <a:ext cx="2011680" cy="292608"/>
          </a:xfrm>
          <a:prstGeom prst="rect">
            <a:avLst/>
          </a:prstGeom>
          <a:noFill/>
          <a:ln/>
        </p:spPr>
        <p:txBody>
          <a:bodyPr wrap="square" lIns="0" tIns="0" rIns="0" bIns="0" rtlCol="0" anchor="ctr"/>
          <a:lstStyle/>
          <a:p>
            <a:pPr indent="0" marL="0">
              <a:buNone/>
            </a:pPr>
            <a:r>
              <a:rPr lang="en-US" sz="1000" dirty="0">
                <a:solidFill>
                  <a:srgbClr val="3A3A3A"/>
                </a:solidFill>
                <a:latin typeface="Arial" pitchFamily="34" charset="0"/>
                <a:ea typeface="Arial" pitchFamily="34" charset="-122"/>
                <a:cs typeface="Arial" pitchFamily="34" charset="-120"/>
              </a:rPr>
              <a:t>In use for portfolio-level insights</a:t>
            </a:r>
            <a:endParaRPr lang="en-US" sz="1000" dirty="0"/>
          </a:p>
        </p:txBody>
      </p:sp>
      <p:sp>
        <p:nvSpPr>
          <p:cNvPr id="26" name="Shape 24"/>
          <p:cNvSpPr/>
          <p:nvPr/>
        </p:nvSpPr>
        <p:spPr>
          <a:xfrm>
            <a:off x="2471166" y="3959352"/>
            <a:ext cx="219456" cy="219456"/>
          </a:xfrm>
          <a:prstGeom prst="diamond">
            <a:avLst/>
          </a:prstGeom>
          <a:solidFill>
            <a:srgbClr val="1E1E1E"/>
          </a:solidFill>
          <a:ln w="12700">
            <a:solidFill>
              <a:srgbClr val="1E1E1E"/>
            </a:solidFill>
            <a:prstDash val="solid"/>
          </a:ln>
        </p:spPr>
      </p:sp>
      <p:sp>
        <p:nvSpPr>
          <p:cNvPr id="27" name="Text 25"/>
          <p:cNvSpPr txBox="1"/>
          <p:nvPr/>
        </p:nvSpPr>
        <p:spPr>
          <a:xfrm>
            <a:off x="2009394" y="4233672"/>
            <a:ext cx="114300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Jul: proof of concept and benefits case confirmed</a:t>
            </a:r>
            <a:endParaRPr lang="en-US" sz="1000" dirty="0"/>
          </a:p>
        </p:txBody>
      </p:sp>
      <p:sp>
        <p:nvSpPr>
          <p:cNvPr id="28" name="Shape 26"/>
          <p:cNvSpPr/>
          <p:nvPr/>
        </p:nvSpPr>
        <p:spPr>
          <a:xfrm>
            <a:off x="3454146" y="3959352"/>
            <a:ext cx="219456" cy="219456"/>
          </a:xfrm>
          <a:prstGeom prst="diamond">
            <a:avLst/>
          </a:prstGeom>
          <a:solidFill>
            <a:srgbClr val="1E1E1E"/>
          </a:solidFill>
          <a:ln w="12700">
            <a:solidFill>
              <a:srgbClr val="1E1E1E"/>
            </a:solidFill>
            <a:prstDash val="solid"/>
          </a:ln>
        </p:spPr>
      </p:sp>
      <p:sp>
        <p:nvSpPr>
          <p:cNvPr id="29" name="Text 27"/>
          <p:cNvSpPr txBox="1"/>
          <p:nvPr/>
        </p:nvSpPr>
        <p:spPr>
          <a:xfrm>
            <a:off x="2164842" y="3355848"/>
            <a:ext cx="1325880" cy="548640"/>
          </a:xfrm>
          <a:prstGeom prst="rect">
            <a:avLst/>
          </a:prstGeom>
          <a:noFill/>
          <a:ln/>
        </p:spPr>
        <p:txBody>
          <a:bodyPr wrap="square" lIns="0" tIns="0" rIns="0" bIns="0" rtlCol="0" anchor="b"/>
          <a:lstStyle/>
          <a:p>
            <a:pPr algn="r" indent="0" marL="0">
              <a:buNone/>
            </a:pPr>
            <a:r>
              <a:rPr lang="en-US" sz="1000" dirty="0">
                <a:solidFill>
                  <a:srgbClr val="3A3A3A"/>
                </a:solidFill>
                <a:latin typeface="Arial" pitchFamily="34" charset="0"/>
                <a:ea typeface="Arial" pitchFamily="34" charset="-122"/>
                <a:cs typeface="Arial" pitchFamily="34" charset="-120"/>
              </a:rPr>
              <a:t>Aug: design workshops with IT and Data, in progress</a:t>
            </a:r>
            <a:endParaRPr lang="en-US" sz="1000" dirty="0"/>
          </a:p>
        </p:txBody>
      </p:sp>
      <p:sp>
        <p:nvSpPr>
          <p:cNvPr id="30" name="Shape 28"/>
          <p:cNvSpPr/>
          <p:nvPr/>
        </p:nvSpPr>
        <p:spPr>
          <a:xfrm>
            <a:off x="3906317" y="3959352"/>
            <a:ext cx="219456" cy="219456"/>
          </a:xfrm>
          <a:prstGeom prst="diamond">
            <a:avLst/>
          </a:prstGeom>
          <a:solidFill>
            <a:srgbClr val="1E1E1E"/>
          </a:solidFill>
          <a:ln w="12700">
            <a:solidFill>
              <a:srgbClr val="1E1E1E"/>
            </a:solidFill>
            <a:prstDash val="solid"/>
          </a:ln>
        </p:spPr>
      </p:sp>
      <p:sp>
        <p:nvSpPr>
          <p:cNvPr id="31" name="Text 29"/>
          <p:cNvSpPr txBox="1"/>
          <p:nvPr/>
        </p:nvSpPr>
        <p:spPr>
          <a:xfrm>
            <a:off x="3655314" y="4233672"/>
            <a:ext cx="1051560" cy="566928"/>
          </a:xfrm>
          <a:prstGeom prst="rect">
            <a:avLst/>
          </a:prstGeom>
          <a:noFill/>
          <a:ln/>
        </p:spPr>
        <p:txBody>
          <a:bodyPr wrap="square" lIns="0" tIns="0" rIns="0" bIns="0" rtlCol="0" anchor="t"/>
          <a:lstStyle/>
          <a:p>
            <a:pPr algn="l" indent="0" marL="0">
              <a:buNone/>
            </a:pPr>
            <a:r>
              <a:rPr lang="en-US" sz="1000" dirty="0">
                <a:solidFill>
                  <a:srgbClr val="3A3A3A"/>
                </a:solidFill>
                <a:latin typeface="Arial" pitchFamily="34" charset="0"/>
                <a:ea typeface="Arial" pitchFamily="34" charset="-122"/>
                <a:cs typeface="Arial" pitchFamily="34" charset="-120"/>
              </a:rPr>
              <a:t>Sep: architecture ratified at the AI Forum</a:t>
            </a:r>
            <a:endParaRPr lang="en-US" sz="1000" dirty="0"/>
          </a:p>
        </p:txBody>
      </p:sp>
      <p:sp>
        <p:nvSpPr>
          <p:cNvPr id="32" name="Shape 30"/>
          <p:cNvSpPr/>
          <p:nvPr/>
        </p:nvSpPr>
        <p:spPr>
          <a:xfrm>
            <a:off x="4720590" y="3959352"/>
            <a:ext cx="219456" cy="219456"/>
          </a:xfrm>
          <a:prstGeom prst="diamond">
            <a:avLst/>
          </a:prstGeom>
          <a:solidFill>
            <a:srgbClr val="FFFFFF"/>
          </a:solidFill>
          <a:ln w="12700">
            <a:solidFill>
              <a:srgbClr val="6B6B6B"/>
            </a:solidFill>
            <a:prstDash val="solid"/>
          </a:ln>
        </p:spPr>
      </p:sp>
      <p:sp>
        <p:nvSpPr>
          <p:cNvPr id="33" name="Text 31"/>
          <p:cNvSpPr txBox="1"/>
          <p:nvPr/>
        </p:nvSpPr>
        <p:spPr>
          <a:xfrm>
            <a:off x="4464558" y="4233672"/>
            <a:ext cx="73152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Build</a:t>
            </a:r>
            <a:endParaRPr lang="en-US" sz="1000" dirty="0"/>
          </a:p>
        </p:txBody>
      </p:sp>
      <p:sp>
        <p:nvSpPr>
          <p:cNvPr id="34" name="Shape 32"/>
          <p:cNvSpPr/>
          <p:nvPr/>
        </p:nvSpPr>
        <p:spPr>
          <a:xfrm>
            <a:off x="5673852" y="3959352"/>
            <a:ext cx="219456" cy="219456"/>
          </a:xfrm>
          <a:prstGeom prst="diamond">
            <a:avLst/>
          </a:prstGeom>
          <a:solidFill>
            <a:srgbClr val="FFFFFF"/>
          </a:solidFill>
          <a:ln w="12700">
            <a:solidFill>
              <a:srgbClr val="6B6B6B"/>
            </a:solidFill>
            <a:prstDash val="solid"/>
          </a:ln>
        </p:spPr>
      </p:sp>
      <p:sp>
        <p:nvSpPr>
          <p:cNvPr id="35" name="Text 33"/>
          <p:cNvSpPr txBox="1"/>
          <p:nvPr/>
        </p:nvSpPr>
        <p:spPr>
          <a:xfrm>
            <a:off x="5257800" y="4233672"/>
            <a:ext cx="105156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Release 1: Assemble and Assess</a:t>
            </a:r>
            <a:endParaRPr lang="en-US" sz="1000" dirty="0"/>
          </a:p>
        </p:txBody>
      </p:sp>
      <p:sp>
        <p:nvSpPr>
          <p:cNvPr id="36" name="Shape 34"/>
          <p:cNvSpPr/>
          <p:nvPr/>
        </p:nvSpPr>
        <p:spPr>
          <a:xfrm>
            <a:off x="6579108" y="3959352"/>
            <a:ext cx="219456" cy="219456"/>
          </a:xfrm>
          <a:prstGeom prst="diamond">
            <a:avLst/>
          </a:prstGeom>
          <a:solidFill>
            <a:srgbClr val="FFFFFF"/>
          </a:solidFill>
          <a:ln w="12700">
            <a:solidFill>
              <a:srgbClr val="6B6B6B"/>
            </a:solidFill>
            <a:prstDash val="solid"/>
          </a:ln>
        </p:spPr>
      </p:sp>
      <p:sp>
        <p:nvSpPr>
          <p:cNvPr id="37" name="Text 35"/>
          <p:cNvSpPr txBox="1"/>
          <p:nvPr/>
        </p:nvSpPr>
        <p:spPr>
          <a:xfrm>
            <a:off x="6208776" y="3355848"/>
            <a:ext cx="960120" cy="548640"/>
          </a:xfrm>
          <a:prstGeom prst="rect">
            <a:avLst/>
          </a:prstGeom>
          <a:noFill/>
          <a:ln/>
        </p:spPr>
        <p:txBody>
          <a:bodyPr wrap="square" lIns="0" tIns="0" rIns="0" bIns="0" rtlCol="0" anchor="b"/>
          <a:lstStyle/>
          <a:p>
            <a:pPr algn="ctr" indent="0" marL="0">
              <a:buNone/>
            </a:pPr>
            <a:r>
              <a:rPr lang="en-US" sz="1000" dirty="0">
                <a:solidFill>
                  <a:srgbClr val="3A3A3A"/>
                </a:solidFill>
                <a:latin typeface="Arial" pitchFamily="34" charset="0"/>
                <a:ea typeface="Arial" pitchFamily="34" charset="-122"/>
                <a:cs typeface="Arial" pitchFamily="34" charset="-120"/>
              </a:rPr>
              <a:t>Release 2: Challenge and Adjudicate</a:t>
            </a:r>
            <a:endParaRPr lang="en-US" sz="1000" dirty="0"/>
          </a:p>
        </p:txBody>
      </p:sp>
      <p:sp>
        <p:nvSpPr>
          <p:cNvPr id="38" name="Shape 36"/>
          <p:cNvSpPr/>
          <p:nvPr/>
        </p:nvSpPr>
        <p:spPr>
          <a:xfrm>
            <a:off x="7434072" y="3959352"/>
            <a:ext cx="219456" cy="219456"/>
          </a:xfrm>
          <a:prstGeom prst="diamond">
            <a:avLst/>
          </a:prstGeom>
          <a:solidFill>
            <a:srgbClr val="FFFFFF"/>
          </a:solidFill>
          <a:ln w="12700">
            <a:solidFill>
              <a:srgbClr val="6B6B6B"/>
            </a:solidFill>
            <a:prstDash val="solid"/>
          </a:ln>
        </p:spPr>
      </p:sp>
      <p:sp>
        <p:nvSpPr>
          <p:cNvPr id="39" name="Text 37"/>
          <p:cNvSpPr txBox="1"/>
          <p:nvPr/>
        </p:nvSpPr>
        <p:spPr>
          <a:xfrm>
            <a:off x="7040880" y="4233672"/>
            <a:ext cx="1005840" cy="566928"/>
          </a:xfrm>
          <a:prstGeom prst="rect">
            <a:avLst/>
          </a:prstGeom>
          <a:noFill/>
          <a:ln/>
        </p:spPr>
        <p:txBody>
          <a:bodyPr wrap="square" lIns="0" tIns="0" rIns="0" bIns="0" rtlCol="0" anchor="t"/>
          <a:lstStyle/>
          <a:p>
            <a:pPr algn="ctr" indent="0" marL="0">
              <a:buNone/>
            </a:pPr>
            <a:r>
              <a:rPr lang="en-US" sz="1000" dirty="0">
                <a:solidFill>
                  <a:srgbClr val="3A3A3A"/>
                </a:solidFill>
                <a:latin typeface="Arial" pitchFamily="34" charset="0"/>
                <a:ea typeface="Arial" pitchFamily="34" charset="-122"/>
                <a:cs typeface="Arial" pitchFamily="34" charset="-120"/>
              </a:rPr>
              <a:t>Release 3: Learn and Scale</a:t>
            </a:r>
            <a:endParaRPr lang="en-US" sz="1000" dirty="0"/>
          </a:p>
        </p:txBody>
      </p:sp>
      <p:sp>
        <p:nvSpPr>
          <p:cNvPr id="40" name="Shape 38"/>
          <p:cNvSpPr/>
          <p:nvPr/>
        </p:nvSpPr>
        <p:spPr>
          <a:xfrm>
            <a:off x="5093208" y="2734056"/>
            <a:ext cx="0" cy="576072"/>
          </a:xfrm>
          <a:prstGeom prst="line">
            <a:avLst/>
          </a:prstGeom>
          <a:noFill/>
          <a:ln w="12700">
            <a:solidFill>
              <a:srgbClr val="6B6B6B"/>
            </a:solidFill>
            <a:prstDash val="solid"/>
          </a:ln>
        </p:spPr>
      </p:sp>
      <p:sp>
        <p:nvSpPr>
          <p:cNvPr id="41" name="Shape 39"/>
          <p:cNvSpPr/>
          <p:nvPr/>
        </p:nvSpPr>
        <p:spPr>
          <a:xfrm>
            <a:off x="5093208" y="3310128"/>
            <a:ext cx="2450592" cy="0"/>
          </a:xfrm>
          <a:prstGeom prst="line">
            <a:avLst/>
          </a:prstGeom>
          <a:noFill/>
          <a:ln w="12700">
            <a:solidFill>
              <a:srgbClr val="6B6B6B"/>
            </a:solidFill>
            <a:prstDash val="solid"/>
          </a:ln>
        </p:spPr>
      </p:sp>
      <p:sp>
        <p:nvSpPr>
          <p:cNvPr id="42" name="Shape 40"/>
          <p:cNvSpPr/>
          <p:nvPr/>
        </p:nvSpPr>
        <p:spPr>
          <a:xfrm>
            <a:off x="7543800" y="3310128"/>
            <a:ext cx="0" cy="612648"/>
          </a:xfrm>
          <a:prstGeom prst="line">
            <a:avLst/>
          </a:prstGeom>
          <a:noFill/>
          <a:ln w="12700">
            <a:solidFill>
              <a:srgbClr val="6B6B6B"/>
            </a:solidFill>
            <a:prstDash val="solid"/>
            <a:tailEnd type="triangle"/>
          </a:ln>
        </p:spPr>
      </p:sp>
      <p:sp>
        <p:nvSpPr>
          <p:cNvPr id="43" name="Text 41"/>
          <p:cNvSpPr txBox="1"/>
          <p:nvPr/>
        </p:nvSpPr>
        <p:spPr>
          <a:xfrm>
            <a:off x="5184648" y="3054096"/>
            <a:ext cx="2377440" cy="228600"/>
          </a:xfrm>
          <a:prstGeom prst="rect">
            <a:avLst/>
          </a:prstGeom>
          <a:noFill/>
          <a:ln/>
        </p:spPr>
        <p:txBody>
          <a:bodyPr wrap="square" lIns="0" tIns="0" rIns="0" bIns="0" rtlCol="0" anchor="t"/>
          <a:lstStyle/>
          <a:p>
            <a:pPr indent="0" marL="0">
              <a:buNone/>
            </a:pPr>
            <a:r>
              <a:rPr lang="en-US" sz="900" i="1" dirty="0">
                <a:solidFill>
                  <a:srgbClr val="6B6B6B"/>
                </a:solidFill>
                <a:latin typeface="Arial" pitchFamily="34" charset="0"/>
                <a:ea typeface="Arial" pitchFamily="34" charset="-122"/>
                <a:cs typeface="Arial" pitchFamily="34" charset="-120"/>
              </a:rPr>
              <a:t>Commercial Lending migrates onto Sentinel</a:t>
            </a:r>
            <a:endParaRPr lang="en-US" sz="900" dirty="0"/>
          </a:p>
        </p:txBody>
      </p:sp>
      <p:sp>
        <p:nvSpPr>
          <p:cNvPr id="44" name="Shape 42"/>
          <p:cNvSpPr/>
          <p:nvPr/>
        </p:nvSpPr>
        <p:spPr>
          <a:xfrm>
            <a:off x="2169414" y="4956048"/>
            <a:ext cx="822960" cy="274320"/>
          </a:xfrm>
          <a:prstGeom prst="roundRect">
            <a:avLst>
              <a:gd name="adj" fmla="val 50000"/>
            </a:avLst>
          </a:prstGeom>
          <a:solidFill>
            <a:srgbClr val="DAD6CD"/>
          </a:solidFill>
          <a:ln w="12700">
            <a:solidFill>
              <a:srgbClr val="DAD6CD"/>
            </a:solidFill>
            <a:prstDash val="solid"/>
          </a:ln>
        </p:spPr>
      </p:sp>
      <p:sp>
        <p:nvSpPr>
          <p:cNvPr id="45" name="Text 43"/>
          <p:cNvSpPr txBox="1"/>
          <p:nvPr/>
        </p:nvSpPr>
        <p:spPr>
          <a:xfrm>
            <a:off x="2169414" y="4956048"/>
            <a:ext cx="82296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proven</a:t>
            </a:r>
            <a:endParaRPr lang="en-US" sz="1000" dirty="0"/>
          </a:p>
        </p:txBody>
      </p:sp>
      <p:sp>
        <p:nvSpPr>
          <p:cNvPr id="46" name="Shape 44"/>
          <p:cNvSpPr/>
          <p:nvPr/>
        </p:nvSpPr>
        <p:spPr>
          <a:xfrm>
            <a:off x="3093415" y="4956048"/>
            <a:ext cx="868680" cy="274320"/>
          </a:xfrm>
          <a:prstGeom prst="roundRect">
            <a:avLst>
              <a:gd name="adj" fmla="val 50000"/>
            </a:avLst>
          </a:prstGeom>
          <a:solidFill>
            <a:srgbClr val="DAD6CD"/>
          </a:solidFill>
          <a:ln w="12700">
            <a:solidFill>
              <a:srgbClr val="DAD6CD"/>
            </a:solidFill>
            <a:prstDash val="solid"/>
          </a:ln>
        </p:spPr>
      </p:sp>
      <p:sp>
        <p:nvSpPr>
          <p:cNvPr id="47" name="Text 45"/>
          <p:cNvSpPr txBox="1"/>
          <p:nvPr/>
        </p:nvSpPr>
        <p:spPr>
          <a:xfrm>
            <a:off x="3093415" y="4956048"/>
            <a:ext cx="86868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in design</a:t>
            </a:r>
            <a:endParaRPr lang="en-US" sz="1000" dirty="0"/>
          </a:p>
        </p:txBody>
      </p:sp>
      <p:sp>
        <p:nvSpPr>
          <p:cNvPr id="48" name="Shape 46"/>
          <p:cNvSpPr/>
          <p:nvPr/>
        </p:nvSpPr>
        <p:spPr>
          <a:xfrm>
            <a:off x="4327398" y="4956048"/>
            <a:ext cx="1005840" cy="274320"/>
          </a:xfrm>
          <a:prstGeom prst="roundRect">
            <a:avLst>
              <a:gd name="adj" fmla="val 50000"/>
            </a:avLst>
          </a:prstGeom>
          <a:solidFill>
            <a:srgbClr val="DAD6CD"/>
          </a:solidFill>
          <a:ln w="12700">
            <a:solidFill>
              <a:srgbClr val="DAD6CD"/>
            </a:solidFill>
            <a:prstDash val="solid"/>
          </a:ln>
        </p:spPr>
      </p:sp>
      <p:sp>
        <p:nvSpPr>
          <p:cNvPr id="49" name="Text 47"/>
          <p:cNvSpPr txBox="1"/>
          <p:nvPr/>
        </p:nvSpPr>
        <p:spPr>
          <a:xfrm>
            <a:off x="4327398" y="4956048"/>
            <a:ext cx="1005840"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to be sized</a:t>
            </a:r>
            <a:endParaRPr lang="en-US" sz="1000" dirty="0"/>
          </a:p>
        </p:txBody>
      </p:sp>
      <p:sp>
        <p:nvSpPr>
          <p:cNvPr id="50" name="Shape 48"/>
          <p:cNvSpPr/>
          <p:nvPr/>
        </p:nvSpPr>
        <p:spPr>
          <a:xfrm>
            <a:off x="5447538" y="4956048"/>
            <a:ext cx="2233422" cy="274320"/>
          </a:xfrm>
          <a:prstGeom prst="roundRect">
            <a:avLst>
              <a:gd name="adj" fmla="val 50000"/>
            </a:avLst>
          </a:prstGeom>
          <a:solidFill>
            <a:srgbClr val="DAD6CD"/>
          </a:solidFill>
          <a:ln w="12700">
            <a:solidFill>
              <a:srgbClr val="DAD6CD"/>
            </a:solidFill>
            <a:prstDash val="solid"/>
          </a:ln>
        </p:spPr>
      </p:sp>
      <p:sp>
        <p:nvSpPr>
          <p:cNvPr id="51" name="Text 49"/>
          <p:cNvSpPr txBox="1"/>
          <p:nvPr/>
        </p:nvSpPr>
        <p:spPr>
          <a:xfrm>
            <a:off x="5447538" y="4956048"/>
            <a:ext cx="2233422" cy="274320"/>
          </a:xfrm>
          <a:prstGeom prst="rect">
            <a:avLst/>
          </a:prstGeom>
          <a:noFill/>
          <a:ln/>
        </p:spPr>
        <p:txBody>
          <a:bodyPr wrap="square" lIns="0" tIns="0" rIns="0" bIns="0" rtlCol="0" anchor="ctr"/>
          <a:lstStyle/>
          <a:p>
            <a:pPr algn="ctr" indent="0" marL="0">
              <a:buNone/>
            </a:pPr>
            <a:r>
              <a:rPr lang="en-US" sz="1000" dirty="0">
                <a:solidFill>
                  <a:srgbClr val="1E1E1E"/>
                </a:solidFill>
                <a:latin typeface="Arial" pitchFamily="34" charset="0"/>
                <a:ea typeface="Arial" pitchFamily="34" charset="-122"/>
                <a:cs typeface="Arial" pitchFamily="34" charset="-120"/>
              </a:rPr>
              <a:t>planned</a:t>
            </a:r>
            <a:endParaRPr lang="en-US" sz="1000" dirty="0"/>
          </a:p>
        </p:txBody>
      </p:sp>
      <p:sp>
        <p:nvSpPr>
          <p:cNvPr id="52" name="Shape 50"/>
          <p:cNvSpPr/>
          <p:nvPr/>
        </p:nvSpPr>
        <p:spPr>
          <a:xfrm>
            <a:off x="1517904" y="6080760"/>
            <a:ext cx="164592" cy="164592"/>
          </a:xfrm>
          <a:prstGeom prst="diamond">
            <a:avLst/>
          </a:prstGeom>
          <a:solidFill>
            <a:srgbClr val="1E1E1E"/>
          </a:solidFill>
          <a:ln w="12700">
            <a:solidFill>
              <a:srgbClr val="1E1E1E"/>
            </a:solidFill>
            <a:prstDash val="solid"/>
          </a:ln>
        </p:spPr>
      </p:sp>
      <p:sp>
        <p:nvSpPr>
          <p:cNvPr id="53" name="Text 51"/>
          <p:cNvSpPr txBox="1"/>
          <p:nvPr/>
        </p:nvSpPr>
        <p:spPr>
          <a:xfrm>
            <a:off x="1783080" y="6053328"/>
            <a:ext cx="1097280" cy="22860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confirmed</a:t>
            </a:r>
            <a:endParaRPr lang="en-US" sz="1000" dirty="0"/>
          </a:p>
        </p:txBody>
      </p:sp>
      <p:sp>
        <p:nvSpPr>
          <p:cNvPr id="54" name="Shape 52"/>
          <p:cNvSpPr/>
          <p:nvPr/>
        </p:nvSpPr>
        <p:spPr>
          <a:xfrm>
            <a:off x="2889504" y="6080760"/>
            <a:ext cx="164592" cy="164592"/>
          </a:xfrm>
          <a:prstGeom prst="diamond">
            <a:avLst/>
          </a:prstGeom>
          <a:solidFill>
            <a:srgbClr val="FFFFFF"/>
          </a:solidFill>
          <a:ln w="12700">
            <a:solidFill>
              <a:srgbClr val="6B6B6B"/>
            </a:solidFill>
            <a:prstDash val="solid"/>
          </a:ln>
        </p:spPr>
      </p:sp>
      <p:sp>
        <p:nvSpPr>
          <p:cNvPr id="55" name="Text 53"/>
          <p:cNvSpPr txBox="1"/>
          <p:nvPr/>
        </p:nvSpPr>
        <p:spPr>
          <a:xfrm>
            <a:off x="3154680" y="6053328"/>
            <a:ext cx="2926080" cy="22860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timing to be confirmed after sizing</a:t>
            </a:r>
            <a:endParaRPr lang="en-US" sz="1000" dirty="0"/>
          </a:p>
        </p:txBody>
      </p:sp>
      <p:sp>
        <p:nvSpPr>
          <p:cNvPr id="56" name="Shape 54"/>
          <p:cNvSpPr/>
          <p:nvPr/>
        </p:nvSpPr>
        <p:spPr>
          <a:xfrm>
            <a:off x="8092440" y="1508760"/>
            <a:ext cx="3642055" cy="2240280"/>
          </a:xfrm>
          <a:prstGeom prst="rect">
            <a:avLst/>
          </a:prstGeom>
          <a:solidFill>
            <a:srgbClr val="EFEDE8"/>
          </a:solidFill>
          <a:ln w="12700">
            <a:solidFill>
              <a:srgbClr val="EFEDE8"/>
            </a:solidFill>
            <a:prstDash val="solid"/>
          </a:ln>
        </p:spPr>
      </p:sp>
      <p:sp>
        <p:nvSpPr>
          <p:cNvPr id="57" name="Text 55"/>
          <p:cNvSpPr txBox="1"/>
          <p:nvPr/>
        </p:nvSpPr>
        <p:spPr>
          <a:xfrm>
            <a:off x="8321040" y="167335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Done so far</a:t>
            </a:r>
            <a:endParaRPr lang="en-US" sz="1200" dirty="0"/>
          </a:p>
        </p:txBody>
      </p:sp>
      <p:sp>
        <p:nvSpPr>
          <p:cNvPr id="58" name="Text 56"/>
          <p:cNvSpPr txBox="1"/>
          <p:nvPr/>
        </p:nvSpPr>
        <p:spPr>
          <a:xfrm>
            <a:off x="8321040" y="201168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The proof of concept was extended to credit review. It reads credit documents, cites evidence, and fills six workpaper sections.</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Platform requirements are drafted and reviewed with IT. Credit Risk Review's requirements and analyst journey are documented.</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Three use cases are drafted: Credit Risk Review, Enterprise Risk Management, and Personal &amp; Corporate Banking.</a:t>
            </a:r>
            <a:endParaRPr lang="en-US" sz="1100" dirty="0"/>
          </a:p>
        </p:txBody>
      </p:sp>
      <p:sp>
        <p:nvSpPr>
          <p:cNvPr id="59" name="Shape 57"/>
          <p:cNvSpPr/>
          <p:nvPr/>
        </p:nvSpPr>
        <p:spPr>
          <a:xfrm>
            <a:off x="8092440" y="3931920"/>
            <a:ext cx="3642055" cy="2240280"/>
          </a:xfrm>
          <a:prstGeom prst="rect">
            <a:avLst/>
          </a:prstGeom>
          <a:solidFill>
            <a:srgbClr val="EFEDE8"/>
          </a:solidFill>
          <a:ln w="12700">
            <a:solidFill>
              <a:srgbClr val="EFEDE8"/>
            </a:solidFill>
            <a:prstDash val="solid"/>
          </a:ln>
        </p:spPr>
      </p:sp>
      <p:sp>
        <p:nvSpPr>
          <p:cNvPr id="60" name="Text 58"/>
          <p:cNvSpPr txBox="1"/>
          <p:nvPr/>
        </p:nvSpPr>
        <p:spPr>
          <a:xfrm>
            <a:off x="8321040" y="4096512"/>
            <a:ext cx="318485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Happening now</a:t>
            </a:r>
            <a:endParaRPr lang="en-US" sz="1200" dirty="0"/>
          </a:p>
        </p:txBody>
      </p:sp>
      <p:sp>
        <p:nvSpPr>
          <p:cNvPr id="61" name="Text 59"/>
          <p:cNvSpPr txBox="1"/>
          <p:nvPr/>
        </p:nvSpPr>
        <p:spPr>
          <a:xfrm>
            <a:off x="8321040" y="4434840"/>
            <a:ext cx="3184855" cy="16459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defining the shared foundation and the build path with IT.</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designing access, segregation, and retention.</a:t>
            </a:r>
            <a:endParaRPr lang="en-US" sz="1100" dirty="0"/>
          </a:p>
          <a:p>
            <a:pPr marL="152400" indent="-152400">
              <a:spcAft>
                <a:spcPts val="600"/>
              </a:spcAft>
              <a:buSzPct val="100000"/>
              <a:buChar char="•"/>
            </a:pPr>
            <a:r>
              <a:rPr lang="en-US" sz="1100" dirty="0">
                <a:solidFill>
                  <a:srgbClr val="3A3A3A"/>
                </a:solidFill>
                <a:latin typeface="Arial" pitchFamily="34" charset="0"/>
                <a:ea typeface="Arial" pitchFamily="34" charset="-122"/>
                <a:cs typeface="Arial" pitchFamily="34" charset="-120"/>
              </a:rPr>
              <a:t>We are agreeing how output is validated before anyone relies on it, and assembling standards, templates, and owners.</a:t>
            </a:r>
            <a:endParaRPr lang="en-US" sz="1100" dirty="0"/>
          </a:p>
        </p:txBody>
      </p:sp>
      <p:sp>
        <p:nvSpPr>
          <p:cNvPr id="63" name="Text 60"/>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7295" cy="548640"/>
          </a:xfrm>
          <a:prstGeom prst="rect">
            <a:avLst/>
          </a:prstGeom>
          <a:noFill/>
          <a:ln/>
        </p:spPr>
        <p:txBody>
          <a:bodyPr wrap="square" lIns="0" tIns="0" rIns="0" bIns="0" rtlCol="0" anchor="ctr"/>
          <a:lstStyle/>
          <a:p>
            <a:pPr indent="0" marL="0">
              <a:buNone/>
            </a:pPr>
            <a:r>
              <a:rPr lang="en-US" sz="2800" dirty="0">
                <a:solidFill>
                  <a:srgbClr val="E60000"/>
                </a:solidFill>
                <a:latin typeface="Arial" pitchFamily="34" charset="0"/>
                <a:ea typeface="Arial" pitchFamily="34" charset="-122"/>
                <a:cs typeface="Arial" pitchFamily="34" charset="-120"/>
              </a:rPr>
              <a:t>One capability for Risk,</a:t>
            </a:r>
            <a:pPr indent="0" marL="0">
              <a:buNone/>
            </a:pPr>
            <a:r>
              <a:rPr lang="en-US" sz="2800" dirty="0">
                <a:solidFill>
                  <a:srgbClr val="1E1E1E"/>
                </a:solidFill>
                <a:latin typeface="Arial" pitchFamily="34" charset="0"/>
                <a:ea typeface="Arial" pitchFamily="34" charset="-122"/>
                <a:cs typeface="Arial" pitchFamily="34" charset="-120"/>
              </a:rPr>
              <a:t> proven first in Credit Risk Review</a:t>
            </a:r>
            <a:endParaRPr lang="en-US" sz="2800" dirty="0"/>
          </a:p>
        </p:txBody>
      </p:sp>
      <p:sp>
        <p:nvSpPr>
          <p:cNvPr id="3" name="Text 1"/>
          <p:cNvSpPr txBox="1"/>
          <p:nvPr/>
        </p:nvSpPr>
        <p:spPr>
          <a:xfrm>
            <a:off x="457200" y="932688"/>
            <a:ext cx="11277295" cy="384048"/>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More time for judgment. Consistent standards. Every conclusion traceable. Built once for everyone.</a:t>
            </a:r>
            <a:endParaRPr lang="en-US" sz="1400" dirty="0"/>
          </a:p>
        </p:txBody>
      </p:sp>
      <p:sp>
        <p:nvSpPr>
          <p:cNvPr id="4" name="Shape 2"/>
          <p:cNvSpPr/>
          <p:nvPr/>
        </p:nvSpPr>
        <p:spPr>
          <a:xfrm>
            <a:off x="1691640" y="1828800"/>
            <a:ext cx="4206240" cy="4206240"/>
          </a:xfrm>
          <a:prstGeom prst="ellipse">
            <a:avLst/>
          </a:prstGeom>
          <a:solidFill>
            <a:srgbClr val="FFFFFF">
              <a:alpha val="0"/>
            </a:srgbClr>
          </a:solidFill>
          <a:ln w="12700">
            <a:solidFill>
              <a:srgbClr val="E60000"/>
            </a:solidFill>
            <a:prstDash val="solid"/>
          </a:ln>
        </p:spPr>
      </p:sp>
      <p:sp>
        <p:nvSpPr>
          <p:cNvPr id="5" name="Shape 3"/>
          <p:cNvSpPr/>
          <p:nvPr/>
        </p:nvSpPr>
        <p:spPr>
          <a:xfrm>
            <a:off x="2770632" y="2907792"/>
            <a:ext cx="1024128" cy="1024128"/>
          </a:xfrm>
          <a:prstGeom prst="line">
            <a:avLst/>
          </a:prstGeom>
          <a:noFill/>
          <a:ln w="12700">
            <a:solidFill>
              <a:srgbClr val="B9B5AB"/>
            </a:solidFill>
            <a:prstDash val="solid"/>
          </a:ln>
        </p:spPr>
      </p:sp>
      <p:sp>
        <p:nvSpPr>
          <p:cNvPr id="6" name="Shape 4"/>
          <p:cNvSpPr/>
          <p:nvPr/>
        </p:nvSpPr>
        <p:spPr>
          <a:xfrm flipH="1">
            <a:off x="3794760" y="2907792"/>
            <a:ext cx="1024128" cy="1024128"/>
          </a:xfrm>
          <a:prstGeom prst="line">
            <a:avLst/>
          </a:prstGeom>
          <a:noFill/>
          <a:ln w="12700">
            <a:solidFill>
              <a:srgbClr val="B9B5AB"/>
            </a:solidFill>
            <a:prstDash val="solid"/>
          </a:ln>
        </p:spPr>
      </p:sp>
      <p:sp>
        <p:nvSpPr>
          <p:cNvPr id="7" name="Shape 5"/>
          <p:cNvSpPr/>
          <p:nvPr/>
        </p:nvSpPr>
        <p:spPr>
          <a:xfrm flipH="1">
            <a:off x="2770632" y="3931920"/>
            <a:ext cx="1024128" cy="1024128"/>
          </a:xfrm>
          <a:prstGeom prst="line">
            <a:avLst/>
          </a:prstGeom>
          <a:noFill/>
          <a:ln w="12700">
            <a:solidFill>
              <a:srgbClr val="B9B5AB"/>
            </a:solidFill>
            <a:prstDash val="solid"/>
          </a:ln>
        </p:spPr>
      </p:sp>
      <p:sp>
        <p:nvSpPr>
          <p:cNvPr id="8" name="Shape 6"/>
          <p:cNvSpPr/>
          <p:nvPr/>
        </p:nvSpPr>
        <p:spPr>
          <a:xfrm>
            <a:off x="3794760" y="3931920"/>
            <a:ext cx="1024128" cy="1024128"/>
          </a:xfrm>
          <a:prstGeom prst="line">
            <a:avLst/>
          </a:prstGeom>
          <a:noFill/>
          <a:ln w="12700">
            <a:solidFill>
              <a:srgbClr val="B9B5AB"/>
            </a:solidFill>
            <a:prstDash val="solid"/>
          </a:ln>
        </p:spPr>
      </p:sp>
      <p:sp>
        <p:nvSpPr>
          <p:cNvPr id="9" name="Shape 7"/>
          <p:cNvSpPr/>
          <p:nvPr/>
        </p:nvSpPr>
        <p:spPr>
          <a:xfrm>
            <a:off x="2167128" y="2304288"/>
            <a:ext cx="1207008" cy="1207008"/>
          </a:xfrm>
          <a:prstGeom prst="ellipse">
            <a:avLst/>
          </a:prstGeom>
          <a:solidFill>
            <a:srgbClr val="DAD6CD"/>
          </a:solidFill>
          <a:ln w="12700">
            <a:solidFill>
              <a:srgbClr val="DAD6CD"/>
            </a:solidFill>
            <a:prstDash val="solid"/>
          </a:ln>
        </p:spPr>
      </p:sp>
      <p:sp>
        <p:nvSpPr>
          <p:cNvPr id="10" name="Text 8"/>
          <p:cNvSpPr txBox="1"/>
          <p:nvPr/>
        </p:nvSpPr>
        <p:spPr>
          <a:xfrm>
            <a:off x="2167128" y="2304288"/>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Capacity</a:t>
            </a:r>
            <a:endParaRPr lang="en-US" sz="1100" dirty="0"/>
          </a:p>
        </p:txBody>
      </p:sp>
      <p:sp>
        <p:nvSpPr>
          <p:cNvPr id="11" name="Shape 9"/>
          <p:cNvSpPr/>
          <p:nvPr/>
        </p:nvSpPr>
        <p:spPr>
          <a:xfrm>
            <a:off x="4215384" y="2304288"/>
            <a:ext cx="1207008" cy="1207008"/>
          </a:xfrm>
          <a:prstGeom prst="ellipse">
            <a:avLst/>
          </a:prstGeom>
          <a:solidFill>
            <a:srgbClr val="DAD6CD"/>
          </a:solidFill>
          <a:ln w="12700">
            <a:solidFill>
              <a:srgbClr val="DAD6CD"/>
            </a:solidFill>
            <a:prstDash val="solid"/>
          </a:ln>
        </p:spPr>
      </p:sp>
      <p:sp>
        <p:nvSpPr>
          <p:cNvPr id="12" name="Text 10"/>
          <p:cNvSpPr txBox="1"/>
          <p:nvPr/>
        </p:nvSpPr>
        <p:spPr>
          <a:xfrm>
            <a:off x="4215384" y="2304288"/>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Consistency</a:t>
            </a:r>
            <a:endParaRPr lang="en-US" sz="1100" dirty="0"/>
          </a:p>
        </p:txBody>
      </p:sp>
      <p:sp>
        <p:nvSpPr>
          <p:cNvPr id="13" name="Shape 11"/>
          <p:cNvSpPr/>
          <p:nvPr/>
        </p:nvSpPr>
        <p:spPr>
          <a:xfrm>
            <a:off x="2167128" y="4352544"/>
            <a:ext cx="1207008" cy="1207008"/>
          </a:xfrm>
          <a:prstGeom prst="ellipse">
            <a:avLst/>
          </a:prstGeom>
          <a:solidFill>
            <a:srgbClr val="DAD6CD"/>
          </a:solidFill>
          <a:ln w="12700">
            <a:solidFill>
              <a:srgbClr val="DAD6CD"/>
            </a:solidFill>
            <a:prstDash val="solid"/>
          </a:ln>
        </p:spPr>
      </p:sp>
      <p:sp>
        <p:nvSpPr>
          <p:cNvPr id="14" name="Text 12"/>
          <p:cNvSpPr txBox="1"/>
          <p:nvPr/>
        </p:nvSpPr>
        <p:spPr>
          <a:xfrm>
            <a:off x="2167128" y="4352544"/>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Traceability</a:t>
            </a:r>
            <a:endParaRPr lang="en-US" sz="1100" dirty="0"/>
          </a:p>
        </p:txBody>
      </p:sp>
      <p:sp>
        <p:nvSpPr>
          <p:cNvPr id="15" name="Shape 13"/>
          <p:cNvSpPr/>
          <p:nvPr/>
        </p:nvSpPr>
        <p:spPr>
          <a:xfrm>
            <a:off x="4215384" y="4352544"/>
            <a:ext cx="1207008" cy="1207008"/>
          </a:xfrm>
          <a:prstGeom prst="ellipse">
            <a:avLst/>
          </a:prstGeom>
          <a:solidFill>
            <a:srgbClr val="DAD6CD"/>
          </a:solidFill>
          <a:ln w="12700">
            <a:solidFill>
              <a:srgbClr val="DAD6CD"/>
            </a:solidFill>
            <a:prstDash val="solid"/>
          </a:ln>
        </p:spPr>
      </p:sp>
      <p:sp>
        <p:nvSpPr>
          <p:cNvPr id="16" name="Text 14"/>
          <p:cNvSpPr txBox="1"/>
          <p:nvPr/>
        </p:nvSpPr>
        <p:spPr>
          <a:xfrm>
            <a:off x="4215384" y="4352544"/>
            <a:ext cx="1207008" cy="1207008"/>
          </a:xfrm>
          <a:prstGeom prst="rect">
            <a:avLst/>
          </a:prstGeom>
          <a:noFill/>
          <a:ln/>
        </p:spPr>
        <p:txBody>
          <a:bodyPr wrap="square" lIns="0" tIns="0" rIns="0" bIns="0" rtlCol="0" anchor="ctr"/>
          <a:lstStyle/>
          <a:p>
            <a:pPr algn="ctr" indent="0" marL="0">
              <a:buNone/>
            </a:pPr>
            <a:r>
              <a:rPr lang="en-US" sz="1100" b="1" dirty="0">
                <a:solidFill>
                  <a:srgbClr val="1E1E1E"/>
                </a:solidFill>
                <a:latin typeface="Arial" pitchFamily="34" charset="0"/>
                <a:ea typeface="Arial" pitchFamily="34" charset="-122"/>
                <a:cs typeface="Arial" pitchFamily="34" charset="-120"/>
              </a:rPr>
              <a:t>Reusable</a:t>
            </a:r>
            <a:endParaRPr lang="en-US" sz="1100" dirty="0"/>
          </a:p>
        </p:txBody>
      </p:sp>
      <p:sp>
        <p:nvSpPr>
          <p:cNvPr id="17" name="Shape 15"/>
          <p:cNvSpPr/>
          <p:nvPr/>
        </p:nvSpPr>
        <p:spPr>
          <a:xfrm>
            <a:off x="3136392" y="3273552"/>
            <a:ext cx="1316736" cy="1316736"/>
          </a:xfrm>
          <a:prstGeom prst="ellipse">
            <a:avLst/>
          </a:prstGeom>
          <a:solidFill>
            <a:srgbClr val="E60000"/>
          </a:solidFill>
          <a:ln w="12700">
            <a:solidFill>
              <a:srgbClr val="E60000"/>
            </a:solidFill>
            <a:prstDash val="solid"/>
          </a:ln>
        </p:spPr>
      </p:sp>
      <p:sp>
        <p:nvSpPr>
          <p:cNvPr id="18" name="Text 16"/>
          <p:cNvSpPr txBox="1"/>
          <p:nvPr/>
        </p:nvSpPr>
        <p:spPr>
          <a:xfrm>
            <a:off x="3136392" y="3273552"/>
            <a:ext cx="1316736" cy="13167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Sentinel</a:t>
            </a:r>
            <a:endParaRPr lang="en-US" sz="1400" dirty="0"/>
          </a:p>
        </p:txBody>
      </p:sp>
      <p:sp>
        <p:nvSpPr>
          <p:cNvPr id="19" name="Text 17"/>
          <p:cNvSpPr txBox="1"/>
          <p:nvPr/>
        </p:nvSpPr>
        <p:spPr>
          <a:xfrm>
            <a:off x="2560320" y="1554480"/>
            <a:ext cx="2468880" cy="45720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 policy changes: which of our documents are affected, and where?</a:t>
            </a:r>
            <a:endParaRPr lang="en-US" sz="1000" dirty="0"/>
          </a:p>
        </p:txBody>
      </p:sp>
      <p:sp>
        <p:nvSpPr>
          <p:cNvPr id="20" name="Text 18"/>
          <p:cNvSpPr txBox="1"/>
          <p:nvPr/>
        </p:nvSpPr>
        <p:spPr>
          <a:xfrm>
            <a:off x="822960" y="3611880"/>
            <a:ext cx="1737360" cy="64008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An event hits a sector: which counterparties are exposed, and what does the file say?</a:t>
            </a:r>
            <a:endParaRPr lang="en-US" sz="1000" dirty="0"/>
          </a:p>
        </p:txBody>
      </p:sp>
      <p:sp>
        <p:nvSpPr>
          <p:cNvPr id="21" name="Text 19"/>
          <p:cNvSpPr txBox="1"/>
          <p:nvPr/>
        </p:nvSpPr>
        <p:spPr>
          <a:xfrm>
            <a:off x="5029200" y="3657600"/>
            <a:ext cx="1737360" cy="548640"/>
          </a:xfrm>
          <a:prstGeom prst="rect">
            <a:avLst/>
          </a:prstGeom>
          <a:solidFill>
            <a:srgbClr val="FFFFFF"/>
          </a:solidFill>
          <a:ln/>
        </p:spPr>
        <p:txBody>
          <a:bodyPr wrap="square" lIns="25400" tIns="25400" rIns="25400" bIns="25400" rtlCol="0" anchor="ctr"/>
          <a:lstStyle/>
          <a:p>
            <a:pPr algn="ctr" indent="0" marL="0">
              <a:buNone/>
            </a:pPr>
            <a:r>
              <a:rPr lang="en-US" sz="1000" dirty="0">
                <a:solidFill>
                  <a:srgbClr val="E60000"/>
                </a:solidFill>
                <a:latin typeface="Arial" pitchFamily="34" charset="0"/>
                <a:ea typeface="Arial" pitchFamily="34" charset="-122"/>
                <a:cs typeface="Arial" pitchFamily="34" charset="-120"/>
              </a:rPr>
              <a:t>A new procedure lands: does this documentation meet it?</a:t>
            </a:r>
            <a:endParaRPr lang="en-US" sz="1000" dirty="0"/>
          </a:p>
        </p:txBody>
      </p:sp>
      <p:sp>
        <p:nvSpPr>
          <p:cNvPr id="22" name="Text 20"/>
          <p:cNvSpPr txBox="1"/>
          <p:nvPr/>
        </p:nvSpPr>
        <p:spPr>
          <a:xfrm>
            <a:off x="457200" y="6263640"/>
            <a:ext cx="5943600" cy="228600"/>
          </a:xfrm>
          <a:prstGeom prst="rect">
            <a:avLst/>
          </a:prstGeom>
          <a:noFill/>
          <a:ln/>
        </p:spPr>
        <p:txBody>
          <a:bodyPr wrap="square" lIns="0" tIns="0" rIns="0" bIns="0" rtlCol="0" anchor="t"/>
          <a:lstStyle/>
          <a:p>
            <a:pPr indent="0" marL="0">
              <a:buNone/>
            </a:pPr>
            <a:r>
              <a:rPr lang="en-US" sz="1000" i="1" dirty="0">
                <a:solidFill>
                  <a:srgbClr val="6B6B6B"/>
                </a:solidFill>
                <a:latin typeface="Arial" pitchFamily="34" charset="0"/>
                <a:ea typeface="Arial" pitchFamily="34" charset="-122"/>
                <a:cs typeface="Arial" pitchFamily="34" charset="-120"/>
              </a:rPr>
              <a:t>What this could look like for your team</a:t>
            </a:r>
            <a:endParaRPr lang="en-US" sz="1000" dirty="0"/>
          </a:p>
        </p:txBody>
      </p:sp>
      <p:sp>
        <p:nvSpPr>
          <p:cNvPr id="23" name="Text 21"/>
          <p:cNvSpPr txBox="1"/>
          <p:nvPr/>
        </p:nvSpPr>
        <p:spPr>
          <a:xfrm>
            <a:off x="7086600" y="1508760"/>
            <a:ext cx="464789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Four outcomes</a:t>
            </a:r>
            <a:endParaRPr lang="en-US" sz="1200" dirty="0"/>
          </a:p>
        </p:txBody>
      </p:sp>
      <p:sp>
        <p:nvSpPr>
          <p:cNvPr id="24" name="Text 22"/>
          <p:cNvSpPr txBox="1"/>
          <p:nvPr/>
        </p:nvSpPr>
        <p:spPr>
          <a:xfrm>
            <a:off x="7086600" y="1828800"/>
            <a:ext cx="4647895" cy="2011680"/>
          </a:xfrm>
          <a:prstGeom prst="rect">
            <a:avLst/>
          </a:prstGeom>
          <a:noFill/>
          <a:ln/>
        </p:spPr>
        <p:txBody>
          <a:bodyPr wrap="square" lIns="0" tIns="0" rIns="0" bIns="0" rtlCol="0" anchor="t"/>
          <a:lstStyle/>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Capacity.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More time for the analysis only a specialist can do.</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Consistency.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The same questions and standards, applied the same way every time.</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Traceability. </a:t>
            </a:r>
            <a:pPr indent="0" marL="0">
              <a:spcAft>
                <a:spcPts val="600"/>
              </a:spcAft>
              <a:buNone/>
            </a:pPr>
            <a:r>
              <a:rPr lang="en-US" sz="1200" dirty="0">
                <a:solidFill>
                  <a:srgbClr val="3A3A3A"/>
                </a:solidFill>
                <a:latin typeface="Arial" pitchFamily="34" charset="0"/>
                <a:ea typeface="Arial" pitchFamily="34" charset="-122"/>
                <a:cs typeface="Arial" pitchFamily="34" charset="-120"/>
              </a:rPr>
              <a:t>Every conclusion tied to its evidence and to the version of the standard used.</a:t>
            </a:r>
            <a:endParaRPr lang="en-US" sz="1200" dirty="0"/>
          </a:p>
          <a:p>
            <a:pPr marL="152400" indent="-152400">
              <a:buSzPct val="100000"/>
              <a:buChar char="•"/>
            </a:pPr>
            <a:r>
              <a:rPr lang="en-US" sz="1200" b="1" dirty="0">
                <a:solidFill>
                  <a:srgbClr val="1E1E1E"/>
                </a:solidFill>
                <a:latin typeface="Arial" pitchFamily="34" charset="0"/>
                <a:ea typeface="Arial" pitchFamily="34" charset="-122"/>
                <a:cs typeface="Arial" pitchFamily="34" charset="-120"/>
              </a:rPr>
              <a:t>Reusable. </a:t>
            </a:r>
            <a:pPr indent="0" marL="0">
              <a:spcAft>
                <a:spcPts val="600"/>
              </a:spcAft>
              <a:buNone/>
            </a:pPr>
            <a:r>
              <a:rPr lang="en-US" sz="1200" dirty="0">
                <a:solidFill>
                  <a:srgbClr val="3A3A3A"/>
                </a:solidFill>
                <a:latin typeface="Arial" pitchFamily="34" charset="0"/>
                <a:ea typeface="Arial" pitchFamily="34" charset="-122"/>
                <a:cs typeface="Arial" pitchFamily="34" charset="-120"/>
              </a:rPr>
              <a:t>Built once, inherited by every team that follows.</a:t>
            </a:r>
            <a:endParaRPr lang="en-US" sz="1200" dirty="0"/>
          </a:p>
        </p:txBody>
      </p:sp>
      <p:sp>
        <p:nvSpPr>
          <p:cNvPr id="25" name="Text 23"/>
          <p:cNvSpPr txBox="1"/>
          <p:nvPr/>
        </p:nvSpPr>
        <p:spPr>
          <a:xfrm>
            <a:off x="7086600" y="3429000"/>
            <a:ext cx="4647895" cy="548640"/>
          </a:xfrm>
          <a:prstGeom prst="rect">
            <a:avLst/>
          </a:prstGeom>
          <a:noFill/>
          <a:ln/>
        </p:spPr>
        <p:txBody>
          <a:bodyPr wrap="square" lIns="0" tIns="0" rIns="0" bIns="0" rtlCol="0" anchor="t"/>
          <a:lstStyle/>
          <a:p>
            <a:pPr indent="0" marL="0">
              <a:buNone/>
            </a:pPr>
            <a:r>
              <a:rPr lang="en-US" sz="1100" i="1" dirty="0">
                <a:solidFill>
                  <a:srgbClr val="6B6B6B"/>
                </a:solidFill>
                <a:latin typeface="Arial" pitchFamily="34" charset="0"/>
                <a:ea typeface="Arial" pitchFamily="34" charset="-122"/>
                <a:cs typeface="Arial" pitchFamily="34" charset="-120"/>
              </a:rPr>
              <a:t>Where it applies first: Credit Risk Review workpapers, Enterprise Risk Management portfolio and event assessment, Personal &amp; Corporate Banking document review. Then your team.</a:t>
            </a:r>
            <a:endParaRPr lang="en-US" sz="1100" dirty="0"/>
          </a:p>
        </p:txBody>
      </p:sp>
      <p:sp>
        <p:nvSpPr>
          <p:cNvPr id="26" name="Shape 24"/>
          <p:cNvSpPr/>
          <p:nvPr/>
        </p:nvSpPr>
        <p:spPr>
          <a:xfrm>
            <a:off x="7086600" y="4069080"/>
            <a:ext cx="4647895" cy="2057400"/>
          </a:xfrm>
          <a:prstGeom prst="rect">
            <a:avLst/>
          </a:prstGeom>
          <a:solidFill>
            <a:srgbClr val="EFEDE8"/>
          </a:solidFill>
          <a:ln w="12700">
            <a:solidFill>
              <a:srgbClr val="EFEDE8"/>
            </a:solidFill>
            <a:prstDash val="solid"/>
          </a:ln>
        </p:spPr>
      </p:sp>
      <p:sp>
        <p:nvSpPr>
          <p:cNvPr id="27" name="Text 25"/>
          <p:cNvSpPr txBox="1"/>
          <p:nvPr/>
        </p:nvSpPr>
        <p:spPr>
          <a:xfrm>
            <a:off x="7315200" y="4251960"/>
            <a:ext cx="4190695" cy="274320"/>
          </a:xfrm>
          <a:prstGeom prst="rect">
            <a:avLst/>
          </a:prstGeom>
          <a:noFill/>
          <a:ln/>
        </p:spPr>
        <p:txBody>
          <a:bodyPr wrap="square" lIns="0" tIns="0" rIns="0" bIns="0" rtlCol="0" anchor="t"/>
          <a:lstStyle/>
          <a:p>
            <a:pPr indent="0" marL="0">
              <a:buNone/>
            </a:pPr>
            <a:r>
              <a:rPr lang="en-US" sz="1200" b="1" dirty="0">
                <a:solidFill>
                  <a:srgbClr val="E60000"/>
                </a:solidFill>
                <a:latin typeface="Arial" pitchFamily="34" charset="0"/>
                <a:ea typeface="Arial" pitchFamily="34" charset="-122"/>
                <a:cs typeface="Arial" pitchFamily="34" charset="-120"/>
              </a:rPr>
              <a:t>For information, with one ask</a:t>
            </a:r>
            <a:endParaRPr lang="en-US" sz="1200" dirty="0"/>
          </a:p>
        </p:txBody>
      </p:sp>
      <p:sp>
        <p:nvSpPr>
          <p:cNvPr id="28" name="Text 26"/>
          <p:cNvSpPr txBox="1"/>
          <p:nvPr/>
        </p:nvSpPr>
        <p:spPr>
          <a:xfrm>
            <a:off x="7315200" y="4599432"/>
            <a:ext cx="4190695" cy="1005840"/>
          </a:xfrm>
          <a:prstGeom prst="rect">
            <a:avLst/>
          </a:prstGeom>
          <a:noFill/>
          <a:ln/>
        </p:spPr>
        <p:txBody>
          <a:bodyPr wrap="square" lIns="0" tIns="0" rIns="0" bIns="0" rtlCol="0" anchor="t"/>
          <a:lstStyle/>
          <a:p>
            <a:pPr indent="0" marL="0">
              <a:buNone/>
            </a:pPr>
            <a:r>
              <a:rPr lang="en-US" sz="1200" dirty="0">
                <a:solidFill>
                  <a:srgbClr val="1E1E1E"/>
                </a:solidFill>
                <a:latin typeface="Arial" pitchFamily="34" charset="0"/>
                <a:ea typeface="Arial" pitchFamily="34" charset="-122"/>
                <a:cs typeface="Arial" pitchFamily="34" charset="-120"/>
              </a:rPr>
              <a:t>If your team spends hours preparing documents before judgment, tell us before the September architecture ratification, so the foundation is designed for you.</a:t>
            </a:r>
            <a:endParaRPr lang="en-US" sz="1200" dirty="0"/>
          </a:p>
        </p:txBody>
      </p:sp>
      <p:sp>
        <p:nvSpPr>
          <p:cNvPr id="29" name="Text 27"/>
          <p:cNvSpPr txBox="1"/>
          <p:nvPr/>
        </p:nvSpPr>
        <p:spPr>
          <a:xfrm>
            <a:off x="7315200" y="5715000"/>
            <a:ext cx="4190695"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Owner: Credit Risk Review</a:t>
            </a:r>
            <a:endParaRPr lang="en-US" sz="1100" dirty="0"/>
          </a:p>
        </p:txBody>
      </p:sp>
      <p:sp>
        <p:nvSpPr>
          <p:cNvPr id="31" name="Text 28"/>
          <p:cNvSpPr txBox="1"/>
          <p:nvPr/>
        </p:nvSpPr>
        <p:spPr>
          <a:xfrm>
            <a:off x="11368735" y="6473952"/>
            <a:ext cx="365760" cy="228600"/>
          </a:xfrm>
          <a:prstGeom prst="rect">
            <a:avLst/>
          </a:prstGeom>
          <a:noFill/>
          <a:ln/>
        </p:spPr>
        <p:txBody>
          <a:bodyPr wrap="square" lIns="0" tIns="0" rIns="0" bIns="0" rtlCol="0" anchor="ctr"/>
          <a:lstStyle/>
          <a:p>
            <a:pPr algn="r" indent="0" marL="0">
              <a:buNone/>
            </a:pPr>
            <a:r>
              <a:rPr lang="en-US" sz="1000" dirty="0">
                <a:solidFill>
                  <a:srgbClr val="6B6B6B"/>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Sentinel</dc:title>
  <dc:subject>PptxGenJS Presentation</dc:subject>
  <dc:creator>Credit Risk Review</dc:creator>
  <cp:lastModifiedBy>Credit Risk Review</cp:lastModifiedBy>
  <cp:revision>1</cp:revision>
  <dcterms:created xsi:type="dcterms:W3CDTF">2026-08-28T22:09:05Z</dcterms:created>
  <dcterms:modified xsi:type="dcterms:W3CDTF">2026-08-28T22:09:05Z</dcterms:modified>
</cp:coreProperties>
</file>