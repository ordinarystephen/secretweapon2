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spoken over this slide (about a minute). Optional: drop this slide if the master deck has its own divider.
You have just watched FAIR reading financial statements at scale, in production. I am going to take you one step earlier in the lifecycle, to something that is designed and not yet built. It is in the same family: software that reads documents and pulls out what matters. It has a different job, preparing analysis and review rather than processing, and it is being built as a shared foundation for any team in Risk.
Every discipline in this room does a version of the same thing before it forms a view. We find the documents, read them, pull out what matters, and assemble it into something we can reason about. Only then does the risk judgment begin. That preparation is where a large share of our time goes, and it is not the part of the job that needs our expertise.
Sentinel is the answer to that. It started as one team's proof of concept. It is becoming a shared capability for Risk. Four slides: what it is and where it came from, how it is built, where we are, and what it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where this came from, because it explains what it is.
Colleagues in Personal &amp; Corporate Banking built an early proof of concept with a simple idea: upload a document, ask it a question, get an answer, and see where in the document the answer came from. It worked, and other teams picked it up, including a tactical use case in Commercial Lending. And when I looked at it, what struck me was not the question-answering. It was everything underneath it. To answer one question well, that proof of concept had to take in a document, read it properly, find the passage that mattered, cite it, and control who could see it. Those are exactly the problems every Risk team has, whatever the documents and whatever the questions.
That was the insight behind Sentinel. Solve the hard part once, as a shared foundation, and let every group bring its own meaning: its own questions, its own standards, its own output. Credit Risk Review is the first application, because our work is as document-heavy as it gets. When a reviewer picks up a borrower, the first job is not analysis. It is logistics: credit agreements, financials, underwriting memos, covenant compliance, correspondence, sitting in different systems and shared folders. Hours, sometimes days, before a single judgment is written. And because it is manual, it varies by person, it goes stale, and statements do not always trace back to a source.
So here is what Sentinel will do. It will organize the evidence: read the documents and find the relevant text, tables, and figures. It will prepare the analysis: structure what it finds into the output the team needs. For us, that is a workpaper, section by section. It will show its work: every statement links back to the page it came from, so the reviewer can check it in one click. And it will keep people accountable: where it is not confident, it will say so and flag the item for review.
I want to be precise about that last point, because this is a Risk audience and you should hold me to it. Sentinel will not make risk judgments. It will not grade anything. It is not replacing reviewers and it is not replacing our systems of record. It addresses the document-heavy work that happens before judgment. Interpretation, challenge, approval, and the final conclusion stay with the person whose name is on the review.
Sentinel will automate preparation, not accountability.
Transition: Here is how it is put together, and this is the work we are doing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diagram I will show you, and it is not a technical one. It is about who owns what. It is also real: this is the architecture we designed with IT, ratified at the AI Forum in September, so the foundation gets built once, properly.
Start at the bottom: where documents will come from. Our upstream systems, direct upload, and monitored SharePoint folders. Documents flow in once.
The middle is the shared foundation, the part built and controlled once, for everybody. Eight capabilities. It takes in documents and reads text, tables, and images. It finds what matters and cites every source. It flags what it is unsure about. It holds each team's rules, version-controlled, so we always know which version of a standard a conclusion was held to. And it monitors itself, keeps records, and keeps each team's data separate and access controlled. Each of those is a control problem solved once, never re-solved by the next team. That is the point of a platform.
The top is the applications, and this is where the meaning lives. Each Risk team owns its own. Credit Risk Review is the first: deep review of borrower relationships, workpapers with every statement cited, and, in a later release, a built-in second opinion where Sentinel argues the other side and the reviewer decides. IB Commercial Lending brings a very different question: which clients are exposed to this event? Its application scans documents across the whole portfolio. Personal &amp; Corporate Banking, where the original proof of concept came from, asks: what data is in these documents? Its application extracts fields at scale for downstream analysis, each with the page highlighted and a reason, built so other platforms can use it too. Same foundation, different meaning.
One more point. IT has now drafted the platform design, and their deck opens with four words: process once, use many times. We did not write that for them. When business and engineering tell the same story independently, the architecture is right.
And the target operating model makes the top row grow without new builds. A future application is configured, not built: the team supplies its questions, policies, templates, thresholds, and sign-off points, through business-led, no-code or low-code configuration. Engineering owns the components and the controlled deployment; the business owns the content and what the tool is supposed to do. That split is what keeps accountability clear.
The platform provides the mechanism; the risk team provides the meaning.
Transition: So where are we on actually building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where this is, because you have just seen something in production and this is not that.
Start at the dashed line. That is today. Everything to the left is done. Everything to the right is either dated, or hollow, which means the timing firms up as the delivery roadmap is approved.
Left of the line, the path had three steps. First we proved the approach on our own work: a proof of concept built around how Credit Risk Review works. It reads credit documents, cites the evidence, and fills the six workpaper sections our reviewers use. It is not a production application and it was never meant to be one; its job was to prove the approach, and it did. Then we designed for production. Not a bigger demo: requirements that define how the application must function in production, with access, traceability, validation, and control designed in from the start. And in September the design was ratified at the AI Forum. The outcome is the shared foundation you saw on the last slide, the layer the first three applications are hosted on: ours, IB Commercial Lending's, and Personal &amp; Corporate Banking's.
Now look right. The build, on a timeline that firms up as the delivery roadmap is approved. Then the releases, deliberately staged. Release 1, Assemble and Assess: the evidence-backed workpaper, validated and tested alongside the current process before anyone depends on it. Release 2, Challenge and Adjudicate: Sentinel presents a counter-position with its own evidence, and the reviewer rules on it and records why. That gives us something we have never had, an auditable record of applied judgment. Release 3, Learn and Scale: governed learning from reviewer feedback and connection to upstream systems. And one marker to note on the way: IB Commercial Lending is deploying its use case as a standalone application in the meantime, and it merges onto the platform in the first quarter. Nobody waits, and nobody builds twice.
And what is happening right now is the work that makes the build real. We are assembling what the Credit Risk Review build is centered on: the golden sources it will draw from, the internal standards it will be held to, and the documents we will use to test and train it. We are agreeing how we measure it: how we score what it pulls from documents, and what good enough means before anyone relies on it. And we are setting the guardrails: what it may do on its own, and where a person must step in.
The principle is simple: start with one controlled application, prove trust, then expand.
Transition: Which brings me to what all of this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this worth? Two answers: one for my team, and one for the organization.
For Credit Risk Review, the first thing is time. Our scarcest resource is not software; it is senior reviewer judgment. Today a large share of that judgment is spent finding, extracting, and assembling before the real work starts. Sentinel takes the assembly, and our specialists get their hours back for the analysis only they can do.
The second is consistency. When every workpaper is prepared against the same questions and the same standards, the work product stops varying by author. Same borrower, same evidence, same rigor, whoever picks it up.
And the third is the one I care most about. Credit Risk Review exists to challenge risk assumptions in this organization. When every position we take is backed by evidence cited to the page, and, in a later release, when Sentinel argues the counter-position and the reviewer rules on it and records why, we challenge from firmer ground, and we accumulate an auditable record of applied judgment. Our expertise stops living only in people's heads. This platform will bring tremendous value to how this team works.
For the organization, the value compounds. Every document Sentinel processes is processed once, and becomes part of a common knowledge graph of credit documentation: a connected, governed picture of what our documents actually say, reusable by design across teams. The day a policy changes or an event hits a sector, the organization can put questions to its documents instead of to a dozen shared drives.
And the things a risk function worries about most are not left to each team to solve. Traceability, human adjudication, and business-context configuration are built into the platform itself. Every application inherits them by construction; nobody rebuilds them, and nobody gets them subtly wrong.
Which is why the target operating model matters: business-led configuration, no code or low code. A team with a document-heavy process configures its questions and standards onto the platform; it does not commission a build. That is how three applications become many, without the cost or the risk of many builds.
I will close with this. Sentinel gives Risk a common, controlled way to convert evidence into better-prepared human judgment. The judgment stays with us. The preparation does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103120"/>
            <a:ext cx="11277295" cy="822960"/>
          </a:xfrm>
          <a:prstGeom prst="rect">
            <a:avLst/>
          </a:prstGeom>
          <a:noFill/>
          <a:ln/>
        </p:spPr>
        <p:txBody>
          <a:bodyPr wrap="square" lIns="0" tIns="0" rIns="0" bIns="0" rtlCol="0" anchor="ctr"/>
          <a:lstStyle/>
          <a:p>
            <a:pPr indent="0" marL="0">
              <a:buNone/>
            </a:pPr>
            <a:r>
              <a:rPr lang="en-US" sz="4000" dirty="0">
                <a:solidFill>
                  <a:srgbClr val="1E1E1E"/>
                </a:solidFill>
                <a:latin typeface="Frutiger 45 Light" pitchFamily="34" charset="0"/>
                <a:ea typeface="Frutiger 45 Light" pitchFamily="34" charset="-122"/>
                <a:cs typeface="Frutiger 45 Light" pitchFamily="34" charset="-120"/>
              </a:rPr>
              <a:t>Project Sentinel</a:t>
            </a:r>
            <a:endParaRPr lang="en-US" sz="4000" dirty="0"/>
          </a:p>
        </p:txBody>
      </p:sp>
      <p:sp>
        <p:nvSpPr>
          <p:cNvPr id="3" name="Text 1"/>
          <p:cNvSpPr txBox="1"/>
          <p:nvPr/>
        </p:nvSpPr>
        <p:spPr>
          <a:xfrm>
            <a:off x="457200" y="2926080"/>
            <a:ext cx="11277295" cy="548640"/>
          </a:xfrm>
          <a:prstGeom prst="rect">
            <a:avLst/>
          </a:prstGeom>
          <a:noFill/>
          <a:ln/>
        </p:spPr>
        <p:txBody>
          <a:bodyPr wrap="square" lIns="0" tIns="0" rIns="0" bIns="0" rtlCol="0" anchor="ctr"/>
          <a:lstStyle/>
          <a:p>
            <a:pPr indent="0" marL="0">
              <a:buNone/>
            </a:pPr>
            <a:r>
              <a:rPr lang="en-US" sz="2400" dirty="0">
                <a:solidFill>
                  <a:srgbClr val="000000"/>
                </a:solidFill>
                <a:latin typeface="Frutiger 45 Light" pitchFamily="34" charset="0"/>
                <a:ea typeface="Frutiger 45 Light" pitchFamily="34" charset="-122"/>
                <a:cs typeface="Frutiger 45 Light" pitchFamily="34" charset="-120"/>
              </a:rPr>
              <a:t>One foundation for Risk's document work</a:t>
            </a:r>
            <a:endParaRPr lang="en-US" sz="2400" dirty="0"/>
          </a:p>
        </p:txBody>
      </p:sp>
      <p:sp>
        <p:nvSpPr>
          <p:cNvPr id="4" name="Text 2"/>
          <p:cNvSpPr txBox="1"/>
          <p:nvPr/>
        </p:nvSpPr>
        <p:spPr>
          <a:xfrm>
            <a:off x="457200" y="3749040"/>
            <a:ext cx="11277295" cy="365760"/>
          </a:xfrm>
          <a:prstGeom prst="rect">
            <a:avLst/>
          </a:prstGeom>
          <a:noFill/>
          <a:ln/>
        </p:spPr>
        <p:txBody>
          <a:bodyPr wrap="square" lIns="0" tIns="0" rIns="0" bIns="0" rtlCol="0" anchor="ctr"/>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Credit Risk Review  |  Group Risk Control COO townhall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One team's question became </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a capability for all of Risk</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Sentinel will do the document preparation, so our reviewers spend their time on judgment.</a:t>
            </a:r>
            <a:endParaRPr lang="en-US" sz="1400" dirty="0"/>
          </a:p>
        </p:txBody>
      </p:sp>
      <p:sp>
        <p:nvSpPr>
          <p:cNvPr id="4" name="Shape 2"/>
          <p:cNvSpPr/>
          <p:nvPr/>
        </p:nvSpPr>
        <p:spPr>
          <a:xfrm>
            <a:off x="457200" y="1508760"/>
            <a:ext cx="4480560" cy="4572000"/>
          </a:xfrm>
          <a:prstGeom prst="rect">
            <a:avLst/>
          </a:prstGeom>
          <a:solidFill>
            <a:srgbClr val="ECEBE4"/>
          </a:solidFill>
          <a:ln w="12700">
            <a:solidFill>
              <a:srgbClr val="ECEBE4"/>
            </a:solidFill>
            <a:prstDash val="solid"/>
          </a:ln>
        </p:spPr>
      </p:sp>
      <p:sp>
        <p:nvSpPr>
          <p:cNvPr id="5" name="Text 3"/>
          <p:cNvSpPr txBox="1"/>
          <p:nvPr/>
        </p:nvSpPr>
        <p:spPr>
          <a:xfrm>
            <a:off x="731520" y="1737360"/>
            <a:ext cx="3931920" cy="274320"/>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What Sentinel will do</a:t>
            </a:r>
            <a:endParaRPr lang="en-US" sz="1400" dirty="0"/>
          </a:p>
        </p:txBody>
      </p:sp>
      <p:sp>
        <p:nvSpPr>
          <p:cNvPr id="6" name="Text 4"/>
          <p:cNvSpPr txBox="1"/>
          <p:nvPr/>
        </p:nvSpPr>
        <p:spPr>
          <a:xfrm>
            <a:off x="731520" y="2240280"/>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Organize the evidence.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Read the documents and find the relevant text, tables, and figures.</a:t>
            </a:r>
            <a:endParaRPr lang="en-US" sz="1200" dirty="0"/>
          </a:p>
        </p:txBody>
      </p:sp>
      <p:sp>
        <p:nvSpPr>
          <p:cNvPr id="7" name="Text 5"/>
          <p:cNvSpPr txBox="1"/>
          <p:nvPr/>
        </p:nvSpPr>
        <p:spPr>
          <a:xfrm>
            <a:off x="731520" y="3264408"/>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Prepare the analysis.</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Structure what it finds into the output the team needs, such as a workpaper.</a:t>
            </a:r>
            <a:endParaRPr lang="en-US" sz="1200" dirty="0"/>
          </a:p>
        </p:txBody>
      </p:sp>
      <p:sp>
        <p:nvSpPr>
          <p:cNvPr id="8" name="Text 6"/>
          <p:cNvSpPr txBox="1"/>
          <p:nvPr/>
        </p:nvSpPr>
        <p:spPr>
          <a:xfrm>
            <a:off x="731520" y="4288536"/>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Show its work.</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Link every statement back to its source.</a:t>
            </a:r>
            <a:endParaRPr lang="en-US" sz="1200" dirty="0"/>
          </a:p>
        </p:txBody>
      </p:sp>
      <p:sp>
        <p:nvSpPr>
          <p:cNvPr id="9" name="Text 7"/>
          <p:cNvSpPr txBox="1"/>
          <p:nvPr/>
        </p:nvSpPr>
        <p:spPr>
          <a:xfrm>
            <a:off x="731520" y="5312664"/>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Keep people accountable.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Flag uncertainty and hold items for a reviewer.</a:t>
            </a:r>
            <a:endParaRPr lang="en-US" sz="1200" dirty="0"/>
          </a:p>
        </p:txBody>
      </p:sp>
      <p:sp>
        <p:nvSpPr>
          <p:cNvPr id="10" name="Shape 8"/>
          <p:cNvSpPr/>
          <p:nvPr/>
        </p:nvSpPr>
        <p:spPr>
          <a:xfrm>
            <a:off x="5303520" y="1508760"/>
            <a:ext cx="6430975" cy="1371600"/>
          </a:xfrm>
          <a:prstGeom prst="rect">
            <a:avLst/>
          </a:prstGeom>
          <a:solidFill>
            <a:srgbClr val="ECEBE4"/>
          </a:solidFill>
          <a:ln w="12700">
            <a:solidFill>
              <a:srgbClr val="ECEBE4"/>
            </a:solidFill>
            <a:prstDash val="solid"/>
          </a:ln>
        </p:spPr>
      </p:sp>
      <p:sp>
        <p:nvSpPr>
          <p:cNvPr id="11" name="Text 9"/>
          <p:cNvSpPr txBox="1"/>
          <p:nvPr/>
        </p:nvSpPr>
        <p:spPr>
          <a:xfrm>
            <a:off x="5577840" y="1691640"/>
            <a:ext cx="2743200" cy="274320"/>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Where it started</a:t>
            </a:r>
            <a:endParaRPr lang="en-US" sz="1200" dirty="0"/>
          </a:p>
        </p:txBody>
      </p:sp>
      <p:sp>
        <p:nvSpPr>
          <p:cNvPr id="12" name="Shape 10"/>
          <p:cNvSpPr/>
          <p:nvPr/>
        </p:nvSpPr>
        <p:spPr>
          <a:xfrm>
            <a:off x="5577840" y="2011680"/>
            <a:ext cx="548640" cy="658368"/>
          </a:xfrm>
          <a:prstGeom prst="flowChartDocument">
            <a:avLst/>
          </a:prstGeom>
          <a:solidFill>
            <a:srgbClr val="FFFFFF"/>
          </a:solidFill>
          <a:ln w="12700">
            <a:solidFill>
              <a:srgbClr val="6B6B6B"/>
            </a:solidFill>
            <a:prstDash val="solid"/>
          </a:ln>
        </p:spPr>
      </p:sp>
      <p:sp>
        <p:nvSpPr>
          <p:cNvPr id="13" name="Text 11"/>
          <p:cNvSpPr txBox="1"/>
          <p:nvPr/>
        </p:nvSpPr>
        <p:spPr>
          <a:xfrm>
            <a:off x="5577840" y="2011680"/>
            <a:ext cx="548640" cy="566928"/>
          </a:xfrm>
          <a:prstGeom prst="rect">
            <a:avLst/>
          </a:prstGeom>
          <a:noFill/>
          <a:ln/>
        </p:spPr>
        <p:txBody>
          <a:bodyPr wrap="square" lIns="0" tIns="0" rIns="0" bIns="0" rtlCol="0" anchor="ctr"/>
          <a:lstStyle/>
          <a:p>
            <a:pPr algn="ctr" indent="0" marL="0">
              <a:buNone/>
            </a:pPr>
            <a:r>
              <a:rPr lang="en-US" sz="2000" b="1" dirty="0">
                <a:solidFill>
                  <a:srgbClr val="E60000"/>
                </a:solidFill>
                <a:latin typeface="Frutiger 45 Light" pitchFamily="34" charset="0"/>
                <a:ea typeface="Frutiger 45 Light" pitchFamily="34" charset="-122"/>
                <a:cs typeface="Frutiger 45 Light" pitchFamily="34" charset="-120"/>
              </a:rPr>
              <a:t>?</a:t>
            </a:r>
            <a:endParaRPr lang="en-US" sz="2000" dirty="0"/>
          </a:p>
        </p:txBody>
      </p:sp>
      <p:sp>
        <p:nvSpPr>
          <p:cNvPr id="14" name="Text 12"/>
          <p:cNvSpPr txBox="1"/>
          <p:nvPr/>
        </p:nvSpPr>
        <p:spPr>
          <a:xfrm>
            <a:off x="6309360" y="2011680"/>
            <a:ext cx="5150815" cy="731520"/>
          </a:xfrm>
          <a:prstGeom prst="rect">
            <a:avLst/>
          </a:prstGeom>
          <a:noFill/>
          <a:ln/>
        </p:spPr>
        <p:txBody>
          <a:bodyPr wrap="square" lIns="0" tIns="0" rIns="0" bIns="0" rtlCol="0" anchor="t"/>
          <a:lstStyle/>
          <a:p>
            <a:pPr indent="0" marL="0">
              <a:buNone/>
            </a:pPr>
            <a:r>
              <a:rPr lang="en-US" sz="1200" dirty="0">
                <a:solidFill>
                  <a:srgbClr val="3A3A3A"/>
                </a:solidFill>
                <a:latin typeface="Frutiger 45 Light" pitchFamily="34" charset="0"/>
                <a:ea typeface="Frutiger 45 Light" pitchFamily="34" charset="-122"/>
                <a:cs typeface="Frutiger 45 Light" pitchFamily="34" charset="-120"/>
              </a:rPr>
              <a:t>An early proof of concept in Personal &amp; Corporate Banking: upload a document, ask a question, get an answer with its source.</a:t>
            </a:r>
            <a:endParaRPr lang="en-US" sz="1200" dirty="0"/>
          </a:p>
        </p:txBody>
      </p:sp>
      <p:sp>
        <p:nvSpPr>
          <p:cNvPr id="15" name="Shape 13"/>
          <p:cNvSpPr/>
          <p:nvPr/>
        </p:nvSpPr>
        <p:spPr>
          <a:xfrm>
            <a:off x="5303520" y="3063240"/>
            <a:ext cx="6430975" cy="3017520"/>
          </a:xfrm>
          <a:prstGeom prst="rect">
            <a:avLst/>
          </a:prstGeom>
          <a:solidFill>
            <a:srgbClr val="ECEBE4"/>
          </a:solidFill>
          <a:ln w="12700">
            <a:solidFill>
              <a:srgbClr val="ECEBE4"/>
            </a:solidFill>
            <a:prstDash val="solid"/>
          </a:ln>
        </p:spPr>
      </p:sp>
      <p:sp>
        <p:nvSpPr>
          <p:cNvPr id="16" name="Text 14"/>
          <p:cNvSpPr txBox="1"/>
          <p:nvPr/>
        </p:nvSpPr>
        <p:spPr>
          <a:xfrm>
            <a:off x="5577840" y="3246120"/>
            <a:ext cx="2743200" cy="274320"/>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What we saw</a:t>
            </a:r>
            <a:endParaRPr lang="en-US" sz="1200" dirty="0"/>
          </a:p>
        </p:txBody>
      </p:sp>
      <p:sp>
        <p:nvSpPr>
          <p:cNvPr id="17" name="Text 15"/>
          <p:cNvSpPr txBox="1"/>
          <p:nvPr/>
        </p:nvSpPr>
        <p:spPr>
          <a:xfrm>
            <a:off x="5577840" y="3538728"/>
            <a:ext cx="5882335" cy="548640"/>
          </a:xfrm>
          <a:prstGeom prst="rect">
            <a:avLst/>
          </a:prstGeom>
          <a:noFill/>
          <a:ln/>
        </p:spPr>
        <p:txBody>
          <a:bodyPr wrap="square" lIns="0" tIns="0" rIns="0" bIns="0" rtlCol="0" anchor="t"/>
          <a:lstStyle/>
          <a:p>
            <a:pPr indent="0" marL="0">
              <a:buNone/>
            </a:pPr>
            <a:r>
              <a:rPr lang="en-US" sz="1200" dirty="0">
                <a:solidFill>
                  <a:srgbClr val="3A3A3A"/>
                </a:solidFill>
                <a:latin typeface="Frutiger 45 Light" pitchFamily="34" charset="0"/>
                <a:ea typeface="Frutiger 45 Light" pitchFamily="34" charset="-122"/>
                <a:cs typeface="Frutiger 45 Light" pitchFamily="34" charset="-120"/>
              </a:rPr>
              <a:t>The hard part is the same for every Risk team. Build it once. Let every team bring its own questions, standards, and outputs.</a:t>
            </a:r>
            <a:endParaRPr lang="en-US" sz="1200" dirty="0"/>
          </a:p>
        </p:txBody>
      </p:sp>
      <p:sp>
        <p:nvSpPr>
          <p:cNvPr id="18" name="Shape 16"/>
          <p:cNvSpPr/>
          <p:nvPr/>
        </p:nvSpPr>
        <p:spPr>
          <a:xfrm>
            <a:off x="5577840" y="4206240"/>
            <a:ext cx="1024128" cy="502920"/>
          </a:xfrm>
          <a:prstGeom prst="rect">
            <a:avLst/>
          </a:prstGeom>
          <a:solidFill>
            <a:srgbClr val="FFFFFF"/>
          </a:solidFill>
          <a:ln w="12700">
            <a:solidFill>
              <a:srgbClr val="B8B3A2"/>
            </a:solidFill>
            <a:prstDash val="solid"/>
          </a:ln>
        </p:spPr>
      </p:sp>
      <p:sp>
        <p:nvSpPr>
          <p:cNvPr id="19" name="Text 17"/>
          <p:cNvSpPr txBox="1"/>
          <p:nvPr/>
        </p:nvSpPr>
        <p:spPr>
          <a:xfrm>
            <a:off x="5577840"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Credit Risk Review</a:t>
            </a:r>
            <a:endParaRPr lang="en-US" sz="1000" dirty="0"/>
          </a:p>
        </p:txBody>
      </p:sp>
      <p:sp>
        <p:nvSpPr>
          <p:cNvPr id="20" name="Shape 18"/>
          <p:cNvSpPr/>
          <p:nvPr/>
        </p:nvSpPr>
        <p:spPr>
          <a:xfrm>
            <a:off x="6693408" y="4206240"/>
            <a:ext cx="1024128" cy="502920"/>
          </a:xfrm>
          <a:prstGeom prst="rect">
            <a:avLst/>
          </a:prstGeom>
          <a:solidFill>
            <a:srgbClr val="FFFFFF"/>
          </a:solidFill>
          <a:ln w="12700">
            <a:solidFill>
              <a:srgbClr val="B8B3A2"/>
            </a:solidFill>
            <a:prstDash val="solid"/>
          </a:ln>
        </p:spPr>
      </p:sp>
      <p:sp>
        <p:nvSpPr>
          <p:cNvPr id="21" name="Text 19"/>
          <p:cNvSpPr txBox="1"/>
          <p:nvPr/>
        </p:nvSpPr>
        <p:spPr>
          <a:xfrm>
            <a:off x="6693408"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Commercial Lending</a:t>
            </a:r>
            <a:endParaRPr lang="en-US" sz="1000" dirty="0"/>
          </a:p>
        </p:txBody>
      </p:sp>
      <p:sp>
        <p:nvSpPr>
          <p:cNvPr id="22" name="Shape 20"/>
          <p:cNvSpPr/>
          <p:nvPr/>
        </p:nvSpPr>
        <p:spPr>
          <a:xfrm>
            <a:off x="7808976" y="4206240"/>
            <a:ext cx="1024128" cy="502920"/>
          </a:xfrm>
          <a:prstGeom prst="rect">
            <a:avLst/>
          </a:prstGeom>
          <a:solidFill>
            <a:srgbClr val="FFFFFF"/>
          </a:solidFill>
          <a:ln w="12700">
            <a:solidFill>
              <a:srgbClr val="B8B3A2"/>
            </a:solidFill>
            <a:prstDash val="solid"/>
          </a:ln>
        </p:spPr>
      </p:sp>
      <p:sp>
        <p:nvSpPr>
          <p:cNvPr id="23" name="Text 21"/>
          <p:cNvSpPr txBox="1"/>
          <p:nvPr/>
        </p:nvSpPr>
        <p:spPr>
          <a:xfrm>
            <a:off x="7808976"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Personal &amp; Corporate Banking</a:t>
            </a:r>
            <a:endParaRPr lang="en-US" sz="1000" dirty="0"/>
          </a:p>
        </p:txBody>
      </p:sp>
      <p:sp>
        <p:nvSpPr>
          <p:cNvPr id="24" name="Shape 22"/>
          <p:cNvSpPr/>
          <p:nvPr/>
        </p:nvSpPr>
        <p:spPr>
          <a:xfrm>
            <a:off x="8924544" y="4206240"/>
            <a:ext cx="1024128" cy="502920"/>
          </a:xfrm>
          <a:prstGeom prst="rect">
            <a:avLst/>
          </a:prstGeom>
          <a:solidFill>
            <a:srgbClr val="FFFFFF"/>
          </a:solidFill>
          <a:ln w="12700">
            <a:solidFill>
              <a:srgbClr val="6B6B6B"/>
            </a:solidFill>
            <a:prstDash val="dash"/>
          </a:ln>
        </p:spPr>
      </p:sp>
      <p:sp>
        <p:nvSpPr>
          <p:cNvPr id="25" name="Text 23"/>
          <p:cNvSpPr txBox="1"/>
          <p:nvPr/>
        </p:nvSpPr>
        <p:spPr>
          <a:xfrm>
            <a:off x="8924544"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Future teams</a:t>
            </a:r>
            <a:endParaRPr lang="en-US" sz="1000" dirty="0"/>
          </a:p>
        </p:txBody>
      </p:sp>
      <p:sp>
        <p:nvSpPr>
          <p:cNvPr id="26" name="Shape 24"/>
          <p:cNvSpPr/>
          <p:nvPr/>
        </p:nvSpPr>
        <p:spPr>
          <a:xfrm>
            <a:off x="5577840" y="4800600"/>
            <a:ext cx="4370832" cy="566928"/>
          </a:xfrm>
          <a:prstGeom prst="rect">
            <a:avLst/>
          </a:prstGeom>
          <a:solidFill>
            <a:srgbClr val="B8B3A2"/>
          </a:solidFill>
          <a:ln w="12700">
            <a:solidFill>
              <a:srgbClr val="B8B3A2"/>
            </a:solidFill>
            <a:prstDash val="solid"/>
          </a:ln>
        </p:spPr>
      </p:sp>
      <p:sp>
        <p:nvSpPr>
          <p:cNvPr id="27" name="Text 25"/>
          <p:cNvSpPr txBox="1"/>
          <p:nvPr/>
        </p:nvSpPr>
        <p:spPr>
          <a:xfrm>
            <a:off x="5669280" y="4800600"/>
            <a:ext cx="4187952" cy="566928"/>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Shared foundation: takes in documents, reads them, finds what matters, cites sources, controls access</a:t>
            </a:r>
            <a:endParaRPr lang="en-US" sz="1000" dirty="0"/>
          </a:p>
        </p:txBody>
      </p:sp>
      <p:sp>
        <p:nvSpPr>
          <p:cNvPr id="28" name="Shape 26"/>
          <p:cNvSpPr/>
          <p:nvPr/>
        </p:nvSpPr>
        <p:spPr>
          <a:xfrm>
            <a:off x="10040112" y="4910328"/>
            <a:ext cx="365760" cy="347472"/>
          </a:xfrm>
          <a:prstGeom prst="rightArrow">
            <a:avLst/>
          </a:prstGeom>
          <a:solidFill>
            <a:srgbClr val="6B6B6B"/>
          </a:solidFill>
          <a:ln w="12700">
            <a:solidFill>
              <a:srgbClr val="6B6B6B"/>
            </a:solidFill>
            <a:prstDash val="solid"/>
          </a:ln>
        </p:spPr>
      </p:sp>
      <p:sp>
        <p:nvSpPr>
          <p:cNvPr id="29" name="Text 27"/>
          <p:cNvSpPr txBox="1"/>
          <p:nvPr/>
        </p:nvSpPr>
        <p:spPr>
          <a:xfrm>
            <a:off x="9948672" y="4663440"/>
            <a:ext cx="548640" cy="201168"/>
          </a:xfrm>
          <a:prstGeom prst="rect">
            <a:avLst/>
          </a:prstGeom>
          <a:noFill/>
          <a:ln/>
        </p:spPr>
        <p:txBody>
          <a:bodyPr wrap="square" lIns="0" tIns="0" rIns="0" bIns="0" rtlCol="0" anchor="t"/>
          <a:lstStyle/>
          <a:p>
            <a:pPr algn="ctr" indent="0" marL="0">
              <a:buNone/>
            </a:pPr>
            <a:r>
              <a:rPr lang="en-US" sz="1000" dirty="0">
                <a:solidFill>
                  <a:srgbClr val="6B6B6B"/>
                </a:solidFill>
                <a:latin typeface="Frutiger 45 Light" pitchFamily="34" charset="0"/>
                <a:ea typeface="Frutiger 45 Light" pitchFamily="34" charset="-122"/>
                <a:cs typeface="Frutiger 45 Light" pitchFamily="34" charset="-120"/>
              </a:rPr>
              <a:t>draft</a:t>
            </a:r>
            <a:endParaRPr lang="en-US" sz="1000" dirty="0"/>
          </a:p>
        </p:txBody>
      </p:sp>
      <p:sp>
        <p:nvSpPr>
          <p:cNvPr id="30" name="Shape 28"/>
          <p:cNvSpPr/>
          <p:nvPr/>
        </p:nvSpPr>
        <p:spPr>
          <a:xfrm>
            <a:off x="10497312" y="4251960"/>
            <a:ext cx="962863" cy="1207008"/>
          </a:xfrm>
          <a:prstGeom prst="roundRect">
            <a:avLst>
              <a:gd name="adj" fmla="val 7597"/>
            </a:avLst>
          </a:prstGeom>
          <a:solidFill>
            <a:srgbClr val="FFFFFF"/>
          </a:solidFill>
          <a:ln w="19050">
            <a:solidFill>
              <a:srgbClr val="E60000"/>
            </a:solidFill>
            <a:prstDash val="solid"/>
          </a:ln>
        </p:spPr>
      </p:sp>
      <p:sp>
        <p:nvSpPr>
          <p:cNvPr id="31" name="Text 29"/>
          <p:cNvSpPr txBox="1"/>
          <p:nvPr/>
        </p:nvSpPr>
        <p:spPr>
          <a:xfrm>
            <a:off x="10497312" y="4251960"/>
            <a:ext cx="962863" cy="1207008"/>
          </a:xfrm>
          <a:prstGeom prst="rect">
            <a:avLst/>
          </a:prstGeom>
          <a:noFill/>
          <a:ln/>
        </p:spPr>
        <p:txBody>
          <a:bodyPr wrap="square" lIns="38100" tIns="38100" rIns="38100" bIns="38100" rtlCol="0" anchor="ctr"/>
          <a:lstStyle/>
          <a:p>
            <a:pPr algn="ctr" indent="0" marL="0">
              <a:buNone/>
            </a:pPr>
            <a:r>
              <a:rPr lang="en-US" sz="1000" b="1" dirty="0">
                <a:solidFill>
                  <a:srgbClr val="1E1E1E"/>
                </a:solidFill>
                <a:latin typeface="Frutiger 45 Light" pitchFamily="34" charset="0"/>
                <a:ea typeface="Frutiger 45 Light" pitchFamily="34" charset="-122"/>
                <a:cs typeface="Frutiger 45 Light" pitchFamily="34" charset="-120"/>
              </a:rPr>
              <a:t>Reviewer</a:t>
            </a:r>
            <a:endParaRPr lang="en-US" sz="1000" dirty="0"/>
          </a:p>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checks, challenges, decides</a:t>
            </a:r>
            <a:endParaRPr lang="en-US" sz="1000" dirty="0"/>
          </a:p>
        </p:txBody>
      </p:sp>
      <p:sp>
        <p:nvSpPr>
          <p:cNvPr id="32" name="Text 30"/>
          <p:cNvSpPr txBox="1"/>
          <p:nvPr/>
        </p:nvSpPr>
        <p:spPr>
          <a:xfrm>
            <a:off x="5577840" y="5696712"/>
            <a:ext cx="5882335" cy="274320"/>
          </a:xfrm>
          <a:prstGeom prst="rect">
            <a:avLst/>
          </a:prstGeom>
          <a:noFill/>
          <a:ln/>
        </p:spPr>
        <p:txBody>
          <a:bodyPr wrap="square" lIns="0" tIns="0" rIns="0" bIns="0" rtlCol="0" anchor="t"/>
          <a:lstStyle/>
          <a:p>
            <a:pPr indent="0" marL="0">
              <a:buNone/>
            </a:pPr>
            <a:r>
              <a:rPr lang="en-US" sz="1100" i="1" dirty="0">
                <a:solidFill>
                  <a:srgbClr val="6B6B6B"/>
                </a:solidFill>
                <a:latin typeface="Frutiger 45 Light" pitchFamily="34" charset="0"/>
                <a:ea typeface="Frutiger 45 Light" pitchFamily="34" charset="-122"/>
                <a:cs typeface="Frutiger 45 Light" pitchFamily="34" charset="-120"/>
              </a:rPr>
              <a:t>Judgment stays with people.</a:t>
            </a:r>
            <a:endParaRPr lang="en-US" sz="1100" dirty="0"/>
          </a:p>
        </p:txBody>
      </p:sp>
      <p:sp>
        <p:nvSpPr>
          <p:cNvPr id="34" name="Text 31"/>
          <p:cNvSpPr txBox="1"/>
          <p:nvPr/>
        </p:nvSpPr>
        <p:spPr>
          <a:xfrm>
            <a:off x="10271455" y="6473952"/>
            <a:ext cx="10515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35" name="Text 32"/>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One shared foundation.</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Each team brings its own rules.</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Built once with IT, inherited by every team that follows. Design ratified September 2026.</a:t>
            </a:r>
            <a:endParaRPr lang="en-US" sz="1400" dirty="0"/>
          </a:p>
        </p:txBody>
      </p:sp>
      <p:sp>
        <p:nvSpPr>
          <p:cNvPr id="4" name="Shape 2"/>
          <p:cNvSpPr/>
          <p:nvPr/>
        </p:nvSpPr>
        <p:spPr>
          <a:xfrm>
            <a:off x="457200" y="1481328"/>
            <a:ext cx="274320" cy="274320"/>
          </a:xfrm>
          <a:prstGeom prst="ellipse">
            <a:avLst/>
          </a:prstGeom>
          <a:solidFill>
            <a:srgbClr val="E60000"/>
          </a:solidFill>
          <a:ln w="12700">
            <a:solidFill>
              <a:srgbClr val="E60000"/>
            </a:solidFill>
            <a:prstDash val="solid"/>
          </a:ln>
        </p:spPr>
      </p:sp>
      <p:sp>
        <p:nvSpPr>
          <p:cNvPr id="5" name="Text 3"/>
          <p:cNvSpPr txBox="1"/>
          <p:nvPr/>
        </p:nvSpPr>
        <p:spPr>
          <a:xfrm>
            <a:off x="457200" y="14813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3</a:t>
            </a:r>
            <a:endParaRPr lang="en-US" sz="1200" dirty="0"/>
          </a:p>
        </p:txBody>
      </p:sp>
      <p:sp>
        <p:nvSpPr>
          <p:cNvPr id="6" name="Text 4"/>
          <p:cNvSpPr txBox="1"/>
          <p:nvPr/>
        </p:nvSpPr>
        <p:spPr>
          <a:xfrm>
            <a:off x="822960" y="1499616"/>
            <a:ext cx="5486400" cy="274320"/>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Each team owns its own application</a:t>
            </a:r>
            <a:endParaRPr lang="en-US" sz="1200" dirty="0"/>
          </a:p>
        </p:txBody>
      </p:sp>
      <p:sp>
        <p:nvSpPr>
          <p:cNvPr id="7" name="Shape 5"/>
          <p:cNvSpPr/>
          <p:nvPr/>
        </p:nvSpPr>
        <p:spPr>
          <a:xfrm>
            <a:off x="457200" y="1792224"/>
            <a:ext cx="2697480" cy="1828800"/>
          </a:xfrm>
          <a:prstGeom prst="rect">
            <a:avLst/>
          </a:prstGeom>
          <a:solidFill>
            <a:srgbClr val="ECEBE4"/>
          </a:solidFill>
          <a:ln w="19050">
            <a:solidFill>
              <a:srgbClr val="E60000"/>
            </a:solidFill>
            <a:prstDash val="solid"/>
          </a:ln>
        </p:spPr>
      </p:sp>
      <p:sp>
        <p:nvSpPr>
          <p:cNvPr id="8" name="Text 6"/>
          <p:cNvSpPr txBox="1"/>
          <p:nvPr/>
        </p:nvSpPr>
        <p:spPr>
          <a:xfrm>
            <a:off x="621792" y="1883664"/>
            <a:ext cx="2368296" cy="512064"/>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Credit Risk Review</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first application, in design</a:t>
            </a:r>
            <a:endParaRPr lang="en-US" sz="1200" dirty="0"/>
          </a:p>
        </p:txBody>
      </p:sp>
      <p:sp>
        <p:nvSpPr>
          <p:cNvPr id="9" name="Text 7"/>
          <p:cNvSpPr txBox="1"/>
          <p:nvPr/>
        </p:nvSpPr>
        <p:spPr>
          <a:xfrm>
            <a:off x="621792" y="2377440"/>
            <a:ext cx="2368296" cy="402336"/>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"What evidence supports the review?"</a:t>
            </a:r>
            <a:endParaRPr lang="en-US" sz="1100" dirty="0"/>
          </a:p>
        </p:txBody>
      </p:sp>
      <p:sp>
        <p:nvSpPr>
          <p:cNvPr id="10" name="Text 8"/>
          <p:cNvSpPr txBox="1"/>
          <p:nvPr/>
        </p:nvSpPr>
        <p:spPr>
          <a:xfrm>
            <a:off x="621792" y="2834640"/>
            <a:ext cx="2368296"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Deep review of borrower relationships</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Workpapers with every statement cited</a:t>
            </a:r>
            <a:endParaRPr lang="en-US" sz="1100" dirty="0"/>
          </a:p>
        </p:txBody>
      </p:sp>
      <p:sp>
        <p:nvSpPr>
          <p:cNvPr id="11" name="Shape 9"/>
          <p:cNvSpPr/>
          <p:nvPr/>
        </p:nvSpPr>
        <p:spPr>
          <a:xfrm>
            <a:off x="1696212" y="3675888"/>
            <a:ext cx="219456" cy="237744"/>
          </a:xfrm>
          <a:prstGeom prst="upArrow">
            <a:avLst/>
          </a:prstGeom>
          <a:solidFill>
            <a:srgbClr val="6B6B6B"/>
          </a:solidFill>
          <a:ln w="12700">
            <a:solidFill>
              <a:srgbClr val="6B6B6B"/>
            </a:solidFill>
            <a:prstDash val="solid"/>
          </a:ln>
        </p:spPr>
      </p:sp>
      <p:sp>
        <p:nvSpPr>
          <p:cNvPr id="12" name="Shape 10"/>
          <p:cNvSpPr/>
          <p:nvPr/>
        </p:nvSpPr>
        <p:spPr>
          <a:xfrm>
            <a:off x="3317138" y="1792224"/>
            <a:ext cx="2697480" cy="1828800"/>
          </a:xfrm>
          <a:prstGeom prst="rect">
            <a:avLst/>
          </a:prstGeom>
          <a:solidFill>
            <a:srgbClr val="ECEBE4"/>
          </a:solidFill>
          <a:ln w="12700">
            <a:solidFill>
              <a:srgbClr val="ECEBE4"/>
            </a:solidFill>
            <a:prstDash val="solid"/>
          </a:ln>
        </p:spPr>
      </p:sp>
      <p:sp>
        <p:nvSpPr>
          <p:cNvPr id="13" name="Text 11"/>
          <p:cNvSpPr txBox="1"/>
          <p:nvPr/>
        </p:nvSpPr>
        <p:spPr>
          <a:xfrm>
            <a:off x="3481730" y="1883664"/>
            <a:ext cx="2368296" cy="512064"/>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IB Commercial Lending</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planned</a:t>
            </a:r>
            <a:endParaRPr lang="en-US" sz="1200" dirty="0"/>
          </a:p>
        </p:txBody>
      </p:sp>
      <p:sp>
        <p:nvSpPr>
          <p:cNvPr id="14" name="Text 12"/>
          <p:cNvSpPr txBox="1"/>
          <p:nvPr/>
        </p:nvSpPr>
        <p:spPr>
          <a:xfrm>
            <a:off x="3481730" y="2377440"/>
            <a:ext cx="2368296" cy="402336"/>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"Which clients are exposed to this event?"</a:t>
            </a:r>
            <a:endParaRPr lang="en-US" sz="1100" dirty="0"/>
          </a:p>
        </p:txBody>
      </p:sp>
      <p:sp>
        <p:nvSpPr>
          <p:cNvPr id="15" name="Text 13"/>
          <p:cNvSpPr txBox="1"/>
          <p:nvPr/>
        </p:nvSpPr>
        <p:spPr>
          <a:xfrm>
            <a:off x="3481730" y="2834640"/>
            <a:ext cx="2368296"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Scan documents across the whole portfolio</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Aggregate what it finds to portfolio level</a:t>
            </a:r>
            <a:endParaRPr lang="en-US" sz="1100" dirty="0"/>
          </a:p>
        </p:txBody>
      </p:sp>
      <p:sp>
        <p:nvSpPr>
          <p:cNvPr id="16" name="Shape 14"/>
          <p:cNvSpPr/>
          <p:nvPr/>
        </p:nvSpPr>
        <p:spPr>
          <a:xfrm>
            <a:off x="4556150" y="3675888"/>
            <a:ext cx="219456" cy="237744"/>
          </a:xfrm>
          <a:prstGeom prst="upArrow">
            <a:avLst/>
          </a:prstGeom>
          <a:solidFill>
            <a:srgbClr val="6B6B6B"/>
          </a:solidFill>
          <a:ln w="12700">
            <a:solidFill>
              <a:srgbClr val="6B6B6B"/>
            </a:solidFill>
            <a:prstDash val="solid"/>
          </a:ln>
        </p:spPr>
      </p:sp>
      <p:sp>
        <p:nvSpPr>
          <p:cNvPr id="17" name="Shape 15"/>
          <p:cNvSpPr/>
          <p:nvPr/>
        </p:nvSpPr>
        <p:spPr>
          <a:xfrm>
            <a:off x="6177077" y="1792224"/>
            <a:ext cx="2697480" cy="1828800"/>
          </a:xfrm>
          <a:prstGeom prst="rect">
            <a:avLst/>
          </a:prstGeom>
          <a:solidFill>
            <a:srgbClr val="ECEBE4"/>
          </a:solidFill>
          <a:ln w="12700">
            <a:solidFill>
              <a:srgbClr val="ECEBE4"/>
            </a:solidFill>
            <a:prstDash val="solid"/>
          </a:ln>
        </p:spPr>
      </p:sp>
      <p:sp>
        <p:nvSpPr>
          <p:cNvPr id="18" name="Text 16"/>
          <p:cNvSpPr txBox="1"/>
          <p:nvPr/>
        </p:nvSpPr>
        <p:spPr>
          <a:xfrm>
            <a:off x="6341669" y="1883664"/>
            <a:ext cx="2368296" cy="512064"/>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Personal &amp; Corporate Banking</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planned</a:t>
            </a:r>
            <a:endParaRPr lang="en-US" sz="1200" dirty="0"/>
          </a:p>
        </p:txBody>
      </p:sp>
      <p:sp>
        <p:nvSpPr>
          <p:cNvPr id="19" name="Text 17"/>
          <p:cNvSpPr txBox="1"/>
          <p:nvPr/>
        </p:nvSpPr>
        <p:spPr>
          <a:xfrm>
            <a:off x="6341669" y="2377440"/>
            <a:ext cx="2368296" cy="402336"/>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"What data is in these documents?"</a:t>
            </a:r>
            <a:endParaRPr lang="en-US" sz="1100" dirty="0"/>
          </a:p>
        </p:txBody>
      </p:sp>
      <p:sp>
        <p:nvSpPr>
          <p:cNvPr id="20" name="Text 18"/>
          <p:cNvSpPr txBox="1"/>
          <p:nvPr/>
        </p:nvSpPr>
        <p:spPr>
          <a:xfrm>
            <a:off x="6341669" y="2834640"/>
            <a:ext cx="2368296"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Extract fields at scale for downstream analysis</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Built so other platforms can use it too</a:t>
            </a:r>
            <a:endParaRPr lang="en-US" sz="1100" dirty="0"/>
          </a:p>
        </p:txBody>
      </p:sp>
      <p:sp>
        <p:nvSpPr>
          <p:cNvPr id="21" name="Shape 19"/>
          <p:cNvSpPr/>
          <p:nvPr/>
        </p:nvSpPr>
        <p:spPr>
          <a:xfrm>
            <a:off x="7416089" y="3675888"/>
            <a:ext cx="219456" cy="237744"/>
          </a:xfrm>
          <a:prstGeom prst="upArrow">
            <a:avLst/>
          </a:prstGeom>
          <a:solidFill>
            <a:srgbClr val="6B6B6B"/>
          </a:solidFill>
          <a:ln w="12700">
            <a:solidFill>
              <a:srgbClr val="6B6B6B"/>
            </a:solidFill>
            <a:prstDash val="solid"/>
          </a:ln>
        </p:spPr>
      </p:sp>
      <p:sp>
        <p:nvSpPr>
          <p:cNvPr id="22" name="Shape 20"/>
          <p:cNvSpPr/>
          <p:nvPr/>
        </p:nvSpPr>
        <p:spPr>
          <a:xfrm>
            <a:off x="9037015" y="1792224"/>
            <a:ext cx="2697480" cy="1828800"/>
          </a:xfrm>
          <a:prstGeom prst="rect">
            <a:avLst/>
          </a:prstGeom>
          <a:solidFill>
            <a:srgbClr val="FFFFFF"/>
          </a:solidFill>
          <a:ln w="12700">
            <a:solidFill>
              <a:srgbClr val="6B6B6B"/>
            </a:solidFill>
            <a:prstDash val="dash"/>
          </a:ln>
        </p:spPr>
      </p:sp>
      <p:sp>
        <p:nvSpPr>
          <p:cNvPr id="23" name="Text 21"/>
          <p:cNvSpPr txBox="1"/>
          <p:nvPr/>
        </p:nvSpPr>
        <p:spPr>
          <a:xfrm>
            <a:off x="9201607" y="1883664"/>
            <a:ext cx="2368296" cy="512064"/>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Future applications</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target operating model</a:t>
            </a:r>
            <a:endParaRPr lang="en-US" sz="1200" dirty="0"/>
          </a:p>
        </p:txBody>
      </p:sp>
      <p:sp>
        <p:nvSpPr>
          <p:cNvPr id="24" name="Text 22"/>
          <p:cNvSpPr txBox="1"/>
          <p:nvPr/>
        </p:nvSpPr>
        <p:spPr>
          <a:xfrm>
            <a:off x="9201607" y="2377440"/>
            <a:ext cx="2368296" cy="402336"/>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"Configured, not built."</a:t>
            </a:r>
            <a:endParaRPr lang="en-US" sz="1100" dirty="0"/>
          </a:p>
        </p:txBody>
      </p:sp>
      <p:sp>
        <p:nvSpPr>
          <p:cNvPr id="25" name="Text 23"/>
          <p:cNvSpPr txBox="1"/>
          <p:nvPr/>
        </p:nvSpPr>
        <p:spPr>
          <a:xfrm>
            <a:off x="9201607" y="2834640"/>
            <a:ext cx="2368296"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Business-led configuration, no code or low code</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Platform controls inherited by construction</a:t>
            </a:r>
            <a:endParaRPr lang="en-US" sz="1100" dirty="0"/>
          </a:p>
        </p:txBody>
      </p:sp>
      <p:sp>
        <p:nvSpPr>
          <p:cNvPr id="26" name="Shape 24"/>
          <p:cNvSpPr/>
          <p:nvPr/>
        </p:nvSpPr>
        <p:spPr>
          <a:xfrm>
            <a:off x="10276027" y="3675888"/>
            <a:ext cx="219456" cy="237744"/>
          </a:xfrm>
          <a:prstGeom prst="upArrow">
            <a:avLst/>
          </a:prstGeom>
          <a:solidFill>
            <a:srgbClr val="6B6B6B"/>
          </a:solidFill>
          <a:ln w="12700">
            <a:solidFill>
              <a:srgbClr val="6B6B6B"/>
            </a:solidFill>
            <a:prstDash val="solid"/>
          </a:ln>
        </p:spPr>
      </p:sp>
      <p:sp>
        <p:nvSpPr>
          <p:cNvPr id="27" name="Shape 25"/>
          <p:cNvSpPr/>
          <p:nvPr/>
        </p:nvSpPr>
        <p:spPr>
          <a:xfrm>
            <a:off x="457200" y="3895344"/>
            <a:ext cx="11277295" cy="1481328"/>
          </a:xfrm>
          <a:prstGeom prst="rect">
            <a:avLst/>
          </a:prstGeom>
          <a:solidFill>
            <a:srgbClr val="B8B3A2"/>
          </a:solidFill>
          <a:ln w="12700">
            <a:solidFill>
              <a:srgbClr val="B8B3A2"/>
            </a:solidFill>
            <a:prstDash val="solid"/>
          </a:ln>
        </p:spPr>
      </p:sp>
      <p:sp>
        <p:nvSpPr>
          <p:cNvPr id="28" name="Shape 26"/>
          <p:cNvSpPr/>
          <p:nvPr/>
        </p:nvSpPr>
        <p:spPr>
          <a:xfrm>
            <a:off x="640080" y="4023360"/>
            <a:ext cx="274320" cy="274320"/>
          </a:xfrm>
          <a:prstGeom prst="ellipse">
            <a:avLst/>
          </a:prstGeom>
          <a:solidFill>
            <a:srgbClr val="E60000"/>
          </a:solidFill>
          <a:ln w="12700">
            <a:solidFill>
              <a:srgbClr val="E60000"/>
            </a:solidFill>
            <a:prstDash val="solid"/>
          </a:ln>
        </p:spPr>
      </p:sp>
      <p:sp>
        <p:nvSpPr>
          <p:cNvPr id="29" name="Text 27"/>
          <p:cNvSpPr txBox="1"/>
          <p:nvPr/>
        </p:nvSpPr>
        <p:spPr>
          <a:xfrm>
            <a:off x="640080" y="4023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2</a:t>
            </a:r>
            <a:endParaRPr lang="en-US" sz="1200" dirty="0"/>
          </a:p>
        </p:txBody>
      </p:sp>
      <p:sp>
        <p:nvSpPr>
          <p:cNvPr id="30" name="Text 28"/>
          <p:cNvSpPr txBox="1"/>
          <p:nvPr/>
        </p:nvSpPr>
        <p:spPr>
          <a:xfrm>
            <a:off x="1005840" y="4041648"/>
            <a:ext cx="5486400" cy="274320"/>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The shared foundation does the heavy lifting</a:t>
            </a:r>
            <a:endParaRPr lang="en-US" sz="1200" dirty="0"/>
          </a:p>
        </p:txBody>
      </p:sp>
      <p:sp>
        <p:nvSpPr>
          <p:cNvPr id="31" name="Text 29"/>
          <p:cNvSpPr txBox="1"/>
          <p:nvPr/>
        </p:nvSpPr>
        <p:spPr>
          <a:xfrm>
            <a:off x="7619695" y="4041648"/>
            <a:ext cx="3931920" cy="274320"/>
          </a:xfrm>
          <a:prstGeom prst="rect">
            <a:avLst/>
          </a:prstGeom>
          <a:noFill/>
          <a:ln/>
        </p:spPr>
        <p:txBody>
          <a:bodyPr wrap="square" lIns="0" tIns="0" rIns="0" bIns="0" rtlCol="0" anchor="t"/>
          <a:lstStyle/>
          <a:p>
            <a:pPr algn="r" indent="0" marL="0">
              <a:buNone/>
            </a:pPr>
            <a:r>
              <a:rPr lang="en-US" sz="1100" i="1" dirty="0">
                <a:solidFill>
                  <a:srgbClr val="1E1E1E"/>
                </a:solidFill>
                <a:latin typeface="Frutiger 45 Light" pitchFamily="34" charset="0"/>
                <a:ea typeface="Frutiger 45 Light" pitchFamily="34" charset="-122"/>
                <a:cs typeface="Frutiger 45 Light" pitchFamily="34" charset="-120"/>
              </a:rPr>
              <a:t>Processed once. Inherited by every application.</a:t>
            </a:r>
            <a:endParaRPr lang="en-US" sz="1100" dirty="0"/>
          </a:p>
        </p:txBody>
      </p:sp>
      <p:sp>
        <p:nvSpPr>
          <p:cNvPr id="32" name="Shape 30"/>
          <p:cNvSpPr/>
          <p:nvPr/>
        </p:nvSpPr>
        <p:spPr>
          <a:xfrm>
            <a:off x="640080" y="4352544"/>
            <a:ext cx="2606040" cy="438912"/>
          </a:xfrm>
          <a:prstGeom prst="rect">
            <a:avLst/>
          </a:prstGeom>
          <a:solidFill>
            <a:srgbClr val="FFFFFF"/>
          </a:solidFill>
          <a:ln w="12700">
            <a:solidFill>
              <a:srgbClr val="FFFFFF"/>
            </a:solidFill>
            <a:prstDash val="solid"/>
          </a:ln>
        </p:spPr>
      </p:sp>
      <p:sp>
        <p:nvSpPr>
          <p:cNvPr id="33" name="Text 31"/>
          <p:cNvSpPr txBox="1"/>
          <p:nvPr/>
        </p:nvSpPr>
        <p:spPr>
          <a:xfrm>
            <a:off x="640080" y="4352544"/>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Takes in documents</a:t>
            </a:r>
            <a:endParaRPr lang="en-US" sz="1100" dirty="0"/>
          </a:p>
        </p:txBody>
      </p:sp>
      <p:sp>
        <p:nvSpPr>
          <p:cNvPr id="34" name="Shape 32"/>
          <p:cNvSpPr/>
          <p:nvPr/>
        </p:nvSpPr>
        <p:spPr>
          <a:xfrm>
            <a:off x="3408578" y="4352544"/>
            <a:ext cx="2606040" cy="438912"/>
          </a:xfrm>
          <a:prstGeom prst="rect">
            <a:avLst/>
          </a:prstGeom>
          <a:solidFill>
            <a:srgbClr val="FFFFFF"/>
          </a:solidFill>
          <a:ln w="12700">
            <a:solidFill>
              <a:srgbClr val="FFFFFF"/>
            </a:solidFill>
            <a:prstDash val="solid"/>
          </a:ln>
        </p:spPr>
      </p:sp>
      <p:sp>
        <p:nvSpPr>
          <p:cNvPr id="35" name="Text 33"/>
          <p:cNvSpPr txBox="1"/>
          <p:nvPr/>
        </p:nvSpPr>
        <p:spPr>
          <a:xfrm>
            <a:off x="3408578" y="4352544"/>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Reads text, tables, and images</a:t>
            </a:r>
            <a:endParaRPr lang="en-US" sz="1100" dirty="0"/>
          </a:p>
        </p:txBody>
      </p:sp>
      <p:sp>
        <p:nvSpPr>
          <p:cNvPr id="36" name="Shape 34"/>
          <p:cNvSpPr/>
          <p:nvPr/>
        </p:nvSpPr>
        <p:spPr>
          <a:xfrm>
            <a:off x="6177077" y="4352544"/>
            <a:ext cx="2606040" cy="438912"/>
          </a:xfrm>
          <a:prstGeom prst="rect">
            <a:avLst/>
          </a:prstGeom>
          <a:solidFill>
            <a:srgbClr val="FFFFFF"/>
          </a:solidFill>
          <a:ln w="12700">
            <a:solidFill>
              <a:srgbClr val="FFFFFF"/>
            </a:solidFill>
            <a:prstDash val="solid"/>
          </a:ln>
        </p:spPr>
      </p:sp>
      <p:sp>
        <p:nvSpPr>
          <p:cNvPr id="37" name="Text 35"/>
          <p:cNvSpPr txBox="1"/>
          <p:nvPr/>
        </p:nvSpPr>
        <p:spPr>
          <a:xfrm>
            <a:off x="6177077" y="4352544"/>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Finds what matters</a:t>
            </a:r>
            <a:endParaRPr lang="en-US" sz="1100" dirty="0"/>
          </a:p>
        </p:txBody>
      </p:sp>
      <p:sp>
        <p:nvSpPr>
          <p:cNvPr id="38" name="Shape 36"/>
          <p:cNvSpPr/>
          <p:nvPr/>
        </p:nvSpPr>
        <p:spPr>
          <a:xfrm>
            <a:off x="8945575" y="4352544"/>
            <a:ext cx="2606040" cy="438912"/>
          </a:xfrm>
          <a:prstGeom prst="rect">
            <a:avLst/>
          </a:prstGeom>
          <a:solidFill>
            <a:srgbClr val="FFFFFF"/>
          </a:solidFill>
          <a:ln w="12700">
            <a:solidFill>
              <a:srgbClr val="FFFFFF"/>
            </a:solidFill>
            <a:prstDash val="solid"/>
          </a:ln>
        </p:spPr>
      </p:sp>
      <p:sp>
        <p:nvSpPr>
          <p:cNvPr id="39" name="Text 37"/>
          <p:cNvSpPr txBox="1"/>
          <p:nvPr/>
        </p:nvSpPr>
        <p:spPr>
          <a:xfrm>
            <a:off x="8945575" y="4352544"/>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Cites every source</a:t>
            </a:r>
            <a:endParaRPr lang="en-US" sz="1100" dirty="0"/>
          </a:p>
        </p:txBody>
      </p:sp>
      <p:sp>
        <p:nvSpPr>
          <p:cNvPr id="40" name="Shape 38"/>
          <p:cNvSpPr/>
          <p:nvPr/>
        </p:nvSpPr>
        <p:spPr>
          <a:xfrm>
            <a:off x="640080" y="4873752"/>
            <a:ext cx="2606040" cy="438912"/>
          </a:xfrm>
          <a:prstGeom prst="rect">
            <a:avLst/>
          </a:prstGeom>
          <a:solidFill>
            <a:srgbClr val="FFFFFF"/>
          </a:solidFill>
          <a:ln w="12700">
            <a:solidFill>
              <a:srgbClr val="FFFFFF"/>
            </a:solidFill>
            <a:prstDash val="solid"/>
          </a:ln>
        </p:spPr>
      </p:sp>
      <p:sp>
        <p:nvSpPr>
          <p:cNvPr id="41" name="Text 39"/>
          <p:cNvSpPr txBox="1"/>
          <p:nvPr/>
        </p:nvSpPr>
        <p:spPr>
          <a:xfrm>
            <a:off x="640080" y="4873752"/>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Flags what it is unsure about</a:t>
            </a:r>
            <a:endParaRPr lang="en-US" sz="1100" dirty="0"/>
          </a:p>
        </p:txBody>
      </p:sp>
      <p:sp>
        <p:nvSpPr>
          <p:cNvPr id="42" name="Shape 40"/>
          <p:cNvSpPr/>
          <p:nvPr/>
        </p:nvSpPr>
        <p:spPr>
          <a:xfrm>
            <a:off x="3408578" y="4873752"/>
            <a:ext cx="2606040" cy="438912"/>
          </a:xfrm>
          <a:prstGeom prst="rect">
            <a:avLst/>
          </a:prstGeom>
          <a:solidFill>
            <a:srgbClr val="FFFFFF"/>
          </a:solidFill>
          <a:ln w="12700">
            <a:solidFill>
              <a:srgbClr val="FFFFFF"/>
            </a:solidFill>
            <a:prstDash val="solid"/>
          </a:ln>
        </p:spPr>
      </p:sp>
      <p:sp>
        <p:nvSpPr>
          <p:cNvPr id="43" name="Text 41"/>
          <p:cNvSpPr txBox="1"/>
          <p:nvPr/>
        </p:nvSpPr>
        <p:spPr>
          <a:xfrm>
            <a:off x="3408578" y="4873752"/>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Holds each team's rules and standards, version-controlled</a:t>
            </a:r>
            <a:endParaRPr lang="en-US" sz="1100" dirty="0"/>
          </a:p>
        </p:txBody>
      </p:sp>
      <p:sp>
        <p:nvSpPr>
          <p:cNvPr id="44" name="Shape 42"/>
          <p:cNvSpPr/>
          <p:nvPr/>
        </p:nvSpPr>
        <p:spPr>
          <a:xfrm>
            <a:off x="6177077" y="4873752"/>
            <a:ext cx="2606040" cy="438912"/>
          </a:xfrm>
          <a:prstGeom prst="rect">
            <a:avLst/>
          </a:prstGeom>
          <a:solidFill>
            <a:srgbClr val="FFFFFF"/>
          </a:solidFill>
          <a:ln w="12700">
            <a:solidFill>
              <a:srgbClr val="FFFFFF"/>
            </a:solidFill>
            <a:prstDash val="solid"/>
          </a:ln>
        </p:spPr>
      </p:sp>
      <p:sp>
        <p:nvSpPr>
          <p:cNvPr id="45" name="Text 43"/>
          <p:cNvSpPr txBox="1"/>
          <p:nvPr/>
        </p:nvSpPr>
        <p:spPr>
          <a:xfrm>
            <a:off x="6177077" y="4873752"/>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Monitors itself and keeps records</a:t>
            </a:r>
            <a:endParaRPr lang="en-US" sz="1100" dirty="0"/>
          </a:p>
        </p:txBody>
      </p:sp>
      <p:sp>
        <p:nvSpPr>
          <p:cNvPr id="46" name="Shape 44"/>
          <p:cNvSpPr/>
          <p:nvPr/>
        </p:nvSpPr>
        <p:spPr>
          <a:xfrm>
            <a:off x="8945575" y="4873752"/>
            <a:ext cx="2606040" cy="438912"/>
          </a:xfrm>
          <a:prstGeom prst="rect">
            <a:avLst/>
          </a:prstGeom>
          <a:solidFill>
            <a:srgbClr val="FFFFFF"/>
          </a:solidFill>
          <a:ln w="12700">
            <a:solidFill>
              <a:srgbClr val="FFFFFF"/>
            </a:solidFill>
            <a:prstDash val="solid"/>
          </a:ln>
        </p:spPr>
      </p:sp>
      <p:sp>
        <p:nvSpPr>
          <p:cNvPr id="47" name="Text 45"/>
          <p:cNvSpPr txBox="1"/>
          <p:nvPr/>
        </p:nvSpPr>
        <p:spPr>
          <a:xfrm>
            <a:off x="8945575" y="4873752"/>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Keeps each team's data separate and access controlled</a:t>
            </a:r>
            <a:endParaRPr lang="en-US" sz="1100" dirty="0"/>
          </a:p>
        </p:txBody>
      </p:sp>
      <p:sp>
        <p:nvSpPr>
          <p:cNvPr id="48" name="Shape 46"/>
          <p:cNvSpPr/>
          <p:nvPr/>
        </p:nvSpPr>
        <p:spPr>
          <a:xfrm>
            <a:off x="457200" y="5788152"/>
            <a:ext cx="274320" cy="274320"/>
          </a:xfrm>
          <a:prstGeom prst="ellipse">
            <a:avLst/>
          </a:prstGeom>
          <a:solidFill>
            <a:srgbClr val="E60000"/>
          </a:solidFill>
          <a:ln w="12700">
            <a:solidFill>
              <a:srgbClr val="E60000"/>
            </a:solidFill>
            <a:prstDash val="solid"/>
          </a:ln>
        </p:spPr>
      </p:sp>
      <p:sp>
        <p:nvSpPr>
          <p:cNvPr id="49" name="Text 47"/>
          <p:cNvSpPr txBox="1"/>
          <p:nvPr/>
        </p:nvSpPr>
        <p:spPr>
          <a:xfrm>
            <a:off x="457200" y="57881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1</a:t>
            </a:r>
            <a:endParaRPr lang="en-US" sz="1200" dirty="0"/>
          </a:p>
        </p:txBody>
      </p:sp>
      <p:sp>
        <p:nvSpPr>
          <p:cNvPr id="50" name="Text 48"/>
          <p:cNvSpPr txBox="1"/>
          <p:nvPr/>
        </p:nvSpPr>
        <p:spPr>
          <a:xfrm>
            <a:off x="822960" y="5806440"/>
            <a:ext cx="2194560" cy="274320"/>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Documents come in once</a:t>
            </a:r>
            <a:endParaRPr lang="en-US" sz="1200" dirty="0"/>
          </a:p>
        </p:txBody>
      </p:sp>
      <p:sp>
        <p:nvSpPr>
          <p:cNvPr id="51" name="Shape 49"/>
          <p:cNvSpPr/>
          <p:nvPr/>
        </p:nvSpPr>
        <p:spPr>
          <a:xfrm>
            <a:off x="3200400" y="5650992"/>
            <a:ext cx="2692298" cy="548640"/>
          </a:xfrm>
          <a:prstGeom prst="rect">
            <a:avLst/>
          </a:prstGeom>
          <a:solidFill>
            <a:srgbClr val="ECEBE4"/>
          </a:solidFill>
          <a:ln w="12700">
            <a:solidFill>
              <a:srgbClr val="ECEBE4"/>
            </a:solidFill>
            <a:prstDash val="solid"/>
          </a:ln>
        </p:spPr>
      </p:sp>
      <p:sp>
        <p:nvSpPr>
          <p:cNvPr id="52" name="Text 50"/>
          <p:cNvSpPr txBox="1"/>
          <p:nvPr/>
        </p:nvSpPr>
        <p:spPr>
          <a:xfrm>
            <a:off x="3200400" y="5650992"/>
            <a:ext cx="2692298" cy="548640"/>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Our upstream systems, pulled directly</a:t>
            </a:r>
            <a:endParaRPr lang="en-US" sz="1100" dirty="0"/>
          </a:p>
        </p:txBody>
      </p:sp>
      <p:sp>
        <p:nvSpPr>
          <p:cNvPr id="53" name="Shape 51"/>
          <p:cNvSpPr/>
          <p:nvPr/>
        </p:nvSpPr>
        <p:spPr>
          <a:xfrm>
            <a:off x="4436821" y="5358384"/>
            <a:ext cx="219456" cy="237744"/>
          </a:xfrm>
          <a:prstGeom prst="upArrow">
            <a:avLst/>
          </a:prstGeom>
          <a:solidFill>
            <a:srgbClr val="6B6B6B"/>
          </a:solidFill>
          <a:ln w="12700">
            <a:solidFill>
              <a:srgbClr val="6B6B6B"/>
            </a:solidFill>
            <a:prstDash val="solid"/>
          </a:ln>
        </p:spPr>
      </p:sp>
      <p:sp>
        <p:nvSpPr>
          <p:cNvPr id="54" name="Shape 52"/>
          <p:cNvSpPr/>
          <p:nvPr/>
        </p:nvSpPr>
        <p:spPr>
          <a:xfrm>
            <a:off x="6121298" y="5650992"/>
            <a:ext cx="2692298" cy="548640"/>
          </a:xfrm>
          <a:prstGeom prst="rect">
            <a:avLst/>
          </a:prstGeom>
          <a:solidFill>
            <a:srgbClr val="ECEBE4"/>
          </a:solidFill>
          <a:ln w="12700">
            <a:solidFill>
              <a:srgbClr val="ECEBE4"/>
            </a:solidFill>
            <a:prstDash val="solid"/>
          </a:ln>
        </p:spPr>
      </p:sp>
      <p:sp>
        <p:nvSpPr>
          <p:cNvPr id="55" name="Text 53"/>
          <p:cNvSpPr txBox="1"/>
          <p:nvPr/>
        </p:nvSpPr>
        <p:spPr>
          <a:xfrm>
            <a:off x="6121298" y="5650992"/>
            <a:ext cx="2692298" cy="548640"/>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Direct upload, single documents or batches</a:t>
            </a:r>
            <a:endParaRPr lang="en-US" sz="1100" dirty="0"/>
          </a:p>
        </p:txBody>
      </p:sp>
      <p:sp>
        <p:nvSpPr>
          <p:cNvPr id="56" name="Shape 54"/>
          <p:cNvSpPr/>
          <p:nvPr/>
        </p:nvSpPr>
        <p:spPr>
          <a:xfrm>
            <a:off x="7357720" y="5358384"/>
            <a:ext cx="219456" cy="237744"/>
          </a:xfrm>
          <a:prstGeom prst="upArrow">
            <a:avLst/>
          </a:prstGeom>
          <a:solidFill>
            <a:srgbClr val="6B6B6B"/>
          </a:solidFill>
          <a:ln w="12700">
            <a:solidFill>
              <a:srgbClr val="6B6B6B"/>
            </a:solidFill>
            <a:prstDash val="solid"/>
          </a:ln>
        </p:spPr>
      </p:sp>
      <p:sp>
        <p:nvSpPr>
          <p:cNvPr id="57" name="Shape 55"/>
          <p:cNvSpPr/>
          <p:nvPr/>
        </p:nvSpPr>
        <p:spPr>
          <a:xfrm>
            <a:off x="9042197" y="5650992"/>
            <a:ext cx="2692298" cy="548640"/>
          </a:xfrm>
          <a:prstGeom prst="rect">
            <a:avLst/>
          </a:prstGeom>
          <a:solidFill>
            <a:srgbClr val="ECEBE4"/>
          </a:solidFill>
          <a:ln w="12700">
            <a:solidFill>
              <a:srgbClr val="ECEBE4"/>
            </a:solidFill>
            <a:prstDash val="solid"/>
          </a:ln>
        </p:spPr>
      </p:sp>
      <p:sp>
        <p:nvSpPr>
          <p:cNvPr id="58" name="Text 56"/>
          <p:cNvSpPr txBox="1"/>
          <p:nvPr/>
        </p:nvSpPr>
        <p:spPr>
          <a:xfrm>
            <a:off x="9042197" y="5650992"/>
            <a:ext cx="2692298" cy="548640"/>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Monitored SharePoint folders, picked up automatically</a:t>
            </a:r>
            <a:endParaRPr lang="en-US" sz="1100" dirty="0"/>
          </a:p>
        </p:txBody>
      </p:sp>
      <p:sp>
        <p:nvSpPr>
          <p:cNvPr id="59" name="Shape 57"/>
          <p:cNvSpPr/>
          <p:nvPr/>
        </p:nvSpPr>
        <p:spPr>
          <a:xfrm>
            <a:off x="10278618" y="5358384"/>
            <a:ext cx="219456" cy="237744"/>
          </a:xfrm>
          <a:prstGeom prst="upArrow">
            <a:avLst/>
          </a:prstGeom>
          <a:solidFill>
            <a:srgbClr val="6B6B6B"/>
          </a:solidFill>
          <a:ln w="12700">
            <a:solidFill>
              <a:srgbClr val="6B6B6B"/>
            </a:solidFill>
            <a:prstDash val="solid"/>
          </a:ln>
        </p:spPr>
      </p:sp>
      <p:sp>
        <p:nvSpPr>
          <p:cNvPr id="61" name="Text 58"/>
          <p:cNvSpPr txBox="1"/>
          <p:nvPr/>
        </p:nvSpPr>
        <p:spPr>
          <a:xfrm>
            <a:off x="10271455" y="6473952"/>
            <a:ext cx="10515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62" name="Text 59"/>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The design is ratified.</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Staged releases to follow.</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Dated milestones are confirmed. Hollow markers firm up as the delivery roadmap is approved.</a:t>
            </a:r>
            <a:endParaRPr lang="en-US" sz="1400" dirty="0"/>
          </a:p>
        </p:txBody>
      </p:sp>
      <p:sp>
        <p:nvSpPr>
          <p:cNvPr id="4" name="Shape 2"/>
          <p:cNvSpPr/>
          <p:nvPr/>
        </p:nvSpPr>
        <p:spPr>
          <a:xfrm>
            <a:off x="822960" y="1554480"/>
            <a:ext cx="2011680" cy="384048"/>
          </a:xfrm>
          <a:prstGeom prst="chevron">
            <a:avLst/>
          </a:prstGeom>
          <a:solidFill>
            <a:srgbClr val="B8B3A2"/>
          </a:solidFill>
          <a:ln w="12700">
            <a:solidFill>
              <a:srgbClr val="FFFFFF"/>
            </a:solidFill>
            <a:prstDash val="solid"/>
          </a:ln>
        </p:spPr>
      </p:sp>
      <p:sp>
        <p:nvSpPr>
          <p:cNvPr id="5" name="Text 3"/>
          <p:cNvSpPr txBox="1"/>
          <p:nvPr/>
        </p:nvSpPr>
        <p:spPr>
          <a:xfrm>
            <a:off x="932688" y="1554480"/>
            <a:ext cx="179222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Q3-26</a:t>
            </a:r>
            <a:endParaRPr lang="en-US" sz="1100" dirty="0"/>
          </a:p>
        </p:txBody>
      </p:sp>
      <p:sp>
        <p:nvSpPr>
          <p:cNvPr id="6" name="Shape 4"/>
          <p:cNvSpPr/>
          <p:nvPr/>
        </p:nvSpPr>
        <p:spPr>
          <a:xfrm>
            <a:off x="2834640" y="1554480"/>
            <a:ext cx="1371600" cy="384048"/>
          </a:xfrm>
          <a:prstGeom prst="chevron">
            <a:avLst/>
          </a:prstGeom>
          <a:solidFill>
            <a:srgbClr val="ECEBE4"/>
          </a:solidFill>
          <a:ln w="12700">
            <a:solidFill>
              <a:srgbClr val="FFFFFF"/>
            </a:solidFill>
            <a:prstDash val="solid"/>
          </a:ln>
        </p:spPr>
      </p:sp>
      <p:sp>
        <p:nvSpPr>
          <p:cNvPr id="7" name="Text 5"/>
          <p:cNvSpPr txBox="1"/>
          <p:nvPr/>
        </p:nvSpPr>
        <p:spPr>
          <a:xfrm>
            <a:off x="2944368" y="1554480"/>
            <a:ext cx="115214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Q4-26</a:t>
            </a:r>
            <a:endParaRPr lang="en-US" sz="1100" dirty="0"/>
          </a:p>
        </p:txBody>
      </p:sp>
      <p:sp>
        <p:nvSpPr>
          <p:cNvPr id="8" name="Shape 6"/>
          <p:cNvSpPr/>
          <p:nvPr/>
        </p:nvSpPr>
        <p:spPr>
          <a:xfrm>
            <a:off x="4206240" y="1554480"/>
            <a:ext cx="1371600" cy="384048"/>
          </a:xfrm>
          <a:prstGeom prst="chevron">
            <a:avLst/>
          </a:prstGeom>
          <a:solidFill>
            <a:srgbClr val="ECEBE4"/>
          </a:solidFill>
          <a:ln w="12700">
            <a:solidFill>
              <a:srgbClr val="FFFFFF"/>
            </a:solidFill>
            <a:prstDash val="solid"/>
          </a:ln>
        </p:spPr>
      </p:sp>
      <p:sp>
        <p:nvSpPr>
          <p:cNvPr id="9" name="Text 7"/>
          <p:cNvSpPr txBox="1"/>
          <p:nvPr/>
        </p:nvSpPr>
        <p:spPr>
          <a:xfrm>
            <a:off x="4315968" y="1554480"/>
            <a:ext cx="115214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Q1-27</a:t>
            </a:r>
            <a:endParaRPr lang="en-US" sz="1100" dirty="0"/>
          </a:p>
        </p:txBody>
      </p:sp>
      <p:sp>
        <p:nvSpPr>
          <p:cNvPr id="10" name="Shape 8"/>
          <p:cNvSpPr/>
          <p:nvPr/>
        </p:nvSpPr>
        <p:spPr>
          <a:xfrm>
            <a:off x="5577840" y="1554480"/>
            <a:ext cx="1417320" cy="384048"/>
          </a:xfrm>
          <a:prstGeom prst="chevron">
            <a:avLst/>
          </a:prstGeom>
          <a:solidFill>
            <a:srgbClr val="ECEBE4"/>
          </a:solidFill>
          <a:ln w="12700">
            <a:solidFill>
              <a:srgbClr val="FFFFFF"/>
            </a:solidFill>
            <a:prstDash val="solid"/>
          </a:ln>
        </p:spPr>
      </p:sp>
      <p:sp>
        <p:nvSpPr>
          <p:cNvPr id="11" name="Text 9"/>
          <p:cNvSpPr txBox="1"/>
          <p:nvPr/>
        </p:nvSpPr>
        <p:spPr>
          <a:xfrm>
            <a:off x="5687568" y="1554480"/>
            <a:ext cx="119786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Q2-27 and beyond</a:t>
            </a:r>
            <a:endParaRPr lang="en-US" sz="1100" dirty="0"/>
          </a:p>
        </p:txBody>
      </p:sp>
      <p:sp>
        <p:nvSpPr>
          <p:cNvPr id="12" name="Shape 10"/>
          <p:cNvSpPr/>
          <p:nvPr/>
        </p:nvSpPr>
        <p:spPr>
          <a:xfrm>
            <a:off x="822960" y="3154680"/>
            <a:ext cx="6172200" cy="0"/>
          </a:xfrm>
          <a:prstGeom prst="line">
            <a:avLst/>
          </a:prstGeom>
          <a:noFill/>
          <a:ln w="25400">
            <a:solidFill>
              <a:srgbClr val="6B6B6B"/>
            </a:solidFill>
            <a:prstDash val="solid"/>
          </a:ln>
        </p:spPr>
      </p:sp>
      <p:sp>
        <p:nvSpPr>
          <p:cNvPr id="13" name="Shape 11"/>
          <p:cNvSpPr/>
          <p:nvPr/>
        </p:nvSpPr>
        <p:spPr>
          <a:xfrm>
            <a:off x="3026664" y="1508760"/>
            <a:ext cx="0" cy="3566160"/>
          </a:xfrm>
          <a:prstGeom prst="line">
            <a:avLst/>
          </a:prstGeom>
          <a:noFill/>
          <a:ln w="12700">
            <a:solidFill>
              <a:srgbClr val="E60000"/>
            </a:solidFill>
            <a:prstDash val="dash"/>
          </a:ln>
        </p:spPr>
      </p:sp>
      <p:sp>
        <p:nvSpPr>
          <p:cNvPr id="14" name="Text 12"/>
          <p:cNvSpPr txBox="1"/>
          <p:nvPr/>
        </p:nvSpPr>
        <p:spPr>
          <a:xfrm>
            <a:off x="2660904" y="5120640"/>
            <a:ext cx="731520" cy="228600"/>
          </a:xfrm>
          <a:prstGeom prst="rect">
            <a:avLst/>
          </a:prstGeom>
          <a:noFill/>
          <a:ln/>
        </p:spPr>
        <p:txBody>
          <a:bodyPr wrap="square" lIns="0" tIns="0" rIns="0" bIns="0" rtlCol="0" anchor="t"/>
          <a:lstStyle/>
          <a:p>
            <a:pPr algn="ctr" indent="0" marL="0">
              <a:buNone/>
            </a:pPr>
            <a:r>
              <a:rPr lang="en-US" sz="1000" b="1" dirty="0">
                <a:solidFill>
                  <a:srgbClr val="E60000"/>
                </a:solidFill>
                <a:latin typeface="Frutiger 45 Light" pitchFamily="34" charset="0"/>
                <a:ea typeface="Frutiger 45 Light" pitchFamily="34" charset="-122"/>
                <a:cs typeface="Frutiger 45 Light" pitchFamily="34" charset="-120"/>
              </a:rPr>
              <a:t>Today</a:t>
            </a:r>
            <a:endParaRPr lang="en-US" sz="1000" dirty="0"/>
          </a:p>
        </p:txBody>
      </p:sp>
      <p:sp>
        <p:nvSpPr>
          <p:cNvPr id="15" name="Shape 13"/>
          <p:cNvSpPr/>
          <p:nvPr/>
        </p:nvSpPr>
        <p:spPr>
          <a:xfrm>
            <a:off x="994867" y="3044952"/>
            <a:ext cx="219456" cy="219456"/>
          </a:xfrm>
          <a:prstGeom prst="diamond">
            <a:avLst/>
          </a:prstGeom>
          <a:solidFill>
            <a:srgbClr val="1E1E1E"/>
          </a:solidFill>
          <a:ln w="12700">
            <a:solidFill>
              <a:srgbClr val="1E1E1E"/>
            </a:solidFill>
            <a:prstDash val="solid"/>
          </a:ln>
        </p:spPr>
      </p:sp>
      <p:sp>
        <p:nvSpPr>
          <p:cNvPr id="16" name="Text 14"/>
          <p:cNvSpPr txBox="1"/>
          <p:nvPr/>
        </p:nvSpPr>
        <p:spPr>
          <a:xfrm>
            <a:off x="487375" y="3319272"/>
            <a:ext cx="1234440" cy="603504"/>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Jul: proof of concept and benefits case confirmed</a:t>
            </a:r>
            <a:endParaRPr lang="en-US" sz="1000" dirty="0"/>
          </a:p>
        </p:txBody>
      </p:sp>
      <p:sp>
        <p:nvSpPr>
          <p:cNvPr id="17" name="Shape 15"/>
          <p:cNvSpPr/>
          <p:nvPr/>
        </p:nvSpPr>
        <p:spPr>
          <a:xfrm>
            <a:off x="1719072" y="3044952"/>
            <a:ext cx="219456" cy="219456"/>
          </a:xfrm>
          <a:prstGeom prst="diamond">
            <a:avLst/>
          </a:prstGeom>
          <a:solidFill>
            <a:srgbClr val="1E1E1E"/>
          </a:solidFill>
          <a:ln w="12700">
            <a:solidFill>
              <a:srgbClr val="1E1E1E"/>
            </a:solidFill>
            <a:prstDash val="solid"/>
          </a:ln>
        </p:spPr>
      </p:sp>
      <p:sp>
        <p:nvSpPr>
          <p:cNvPr id="18" name="Text 16"/>
          <p:cNvSpPr txBox="1"/>
          <p:nvPr/>
        </p:nvSpPr>
        <p:spPr>
          <a:xfrm>
            <a:off x="1143000" y="2221992"/>
            <a:ext cx="1371600" cy="786384"/>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Aug: design workshops with IT and Data</a:t>
            </a:r>
            <a:endParaRPr lang="en-US" sz="1000" dirty="0"/>
          </a:p>
        </p:txBody>
      </p:sp>
      <p:sp>
        <p:nvSpPr>
          <p:cNvPr id="19" name="Shape 17"/>
          <p:cNvSpPr/>
          <p:nvPr/>
        </p:nvSpPr>
        <p:spPr>
          <a:xfrm>
            <a:off x="2443277" y="3044952"/>
            <a:ext cx="219456" cy="219456"/>
          </a:xfrm>
          <a:prstGeom prst="diamond">
            <a:avLst/>
          </a:prstGeom>
          <a:solidFill>
            <a:srgbClr val="1E1E1E"/>
          </a:solidFill>
          <a:ln w="12700">
            <a:solidFill>
              <a:srgbClr val="1E1E1E"/>
            </a:solidFill>
            <a:prstDash val="solid"/>
          </a:ln>
        </p:spPr>
      </p:sp>
      <p:sp>
        <p:nvSpPr>
          <p:cNvPr id="20" name="Text 18"/>
          <p:cNvSpPr txBox="1"/>
          <p:nvPr/>
        </p:nvSpPr>
        <p:spPr>
          <a:xfrm>
            <a:off x="1839773" y="3319272"/>
            <a:ext cx="1097280" cy="603504"/>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Sep: design ratified at the AI Forum</a:t>
            </a:r>
            <a:endParaRPr lang="en-US" sz="1000" dirty="0"/>
          </a:p>
        </p:txBody>
      </p:sp>
      <p:sp>
        <p:nvSpPr>
          <p:cNvPr id="21" name="Shape 19"/>
          <p:cNvSpPr/>
          <p:nvPr/>
        </p:nvSpPr>
        <p:spPr>
          <a:xfrm>
            <a:off x="3410712" y="3044952"/>
            <a:ext cx="219456" cy="219456"/>
          </a:xfrm>
          <a:prstGeom prst="diamond">
            <a:avLst/>
          </a:prstGeom>
          <a:solidFill>
            <a:srgbClr val="FFFFFF"/>
          </a:solidFill>
          <a:ln w="12700">
            <a:solidFill>
              <a:srgbClr val="6B6B6B"/>
            </a:solidFill>
            <a:prstDash val="solid"/>
          </a:ln>
        </p:spPr>
      </p:sp>
      <p:sp>
        <p:nvSpPr>
          <p:cNvPr id="22" name="Text 20"/>
          <p:cNvSpPr txBox="1"/>
          <p:nvPr/>
        </p:nvSpPr>
        <p:spPr>
          <a:xfrm>
            <a:off x="3154680" y="3319272"/>
            <a:ext cx="731520" cy="603504"/>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Build</a:t>
            </a:r>
            <a:endParaRPr lang="en-US" sz="1000" dirty="0"/>
          </a:p>
        </p:txBody>
      </p:sp>
      <p:sp>
        <p:nvSpPr>
          <p:cNvPr id="23" name="Shape 21"/>
          <p:cNvSpPr/>
          <p:nvPr/>
        </p:nvSpPr>
        <p:spPr>
          <a:xfrm>
            <a:off x="4576572" y="3044952"/>
            <a:ext cx="219456" cy="219456"/>
          </a:xfrm>
          <a:prstGeom prst="diamond">
            <a:avLst/>
          </a:prstGeom>
          <a:solidFill>
            <a:srgbClr val="FFFFFF"/>
          </a:solidFill>
          <a:ln w="12700">
            <a:solidFill>
              <a:srgbClr val="6B6B6B"/>
            </a:solidFill>
            <a:prstDash val="solid"/>
          </a:ln>
        </p:spPr>
      </p:sp>
      <p:sp>
        <p:nvSpPr>
          <p:cNvPr id="24" name="Text 22"/>
          <p:cNvSpPr txBox="1"/>
          <p:nvPr/>
        </p:nvSpPr>
        <p:spPr>
          <a:xfrm>
            <a:off x="4114800" y="3319272"/>
            <a:ext cx="1143000" cy="603504"/>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1: Assemble and Assess</a:t>
            </a:r>
            <a:endParaRPr lang="en-US" sz="1000" dirty="0"/>
          </a:p>
        </p:txBody>
      </p:sp>
      <p:sp>
        <p:nvSpPr>
          <p:cNvPr id="25" name="Shape 23"/>
          <p:cNvSpPr/>
          <p:nvPr/>
        </p:nvSpPr>
        <p:spPr>
          <a:xfrm>
            <a:off x="5221224" y="3044952"/>
            <a:ext cx="219456" cy="219456"/>
          </a:xfrm>
          <a:prstGeom prst="diamond">
            <a:avLst/>
          </a:prstGeom>
          <a:solidFill>
            <a:srgbClr val="FFFFFF"/>
          </a:solidFill>
          <a:ln w="12700">
            <a:solidFill>
              <a:srgbClr val="6B6B6B"/>
            </a:solidFill>
            <a:prstDash val="solid"/>
          </a:ln>
        </p:spPr>
      </p:sp>
      <p:sp>
        <p:nvSpPr>
          <p:cNvPr id="26" name="Text 24"/>
          <p:cNvSpPr txBox="1"/>
          <p:nvPr/>
        </p:nvSpPr>
        <p:spPr>
          <a:xfrm>
            <a:off x="4462272" y="2221992"/>
            <a:ext cx="1737360" cy="786384"/>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Q1: IB Commercial Lending standalone application merges onto the platform</a:t>
            </a:r>
            <a:endParaRPr lang="en-US" sz="1000" dirty="0"/>
          </a:p>
        </p:txBody>
      </p:sp>
      <p:sp>
        <p:nvSpPr>
          <p:cNvPr id="27" name="Shape 25"/>
          <p:cNvSpPr/>
          <p:nvPr/>
        </p:nvSpPr>
        <p:spPr>
          <a:xfrm>
            <a:off x="5893308" y="3044952"/>
            <a:ext cx="219456" cy="219456"/>
          </a:xfrm>
          <a:prstGeom prst="diamond">
            <a:avLst/>
          </a:prstGeom>
          <a:solidFill>
            <a:srgbClr val="FFFFFF"/>
          </a:solidFill>
          <a:ln w="12700">
            <a:solidFill>
              <a:srgbClr val="6B6B6B"/>
            </a:solidFill>
            <a:prstDash val="solid"/>
          </a:ln>
        </p:spPr>
      </p:sp>
      <p:sp>
        <p:nvSpPr>
          <p:cNvPr id="28" name="Text 26"/>
          <p:cNvSpPr txBox="1"/>
          <p:nvPr/>
        </p:nvSpPr>
        <p:spPr>
          <a:xfrm>
            <a:off x="5477256" y="3319272"/>
            <a:ext cx="1051560" cy="603504"/>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2: Challenge and Adjudicate</a:t>
            </a:r>
            <a:endParaRPr lang="en-US" sz="1000" dirty="0"/>
          </a:p>
        </p:txBody>
      </p:sp>
      <p:sp>
        <p:nvSpPr>
          <p:cNvPr id="29" name="Shape 27"/>
          <p:cNvSpPr/>
          <p:nvPr/>
        </p:nvSpPr>
        <p:spPr>
          <a:xfrm>
            <a:off x="6672834" y="3044952"/>
            <a:ext cx="219456" cy="219456"/>
          </a:xfrm>
          <a:prstGeom prst="diamond">
            <a:avLst/>
          </a:prstGeom>
          <a:solidFill>
            <a:srgbClr val="FFFFFF"/>
          </a:solidFill>
          <a:ln w="12700">
            <a:solidFill>
              <a:srgbClr val="6B6B6B"/>
            </a:solidFill>
            <a:prstDash val="solid"/>
          </a:ln>
        </p:spPr>
      </p:sp>
      <p:sp>
        <p:nvSpPr>
          <p:cNvPr id="30" name="Text 28"/>
          <p:cNvSpPr txBox="1"/>
          <p:nvPr/>
        </p:nvSpPr>
        <p:spPr>
          <a:xfrm>
            <a:off x="6279642" y="2221992"/>
            <a:ext cx="1005840" cy="786384"/>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3: Learn and Scale</a:t>
            </a:r>
            <a:endParaRPr lang="en-US" sz="1000" dirty="0"/>
          </a:p>
        </p:txBody>
      </p:sp>
      <p:sp>
        <p:nvSpPr>
          <p:cNvPr id="31" name="Shape 29"/>
          <p:cNvSpPr/>
          <p:nvPr/>
        </p:nvSpPr>
        <p:spPr>
          <a:xfrm>
            <a:off x="693115" y="4224528"/>
            <a:ext cx="822960" cy="274320"/>
          </a:xfrm>
          <a:prstGeom prst="roundRect">
            <a:avLst>
              <a:gd name="adj" fmla="val 50000"/>
            </a:avLst>
          </a:prstGeom>
          <a:solidFill>
            <a:srgbClr val="B8B3A2"/>
          </a:solidFill>
          <a:ln w="12700">
            <a:solidFill>
              <a:srgbClr val="B8B3A2"/>
            </a:solidFill>
            <a:prstDash val="solid"/>
          </a:ln>
        </p:spPr>
      </p:sp>
      <p:sp>
        <p:nvSpPr>
          <p:cNvPr id="32" name="Text 30"/>
          <p:cNvSpPr txBox="1"/>
          <p:nvPr/>
        </p:nvSpPr>
        <p:spPr>
          <a:xfrm>
            <a:off x="693115" y="4224528"/>
            <a:ext cx="82296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proven</a:t>
            </a:r>
            <a:endParaRPr lang="en-US" sz="1000" dirty="0"/>
          </a:p>
        </p:txBody>
      </p:sp>
      <p:sp>
        <p:nvSpPr>
          <p:cNvPr id="33" name="Shape 31"/>
          <p:cNvSpPr/>
          <p:nvPr/>
        </p:nvSpPr>
        <p:spPr>
          <a:xfrm>
            <a:off x="2095805" y="4224528"/>
            <a:ext cx="914400" cy="274320"/>
          </a:xfrm>
          <a:prstGeom prst="roundRect">
            <a:avLst>
              <a:gd name="adj" fmla="val 50000"/>
            </a:avLst>
          </a:prstGeom>
          <a:solidFill>
            <a:srgbClr val="B8B3A2"/>
          </a:solidFill>
          <a:ln w="12700">
            <a:solidFill>
              <a:srgbClr val="B8B3A2"/>
            </a:solidFill>
            <a:prstDash val="solid"/>
          </a:ln>
        </p:spPr>
      </p:sp>
      <p:sp>
        <p:nvSpPr>
          <p:cNvPr id="34" name="Text 32"/>
          <p:cNvSpPr txBox="1"/>
          <p:nvPr/>
        </p:nvSpPr>
        <p:spPr>
          <a:xfrm>
            <a:off x="2095805" y="4224528"/>
            <a:ext cx="91440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ratified</a:t>
            </a:r>
            <a:endParaRPr lang="en-US" sz="1000" dirty="0"/>
          </a:p>
        </p:txBody>
      </p:sp>
      <p:sp>
        <p:nvSpPr>
          <p:cNvPr id="35" name="Shape 33"/>
          <p:cNvSpPr/>
          <p:nvPr/>
        </p:nvSpPr>
        <p:spPr>
          <a:xfrm>
            <a:off x="3017520" y="4224528"/>
            <a:ext cx="1005840" cy="274320"/>
          </a:xfrm>
          <a:prstGeom prst="roundRect">
            <a:avLst>
              <a:gd name="adj" fmla="val 50000"/>
            </a:avLst>
          </a:prstGeom>
          <a:solidFill>
            <a:srgbClr val="B8B3A2"/>
          </a:solidFill>
          <a:ln w="12700">
            <a:solidFill>
              <a:srgbClr val="B8B3A2"/>
            </a:solidFill>
            <a:prstDash val="solid"/>
          </a:ln>
        </p:spPr>
      </p:sp>
      <p:sp>
        <p:nvSpPr>
          <p:cNvPr id="36" name="Text 34"/>
          <p:cNvSpPr txBox="1"/>
          <p:nvPr/>
        </p:nvSpPr>
        <p:spPr>
          <a:xfrm>
            <a:off x="3017520" y="4224528"/>
            <a:ext cx="100584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to be sized</a:t>
            </a:r>
            <a:endParaRPr lang="en-US" sz="1000" dirty="0"/>
          </a:p>
        </p:txBody>
      </p:sp>
      <p:sp>
        <p:nvSpPr>
          <p:cNvPr id="37" name="Shape 35"/>
          <p:cNvSpPr/>
          <p:nvPr/>
        </p:nvSpPr>
        <p:spPr>
          <a:xfrm>
            <a:off x="4411980" y="4224528"/>
            <a:ext cx="2583180" cy="274320"/>
          </a:xfrm>
          <a:prstGeom prst="roundRect">
            <a:avLst>
              <a:gd name="adj" fmla="val 50000"/>
            </a:avLst>
          </a:prstGeom>
          <a:solidFill>
            <a:srgbClr val="B8B3A2"/>
          </a:solidFill>
          <a:ln w="12700">
            <a:solidFill>
              <a:srgbClr val="B8B3A2"/>
            </a:solidFill>
            <a:prstDash val="solid"/>
          </a:ln>
        </p:spPr>
      </p:sp>
      <p:sp>
        <p:nvSpPr>
          <p:cNvPr id="38" name="Text 36"/>
          <p:cNvSpPr txBox="1"/>
          <p:nvPr/>
        </p:nvSpPr>
        <p:spPr>
          <a:xfrm>
            <a:off x="4411980" y="4224528"/>
            <a:ext cx="258318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planned</a:t>
            </a:r>
            <a:endParaRPr lang="en-US" sz="1000" dirty="0"/>
          </a:p>
        </p:txBody>
      </p:sp>
      <p:sp>
        <p:nvSpPr>
          <p:cNvPr id="39" name="Text 37"/>
          <p:cNvSpPr txBox="1"/>
          <p:nvPr/>
        </p:nvSpPr>
        <p:spPr>
          <a:xfrm>
            <a:off x="3246120" y="4645152"/>
            <a:ext cx="4023360" cy="310896"/>
          </a:xfrm>
          <a:prstGeom prst="rect">
            <a:avLst/>
          </a:prstGeom>
          <a:noFill/>
          <a:ln/>
        </p:spPr>
        <p:txBody>
          <a:bodyPr wrap="square" lIns="0" tIns="0" rIns="0" bIns="0" rtlCol="0" anchor="t"/>
          <a:lstStyle/>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Proposed delivery plan: foundation to December, three applications by end of Q1-27. Delivery roadmap approval to follow.</a:t>
            </a:r>
            <a:endParaRPr lang="en-US" sz="1000" dirty="0"/>
          </a:p>
        </p:txBody>
      </p:sp>
      <p:sp>
        <p:nvSpPr>
          <p:cNvPr id="40" name="Shape 38"/>
          <p:cNvSpPr/>
          <p:nvPr/>
        </p:nvSpPr>
        <p:spPr>
          <a:xfrm>
            <a:off x="832104" y="5605272"/>
            <a:ext cx="164592" cy="164592"/>
          </a:xfrm>
          <a:prstGeom prst="diamond">
            <a:avLst/>
          </a:prstGeom>
          <a:solidFill>
            <a:srgbClr val="1E1E1E"/>
          </a:solidFill>
          <a:ln w="12700">
            <a:solidFill>
              <a:srgbClr val="1E1E1E"/>
            </a:solidFill>
            <a:prstDash val="solid"/>
          </a:ln>
        </p:spPr>
      </p:sp>
      <p:sp>
        <p:nvSpPr>
          <p:cNvPr id="41" name="Text 39"/>
          <p:cNvSpPr txBox="1"/>
          <p:nvPr/>
        </p:nvSpPr>
        <p:spPr>
          <a:xfrm>
            <a:off x="1097280" y="5577840"/>
            <a:ext cx="1097280" cy="228600"/>
          </a:xfrm>
          <a:prstGeom prst="rect">
            <a:avLst/>
          </a:prstGeom>
          <a:noFill/>
          <a:ln/>
        </p:spPr>
        <p:txBody>
          <a:bodyPr wrap="square" lIns="0" tIns="0" rIns="0" bIns="0" rtlCol="0" anchor="ctr"/>
          <a:lstStyle/>
          <a:p>
            <a:pPr indent="0" marL="0">
              <a:buNone/>
            </a:pPr>
            <a:r>
              <a:rPr lang="en-US" sz="1000" dirty="0">
                <a:solidFill>
                  <a:srgbClr val="6B6B6B"/>
                </a:solidFill>
                <a:latin typeface="Frutiger 45 Light" pitchFamily="34" charset="0"/>
                <a:ea typeface="Frutiger 45 Light" pitchFamily="34" charset="-122"/>
                <a:cs typeface="Frutiger 45 Light" pitchFamily="34" charset="-120"/>
              </a:rPr>
              <a:t>confirmed</a:t>
            </a:r>
            <a:endParaRPr lang="en-US" sz="1000" dirty="0"/>
          </a:p>
        </p:txBody>
      </p:sp>
      <p:sp>
        <p:nvSpPr>
          <p:cNvPr id="42" name="Shape 40"/>
          <p:cNvSpPr/>
          <p:nvPr/>
        </p:nvSpPr>
        <p:spPr>
          <a:xfrm>
            <a:off x="2203704" y="5605272"/>
            <a:ext cx="164592" cy="164592"/>
          </a:xfrm>
          <a:prstGeom prst="diamond">
            <a:avLst/>
          </a:prstGeom>
          <a:solidFill>
            <a:srgbClr val="FFFFFF"/>
          </a:solidFill>
          <a:ln w="12700">
            <a:solidFill>
              <a:srgbClr val="6B6B6B"/>
            </a:solidFill>
            <a:prstDash val="solid"/>
          </a:ln>
        </p:spPr>
      </p:sp>
      <p:sp>
        <p:nvSpPr>
          <p:cNvPr id="43" name="Text 41"/>
          <p:cNvSpPr txBox="1"/>
          <p:nvPr/>
        </p:nvSpPr>
        <p:spPr>
          <a:xfrm>
            <a:off x="2468880" y="5577840"/>
            <a:ext cx="3291840" cy="228600"/>
          </a:xfrm>
          <a:prstGeom prst="rect">
            <a:avLst/>
          </a:prstGeom>
          <a:noFill/>
          <a:ln/>
        </p:spPr>
        <p:txBody>
          <a:bodyPr wrap="square" lIns="0" tIns="0" rIns="0" bIns="0" rtlCol="0" anchor="ctr"/>
          <a:lstStyle/>
          <a:p>
            <a:pPr indent="0" marL="0">
              <a:buNone/>
            </a:pPr>
            <a:r>
              <a:rPr lang="en-US" sz="1000" dirty="0">
                <a:solidFill>
                  <a:srgbClr val="6B6B6B"/>
                </a:solidFill>
                <a:latin typeface="Frutiger 45 Light" pitchFamily="34" charset="0"/>
                <a:ea typeface="Frutiger 45 Light" pitchFamily="34" charset="-122"/>
                <a:cs typeface="Frutiger 45 Light" pitchFamily="34" charset="-120"/>
              </a:rPr>
              <a:t>timing firms up with the delivery roadmap</a:t>
            </a:r>
            <a:endParaRPr lang="en-US" sz="1000" dirty="0"/>
          </a:p>
        </p:txBody>
      </p:sp>
      <p:sp>
        <p:nvSpPr>
          <p:cNvPr id="44" name="Text 42"/>
          <p:cNvSpPr txBox="1"/>
          <p:nvPr/>
        </p:nvSpPr>
        <p:spPr>
          <a:xfrm>
            <a:off x="822960" y="5989320"/>
            <a:ext cx="6675120" cy="274320"/>
          </a:xfrm>
          <a:prstGeom prst="rect">
            <a:avLst/>
          </a:prstGeom>
          <a:noFill/>
          <a:ln/>
        </p:spPr>
        <p:txBody>
          <a:bodyPr wrap="square" lIns="0" tIns="0" rIns="0" bIns="0" rtlCol="0" anchor="t"/>
          <a:lstStyle/>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Builds on the Personal &amp; Corporate Banking proof of concept, in use since early 2025.</a:t>
            </a:r>
            <a:endParaRPr lang="en-US" sz="1000" dirty="0"/>
          </a:p>
        </p:txBody>
      </p:sp>
      <p:sp>
        <p:nvSpPr>
          <p:cNvPr id="45" name="Shape 43"/>
          <p:cNvSpPr/>
          <p:nvPr/>
        </p:nvSpPr>
        <p:spPr>
          <a:xfrm>
            <a:off x="8092440" y="1508760"/>
            <a:ext cx="3642055" cy="2697480"/>
          </a:xfrm>
          <a:prstGeom prst="rect">
            <a:avLst/>
          </a:prstGeom>
          <a:solidFill>
            <a:srgbClr val="ECEBE4"/>
          </a:solidFill>
          <a:ln w="12700">
            <a:solidFill>
              <a:srgbClr val="ECEBE4"/>
            </a:solidFill>
            <a:prstDash val="solid"/>
          </a:ln>
        </p:spPr>
      </p:sp>
      <p:sp>
        <p:nvSpPr>
          <p:cNvPr id="46" name="Text 44"/>
          <p:cNvSpPr txBox="1"/>
          <p:nvPr/>
        </p:nvSpPr>
        <p:spPr>
          <a:xfrm>
            <a:off x="8321040" y="1655064"/>
            <a:ext cx="3184855" cy="274320"/>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How we got here</a:t>
            </a:r>
            <a:endParaRPr lang="en-US" sz="1200" dirty="0"/>
          </a:p>
        </p:txBody>
      </p:sp>
      <p:sp>
        <p:nvSpPr>
          <p:cNvPr id="47" name="Text 45"/>
          <p:cNvSpPr txBox="1"/>
          <p:nvPr/>
        </p:nvSpPr>
        <p:spPr>
          <a:xfrm>
            <a:off x="8321040" y="1984248"/>
            <a:ext cx="3184855" cy="2130552"/>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We built the proof of concept around Credit Risk Review's own work, and it proved the approach.</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We then designed the platform and application to a production standard, with access, traceability, validation, and control in the design from the start.</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The outcome is the shared foundation that the first three applications are hosted on.</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In September the design was ratified at the AI Forum.</a:t>
            </a:r>
            <a:endParaRPr lang="en-US" sz="1100" dirty="0"/>
          </a:p>
        </p:txBody>
      </p:sp>
      <p:sp>
        <p:nvSpPr>
          <p:cNvPr id="48" name="Shape 46"/>
          <p:cNvSpPr/>
          <p:nvPr/>
        </p:nvSpPr>
        <p:spPr>
          <a:xfrm>
            <a:off x="8092440" y="4343400"/>
            <a:ext cx="3642055" cy="1920240"/>
          </a:xfrm>
          <a:prstGeom prst="rect">
            <a:avLst/>
          </a:prstGeom>
          <a:solidFill>
            <a:srgbClr val="ECEBE4"/>
          </a:solidFill>
          <a:ln w="12700">
            <a:solidFill>
              <a:srgbClr val="ECEBE4"/>
            </a:solidFill>
            <a:prstDash val="solid"/>
          </a:ln>
        </p:spPr>
      </p:sp>
      <p:sp>
        <p:nvSpPr>
          <p:cNvPr id="49" name="Text 47"/>
          <p:cNvSpPr txBox="1"/>
          <p:nvPr/>
        </p:nvSpPr>
        <p:spPr>
          <a:xfrm>
            <a:off x="8321040" y="4489704"/>
            <a:ext cx="3184855" cy="274320"/>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Happening now</a:t>
            </a:r>
            <a:endParaRPr lang="en-US" sz="1200" dirty="0"/>
          </a:p>
        </p:txBody>
      </p:sp>
      <p:sp>
        <p:nvSpPr>
          <p:cNvPr id="50" name="Text 48"/>
          <p:cNvSpPr txBox="1"/>
          <p:nvPr/>
        </p:nvSpPr>
        <p:spPr>
          <a:xfrm>
            <a:off x="8321040" y="4818888"/>
            <a:ext cx="3184855" cy="1353312"/>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3A3A3A"/>
                </a:solidFill>
                <a:latin typeface="Frutiger 45 Light" pitchFamily="34" charset="0"/>
                <a:ea typeface="Frutiger 45 Light" pitchFamily="34" charset="-122"/>
                <a:cs typeface="Frutiger 45 Light" pitchFamily="34" charset="-120"/>
              </a:rPr>
              <a:t>We are assembling what the Credit Risk Review build is centered on: golden sources, internal standards, and test and training documents.</a:t>
            </a:r>
            <a:endParaRPr lang="en-US" sz="1000" dirty="0"/>
          </a:p>
          <a:p>
            <a:pPr marL="152400" indent="-152400">
              <a:spcAft>
                <a:spcPts val="600"/>
              </a:spcAft>
              <a:buSzPct val="100000"/>
              <a:buChar char="•"/>
            </a:pPr>
            <a:r>
              <a:rPr lang="en-US" sz="1000" dirty="0">
                <a:solidFill>
                  <a:srgbClr val="3A3A3A"/>
                </a:solidFill>
                <a:latin typeface="Frutiger 45 Light" pitchFamily="34" charset="0"/>
                <a:ea typeface="Frutiger 45 Light" pitchFamily="34" charset="-122"/>
                <a:cs typeface="Frutiger 45 Light" pitchFamily="34" charset="-120"/>
              </a:rPr>
              <a:t>We are agreeing how we measure it: how we score what it pulls from documents, and what good enough means.</a:t>
            </a:r>
            <a:endParaRPr lang="en-US" sz="1000" dirty="0"/>
          </a:p>
          <a:p>
            <a:pPr marL="152400" indent="-152400">
              <a:spcAft>
                <a:spcPts val="600"/>
              </a:spcAft>
              <a:buSzPct val="100000"/>
              <a:buChar char="•"/>
            </a:pPr>
            <a:r>
              <a:rPr lang="en-US" sz="1000" dirty="0">
                <a:solidFill>
                  <a:srgbClr val="3A3A3A"/>
                </a:solidFill>
                <a:latin typeface="Frutiger 45 Light" pitchFamily="34" charset="0"/>
                <a:ea typeface="Frutiger 45 Light" pitchFamily="34" charset="-122"/>
                <a:cs typeface="Frutiger 45 Light" pitchFamily="34" charset="-120"/>
              </a:rPr>
              <a:t>We are setting the guardrails: what it may do on its own, and where a person must step in.</a:t>
            </a:r>
            <a:endParaRPr lang="en-US" sz="1000" dirty="0"/>
          </a:p>
        </p:txBody>
      </p:sp>
      <p:sp>
        <p:nvSpPr>
          <p:cNvPr id="52" name="Text 49"/>
          <p:cNvSpPr txBox="1"/>
          <p:nvPr/>
        </p:nvSpPr>
        <p:spPr>
          <a:xfrm>
            <a:off x="10271455" y="6473952"/>
            <a:ext cx="10515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53" name="Text 50"/>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Value twice over:</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for Credit Risk Review, and for Risk</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Time and consistency for the first application. A shared, reusable document foundation for the organization.</a:t>
            </a:r>
            <a:endParaRPr lang="en-US" sz="1400" dirty="0"/>
          </a:p>
        </p:txBody>
      </p:sp>
      <p:sp>
        <p:nvSpPr>
          <p:cNvPr id="4" name="Shape 2"/>
          <p:cNvSpPr/>
          <p:nvPr/>
        </p:nvSpPr>
        <p:spPr>
          <a:xfrm>
            <a:off x="457200" y="1554480"/>
            <a:ext cx="5455768" cy="3703320"/>
          </a:xfrm>
          <a:prstGeom prst="rect">
            <a:avLst/>
          </a:prstGeom>
          <a:solidFill>
            <a:srgbClr val="ECEBE4"/>
          </a:solidFill>
          <a:ln w="12700">
            <a:solidFill>
              <a:srgbClr val="ECEBE4"/>
            </a:solidFill>
            <a:prstDash val="solid"/>
          </a:ln>
        </p:spPr>
      </p:sp>
      <p:sp>
        <p:nvSpPr>
          <p:cNvPr id="5" name="Text 3"/>
          <p:cNvSpPr txBox="1"/>
          <p:nvPr/>
        </p:nvSpPr>
        <p:spPr>
          <a:xfrm>
            <a:off x="731520" y="1810512"/>
            <a:ext cx="4907128" cy="292608"/>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For Credit Risk Review</a:t>
            </a:r>
            <a:endParaRPr lang="en-US" sz="1400" dirty="0"/>
          </a:p>
        </p:txBody>
      </p:sp>
      <p:sp>
        <p:nvSpPr>
          <p:cNvPr id="6" name="Text 4"/>
          <p:cNvSpPr txBox="1"/>
          <p:nvPr/>
        </p:nvSpPr>
        <p:spPr>
          <a:xfrm>
            <a:off x="731520" y="2331720"/>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Time back for judgment.</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Reviewer hours move from assembling documents to analysis: more productive use of scarce SME capability.</a:t>
            </a:r>
            <a:endParaRPr lang="en-US" sz="1200" dirty="0"/>
          </a:p>
        </p:txBody>
      </p:sp>
      <p:sp>
        <p:nvSpPr>
          <p:cNvPr id="7" name="Text 5"/>
          <p:cNvSpPr txBox="1"/>
          <p:nvPr/>
        </p:nvSpPr>
        <p:spPr>
          <a:xfrm>
            <a:off x="731520" y="3300984"/>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Less variation.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Every workpaper holds to the same questions and standards, whoever prepares it.</a:t>
            </a:r>
            <a:endParaRPr lang="en-US" sz="1200" dirty="0"/>
          </a:p>
        </p:txBody>
      </p:sp>
      <p:sp>
        <p:nvSpPr>
          <p:cNvPr id="8" name="Text 6"/>
          <p:cNvSpPr txBox="1"/>
          <p:nvPr/>
        </p:nvSpPr>
        <p:spPr>
          <a:xfrm>
            <a:off x="731520" y="4270248"/>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Stronger challenge.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Positions backed by cited evidence let us challenge risk assumptions across the organization from firmer ground.</a:t>
            </a:r>
            <a:endParaRPr lang="en-US" sz="1200" dirty="0"/>
          </a:p>
        </p:txBody>
      </p:sp>
      <p:sp>
        <p:nvSpPr>
          <p:cNvPr id="9" name="Shape 7"/>
          <p:cNvSpPr/>
          <p:nvPr/>
        </p:nvSpPr>
        <p:spPr>
          <a:xfrm>
            <a:off x="6278728" y="1554480"/>
            <a:ext cx="5455768" cy="3703320"/>
          </a:xfrm>
          <a:prstGeom prst="rect">
            <a:avLst/>
          </a:prstGeom>
          <a:solidFill>
            <a:srgbClr val="ECEBE4"/>
          </a:solidFill>
          <a:ln w="12700">
            <a:solidFill>
              <a:srgbClr val="ECEBE4"/>
            </a:solidFill>
            <a:prstDash val="solid"/>
          </a:ln>
        </p:spPr>
      </p:sp>
      <p:sp>
        <p:nvSpPr>
          <p:cNvPr id="10" name="Text 8"/>
          <p:cNvSpPr txBox="1"/>
          <p:nvPr/>
        </p:nvSpPr>
        <p:spPr>
          <a:xfrm>
            <a:off x="6553048" y="1810512"/>
            <a:ext cx="4907128" cy="292608"/>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For the organization</a:t>
            </a:r>
            <a:endParaRPr lang="en-US" sz="1400" dirty="0"/>
          </a:p>
        </p:txBody>
      </p:sp>
      <p:sp>
        <p:nvSpPr>
          <p:cNvPr id="11" name="Text 9"/>
          <p:cNvSpPr txBox="1"/>
          <p:nvPr/>
        </p:nvSpPr>
        <p:spPr>
          <a:xfrm>
            <a:off x="6553048" y="2331720"/>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A common knowledge graph of credit documentation.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Every document processed once, reusable by design across teams.</a:t>
            </a:r>
            <a:endParaRPr lang="en-US" sz="1200" dirty="0"/>
          </a:p>
        </p:txBody>
      </p:sp>
      <p:sp>
        <p:nvSpPr>
          <p:cNvPr id="12" name="Text 10"/>
          <p:cNvSpPr txBox="1"/>
          <p:nvPr/>
        </p:nvSpPr>
        <p:spPr>
          <a:xfrm>
            <a:off x="6553048" y="3300984"/>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Controls built in, not bolted 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Traceability, human adjudication, and business-context configuration are platform features every application inherits.</a:t>
            </a:r>
            <a:endParaRPr lang="en-US" sz="1200" dirty="0"/>
          </a:p>
        </p:txBody>
      </p:sp>
      <p:sp>
        <p:nvSpPr>
          <p:cNvPr id="13" name="Text 11"/>
          <p:cNvSpPr txBox="1"/>
          <p:nvPr/>
        </p:nvSpPr>
        <p:spPr>
          <a:xfrm>
            <a:off x="6553048" y="4270248"/>
            <a:ext cx="4907128" cy="91440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Configured, not built.</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Target operating model: business-led configuration, no code or low code, so new applications need no new build.</a:t>
            </a:r>
            <a:endParaRPr lang="en-US" sz="1200" dirty="0"/>
          </a:p>
        </p:txBody>
      </p:sp>
      <p:sp>
        <p:nvSpPr>
          <p:cNvPr id="14" name="Shape 12"/>
          <p:cNvSpPr/>
          <p:nvPr/>
        </p:nvSpPr>
        <p:spPr>
          <a:xfrm>
            <a:off x="457200" y="5486400"/>
            <a:ext cx="11277295" cy="685800"/>
          </a:xfrm>
          <a:prstGeom prst="rect">
            <a:avLst/>
          </a:prstGeom>
          <a:solidFill>
            <a:srgbClr val="B8B3A2"/>
          </a:solidFill>
          <a:ln w="12700">
            <a:solidFill>
              <a:srgbClr val="B8B3A2"/>
            </a:solidFill>
            <a:prstDash val="solid"/>
          </a:ln>
        </p:spPr>
      </p:sp>
      <p:sp>
        <p:nvSpPr>
          <p:cNvPr id="15" name="Text 13"/>
          <p:cNvSpPr txBox="1"/>
          <p:nvPr/>
        </p:nvSpPr>
        <p:spPr>
          <a:xfrm>
            <a:off x="731520" y="5486400"/>
            <a:ext cx="10728655" cy="685800"/>
          </a:xfrm>
          <a:prstGeom prst="rect">
            <a:avLst/>
          </a:prstGeom>
          <a:noFill/>
          <a:ln/>
        </p:spPr>
        <p:txBody>
          <a:bodyPr wrap="square" lIns="0" tIns="0" rIns="0" bIns="0" rtlCol="0" anchor="ctr"/>
          <a:lstStyle/>
          <a:p>
            <a:pPr algn="ctr" indent="0" marL="0">
              <a:buNone/>
            </a:pPr>
            <a:r>
              <a:rPr lang="en-US" sz="1300" i="1" dirty="0">
                <a:solidFill>
                  <a:srgbClr val="1E1E1E"/>
                </a:solidFill>
                <a:latin typeface="Frutiger 45 Light" pitchFamily="34" charset="0"/>
                <a:ea typeface="Frutiger 45 Light" pitchFamily="34" charset="-122"/>
                <a:cs typeface="Frutiger 45 Light" pitchFamily="34" charset="-120"/>
              </a:rPr>
              <a:t>"Sentinel gives Risk a common, controlled way to convert evidence into better-prepared human judgment."</a:t>
            </a:r>
            <a:endParaRPr lang="en-US" sz="1300" dirty="0"/>
          </a:p>
        </p:txBody>
      </p:sp>
      <p:sp>
        <p:nvSpPr>
          <p:cNvPr id="17" name="Text 14"/>
          <p:cNvSpPr txBox="1"/>
          <p:nvPr/>
        </p:nvSpPr>
        <p:spPr>
          <a:xfrm>
            <a:off x="10271455" y="6473952"/>
            <a:ext cx="10515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18" name="Text 15"/>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Sentinel</dc:title>
  <dc:subject>PptxGenJS Presentation</dc:subject>
  <dc:creator>Credit Risk Review</dc:creator>
  <cp:lastModifiedBy>Credit Risk Review</cp:lastModifiedBy>
  <cp:revision>1</cp:revision>
  <dcterms:created xsi:type="dcterms:W3CDTF">2026-08-31T23:44:41Z</dcterms:created>
  <dcterms:modified xsi:type="dcterms:W3CDTF">2026-08-31T23:44:41Z</dcterms:modified>
</cp:coreProperties>
</file>