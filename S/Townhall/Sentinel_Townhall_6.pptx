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3405104" cy="7772400"/>
  <p:notesSz cx="7772400" cy="134051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2383536"/>
            <a:ext cx="1239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Project Sentinel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331622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One foundation for Risk's document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704" y="4248912"/>
            <a:ext cx="1239969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  |  Group Risk Control COO townhall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Different Risk questions revealed the same document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Sentinel will prepare the evidence so reviewers can spend their time on judgment.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704" y="1658112"/>
            <a:ext cx="4926499" cy="4932883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326" y="1886102"/>
            <a:ext cx="43232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Sentinel will 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326" y="240426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Organize the evidence.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Find the relevant text, tables, and figures.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326" y="344058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Prepare the analysis.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Structure the evidence into the team's required output.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326" y="447690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Show its work.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Link each statement back to its source.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326" y="551322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Hold for review.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Route defined exceptions and uncertain outputs to a person.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31366" y="1658112"/>
            <a:ext cx="7071034" cy="4932883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32988" y="1865376"/>
            <a:ext cx="646778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Where it started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32988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2988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9640" y="2362810"/>
            <a:ext cx="241298" cy="207264"/>
          </a:xfrm>
          <a:prstGeom prst="right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1208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61208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97860" y="2362810"/>
            <a:ext cx="241298" cy="207264"/>
          </a:xfrm>
          <a:prstGeom prst="right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429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9429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26080" y="2362810"/>
            <a:ext cx="241298" cy="207264"/>
          </a:xfrm>
          <a:prstGeom prst="right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17649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17649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Source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32988" y="2839517"/>
            <a:ext cx="646778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An early proof of concept: ask a document a question, get an answer with its source.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32988" y="3378403"/>
            <a:ext cx="646778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it revealed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32988" y="3710026"/>
            <a:ext cx="64677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Different use cases require the same core document capabilities.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32988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32988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70543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152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152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27706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7316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47316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Personal &amp; Corporate Banking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84870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4479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11104479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Future uses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742034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2988" y="5305958"/>
            <a:ext cx="6467789" cy="808330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83800" y="5305958"/>
            <a:ext cx="6166167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foundation: </a:t>
            </a:r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ingest documents | understand content | retrieve evidence | preserve sources | control access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704" y="6798259"/>
            <a:ext cx="12399696" cy="497434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326" y="6798259"/>
            <a:ext cx="11796451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Judgment stays with people.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Sentinel prepares the work; the reviewer checks, challenges, and decides.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One shared foundation. Each team brings its own rules.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Reusable Risk capabilities are assembled once; applications configure the business meaning.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704" y="1575206"/>
            <a:ext cx="6032448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Applications, owned by Risk teams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704" y="1865376"/>
            <a:ext cx="2965953" cy="1222858"/>
          </a:xfrm>
          <a:prstGeom prst="rect">
            <a:avLst/>
          </a:prstGeom>
          <a:solidFill>
            <a:srgbClr val="ECEBE4"/>
          </a:solidFill>
          <a:ln w="19050">
            <a:solidFill>
              <a:srgbClr val="E6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3677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first application, in design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"What evidence supports the review?"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5086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47285" y="1865376"/>
            <a:ext cx="2965953" cy="122285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28258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ERM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planned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"Which clients are exposed to this event?"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19667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1866" y="1865376"/>
            <a:ext cx="2965953" cy="122285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72839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Personal &amp; Corporate Banking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planned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"What data is in these documents?"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64248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36447" y="1865376"/>
            <a:ext cx="2965953" cy="1222858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10117420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Future applications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target operating model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Questions | standards | outputs |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308828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704" y="3419856"/>
            <a:ext cx="12399696" cy="2652979"/>
          </a:xfrm>
          <a:prstGeom prst="rect">
            <a:avLst/>
          </a:prstGeom>
          <a:solidFill>
            <a:srgbClr val="B8B3A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056" y="3513125"/>
            <a:ext cx="5027040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Sentinel foundation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056" y="3855110"/>
            <a:ext cx="11896992" cy="373075"/>
          </a:xfrm>
          <a:prstGeom prst="roundRect">
            <a:avLst>
              <a:gd name="adj" fmla="val 48509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5138" y="3855110"/>
            <a:ext cx="11494829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Sentinel Orchestrator</a:t>
            </a:r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      authorises | routes | composes every request across the foundation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1645" y="4181551"/>
            <a:ext cx="90487" cy="93269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6888" y="4269638"/>
            <a:ext cx="0" cy="145085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4597" y="4435450"/>
            <a:ext cx="376458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Business configuration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4597" y="4746346"/>
            <a:ext cx="376458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Use-case configuration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Reviewer adjudication &amp; audit record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57309" y="4181551"/>
            <a:ext cx="90487" cy="93269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2552" y="4269638"/>
            <a:ext cx="0" cy="145085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0261" y="4435450"/>
            <a:ext cx="376458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 intelligence &amp; retrieval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20261" y="4746346"/>
            <a:ext cx="376458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Ingestion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DEEP document understanding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 retrieval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19720" y="4435450"/>
            <a:ext cx="0" cy="11399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22973" y="4181551"/>
            <a:ext cx="90487" cy="93269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68216" y="4269638"/>
            <a:ext cx="0" cy="145085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85925" y="4435450"/>
            <a:ext cx="376458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Governed knowledge &amp; data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85925" y="4746346"/>
            <a:ext cx="376458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VEGA knowledge &amp; index layer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Governed document &amp; data stores (Hive)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Lineage &amp; permissions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5384" y="4435450"/>
            <a:ext cx="0" cy="11399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704" y="5720486"/>
            <a:ext cx="12399696" cy="352349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704" y="5720486"/>
            <a:ext cx="12399696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Cross-cutting controls:  </a:t>
            </a:r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source traceability  |  access control  |  monitoring  |  human review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704" y="6311189"/>
            <a:ext cx="2010816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 sources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14601" y="6217920"/>
            <a:ext cx="3228365" cy="455981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14601" y="6217920"/>
            <a:ext cx="3228365" cy="45598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Upstream systems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4318" y="6217920"/>
            <a:ext cx="3228365" cy="455981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94318" y="6217920"/>
            <a:ext cx="3228365" cy="45598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Direct upload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674035" y="6217920"/>
            <a:ext cx="3228365" cy="455981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74035" y="6217920"/>
            <a:ext cx="3228365" cy="45598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Monitored repositories (SharePoint)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704" y="6798259"/>
            <a:ext cx="12399696" cy="497434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326" y="6798259"/>
            <a:ext cx="11796451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Ownership: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the platform owns the common capabilities and controls; each Risk team owns its questions, standards, workflow, and decisions.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The platform design is defined. Execution is now underway.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Core requirements and the shared foundation design are defined; current work prepares the data, validation, and controls needed to build.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704" y="1678838"/>
            <a:ext cx="5630284" cy="414528"/>
          </a:xfrm>
          <a:prstGeom prst="chevron">
            <a:avLst/>
          </a:prstGeom>
          <a:solidFill>
            <a:srgbClr val="B8B3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3515" y="1678838"/>
            <a:ext cx="532866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Q3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32988" y="1678838"/>
            <a:ext cx="3820550" cy="414528"/>
          </a:xfrm>
          <a:prstGeom prst="chevron">
            <a:avLst/>
          </a:prstGeom>
          <a:solidFill>
            <a:srgbClr val="ECEB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83800" y="1678838"/>
            <a:ext cx="35189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Q4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953539" y="1678838"/>
            <a:ext cx="2945845" cy="414528"/>
          </a:xfrm>
          <a:prstGeom prst="chevron">
            <a:avLst/>
          </a:prstGeom>
          <a:solidFill>
            <a:srgbClr val="ECEB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04350" y="1678838"/>
            <a:ext cx="2644223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2027 and beyond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704" y="3057144"/>
            <a:ext cx="4122173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4877" y="3057144"/>
            <a:ext cx="754056" cy="0"/>
          </a:xfrm>
          <a:prstGeom prst="line">
            <a:avLst/>
          </a:prstGeom>
          <a:noFill/>
          <a:ln w="31750">
            <a:solidFill>
              <a:srgbClr val="E6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78932" y="3057144"/>
            <a:ext cx="854597" cy="0"/>
          </a:xfrm>
          <a:prstGeom prst="line">
            <a:avLst/>
          </a:prstGeom>
          <a:noFill/>
          <a:ln w="31750">
            <a:solidFill>
              <a:srgbClr val="E6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529" y="3057144"/>
            <a:ext cx="3720009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3539" y="3057144"/>
            <a:ext cx="2945845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378932" y="2155546"/>
            <a:ext cx="0" cy="2010461"/>
          </a:xfrm>
          <a:prstGeom prst="line">
            <a:avLst/>
          </a:prstGeom>
          <a:noFill/>
          <a:ln w="12700">
            <a:solidFill>
              <a:srgbClr val="E6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554498" y="2176272"/>
            <a:ext cx="74400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Today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7463" y="2932786"/>
            <a:ext cx="241298" cy="248717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056" y="3222955"/>
            <a:ext cx="1508112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Jul: proof of concept demonstrated the approach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96656" y="2932786"/>
            <a:ext cx="241298" cy="248717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12979" y="2041550"/>
            <a:ext cx="1608653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Aug: core requirements defined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5580" y="2932786"/>
            <a:ext cx="241298" cy="248717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8119" y="3222955"/>
            <a:ext cx="1156219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Sep: platform architecture defined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2880" y="2932786"/>
            <a:ext cx="241298" cy="248717"/>
          </a:xfrm>
          <a:prstGeom prst="diamond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8662" y="2041550"/>
            <a:ext cx="1809734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Development and validation preparation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4237" y="2932786"/>
            <a:ext cx="241298" cy="248717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6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0289" y="3222955"/>
            <a:ext cx="1709193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Build the shared foundation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84242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6240" y="3222955"/>
            <a:ext cx="1357301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Release 1: Assemble and Assess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88027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53539" y="2041550"/>
            <a:ext cx="1910275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Additional applications onboard; ERM's standalone application merges onto the platform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592353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059487" y="3222955"/>
            <a:ext cx="130703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Release 2: Challenge and Adjudicate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2346409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039760" y="2041550"/>
            <a:ext cx="854597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Release 3: Learn and Scale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758" y="4217822"/>
            <a:ext cx="180973" cy="186538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4218" y="4207459"/>
            <a:ext cx="1005408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complete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70059" y="4217822"/>
            <a:ext cx="180973" cy="186538"/>
          </a:xfrm>
          <a:prstGeom prst="diamond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41519" y="4207459"/>
            <a:ext cx="1206490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 execution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28441" y="4217822"/>
            <a:ext cx="180973" cy="18653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99901" y="4207459"/>
            <a:ext cx="2915683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staged sequence, not yet dated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704" y="4601261"/>
            <a:ext cx="5228121" cy="2507894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4056" y="4767072"/>
            <a:ext cx="47254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is defined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54056" y="5160874"/>
            <a:ext cx="4725417" cy="1803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Core business and technical requirements defined.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Sentinel foundation designed and scoped.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Initial application requirements scoped; Credit Risk Review most advanced, others at varying stages.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82718" y="4601261"/>
            <a:ext cx="6819682" cy="2507894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64232" y="4767072"/>
            <a:ext cx="6256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Happening now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364232" y="5181600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Assemble the inputs.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Development and validation documents, golden sources, and internal standards.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643370" y="5181600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Complete the requirements.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Remaining application-specific requirements.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364232" y="6135014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Design the validation.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Test sets, scoring methods, and acceptance criteria.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643370" y="6135014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Set the guardrails.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Reviewer checkpoints, human-review rules, and operational controls.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Every application adds value and makes the platform stronger.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Better-prepared review work, and a growing layer of connected Risk knowledge.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704" y="1720291"/>
            <a:ext cx="5529744" cy="478779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326" y="1927555"/>
            <a:ext cx="4926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For Credit Risk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326" y="2259178"/>
            <a:ext cx="492649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From assembling information to adjudicating a prepared, evidence-backed assessment.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18166" y="2943149"/>
            <a:ext cx="0" cy="2259178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7787" y="3140050"/>
            <a:ext cx="140757" cy="124358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7787" y="4010558"/>
            <a:ext cx="140757" cy="124358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7787" y="4881067"/>
            <a:ext cx="140757" cy="124358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326" y="2590800"/>
            <a:ext cx="1427679" cy="352349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326" y="2590800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Assemble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3249" y="2570074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Evidence-cited workpaper.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Facts organized into CRR's review 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326" y="3461309"/>
            <a:ext cx="1427679" cy="352349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326" y="3461309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Assess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63249" y="3440582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Apply review questions, standards, and thresholds.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Build a reasoned position from source facts and governing criteria.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326" y="4331818"/>
            <a:ext cx="1427679" cy="352349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326" y="4331818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63249" y="4311091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Deliberately test the initial assessment.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Surface unsupported assumptions, overlooked risk, and contrary evidence.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326" y="5202326"/>
            <a:ext cx="1427679" cy="352349"/>
          </a:xfrm>
          <a:prstGeom prst="rect">
            <a:avLst/>
          </a:prstGeom>
          <a:solidFill>
            <a:srgbClr val="FFFFFF"/>
          </a:solidFill>
          <a:ln w="15875">
            <a:solidFill>
              <a:srgbClr val="E6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326" y="5202326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Adjudicate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63249" y="5181600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Reviewer rules and records rationale.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Human judgment remains the outcome of record.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326" y="6052109"/>
            <a:ext cx="4926499" cy="331622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326" y="6052109"/>
            <a:ext cx="4926499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Each ruling builds a durable record of applied CRR judgment.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84340" y="1720291"/>
            <a:ext cx="6518060" cy="478779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85963" y="1948282"/>
            <a:ext cx="5914815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Network effects across Risk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85963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85963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82044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9856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9856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95937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3749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13749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Personal &amp; Corporate Banking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09830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27642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11227642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Future applications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823723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85963" y="3046781"/>
            <a:ext cx="5914815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Each application consumes and contributes knowledge.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85963" y="3336950"/>
            <a:ext cx="5914815" cy="1803197"/>
          </a:xfrm>
          <a:prstGeom prst="roundRect">
            <a:avLst>
              <a:gd name="adj" fmla="val 6691"/>
            </a:avLst>
          </a:prstGeom>
          <a:solidFill>
            <a:srgbClr val="F5F0E1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85963" y="3409493"/>
            <a:ext cx="5914815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knowledge graph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flipV="1">
            <a:off x="7610938" y="3906926"/>
            <a:ext cx="1839897" cy="72542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50835" y="3906926"/>
            <a:ext cx="1860005" cy="72542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10938" y="3979469"/>
            <a:ext cx="935029" cy="580339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545967" y="3906926"/>
            <a:ext cx="904867" cy="652882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0835" y="3906926"/>
            <a:ext cx="874705" cy="715061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310839" y="3979469"/>
            <a:ext cx="583137" cy="51816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5967" y="4559808"/>
            <a:ext cx="1779572" cy="62179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325539" y="4497629"/>
            <a:ext cx="1568436" cy="124358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8545967" y="4497629"/>
            <a:ext cx="3348008" cy="62179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87585" y="3813658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87585" y="3813658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827482" y="3741115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27482" y="3741115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entities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687486" y="3813658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687486" y="3813658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922615" y="4393997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922615" y="4393997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702187" y="4456176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702187" y="4456176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controls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270623" y="4331818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1270623" y="4331818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685963" y="4870704"/>
            <a:ext cx="5914815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provenance kept to the source  |  queried, validated, and extended over time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685963" y="5243779"/>
            <a:ext cx="5914815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Richer with every application.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Applications reuse authorized knowledge and contribute structured evidence and relationships back.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685963" y="5720486"/>
            <a:ext cx="5914815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Controls inherited, not rebuilt.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Traceability, permissions, and human adjudication come with the platform.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32661" y="6093562"/>
            <a:ext cx="3368117" cy="310896"/>
          </a:xfrm>
          <a:prstGeom prst="roundRect">
            <a:avLst>
              <a:gd name="adj" fmla="val 48509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32661" y="6093562"/>
            <a:ext cx="33681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Target state: configure, don't rebuild.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704" y="6632448"/>
            <a:ext cx="12399696" cy="704698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04326" y="6632448"/>
            <a:ext cx="11796451" cy="7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"Sentinel gives Risk a common, controlled way to convert evidence into better-prepared human judgment."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Sentinel</dc:title>
  <dc:subject>PptxGenJS Presentation</dc:subject>
  <dc:creator>Credit Risk Review</dc:creator>
  <cp:lastModifiedBy>Credit Risk Review</cp:lastModifiedBy>
  <cp:revision>1</cp:revision>
  <dcterms:created xsi:type="dcterms:W3CDTF">2026-09-02T16:12:18Z</dcterms:created>
  <dcterms:modified xsi:type="dcterms:W3CDTF">2026-09-02T16:12:18Z</dcterms:modified>
</cp:coreProperties>
</file>