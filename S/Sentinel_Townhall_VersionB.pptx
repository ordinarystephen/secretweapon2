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spoken over this slide (about a minute). Optional: drop this slide if the master deck has its own divider.
You have just watched FAIR reading financial statements at scale, in production. I am going to take you one step earlier in the lifecycle, to something we are designing right now. It is in the same family: software that reads documents and pulls out what matters. It has a different job, preparing analysis and review rather than processing, and it is being built as a shared foundation for any team in Risk.
Every discipline in this room does a version of the same thing before it forms a view. We find the documents, read them, pull out what matters, and assemble it into something we can reason about. Only then does the risk judgment begin. That preparation is where a large share of our time goes, and it is not the part of the job that needs our expertise.
Sentinel is the answer to that. It started as one team's proof of concept. It is becoming a shared capability for Risk. Four slides: what it is and where it came from, how it is built, where we are, and what it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where this came from, because it explains what it is.
A team in IB Commercial Lending [confirm; name the lead if you choose to credit them] built a proof of concept with a simple idea: upload a document, ask it a question, get an answer, and see where in the document the answer came from. It worked. And when I looked at it, what struck me was not the question-answering. It was everything underneath it. To answer one question well, that proof of concept had to take in a document, read it properly, find the passage that mattered, cite it, and control who could see it. Those are exactly the problems every Risk team has, whatever the documents and whatever the questions.
That was the insight behind Sentinel. Solve the hard part once, as a shared foundation, and let every group bring its own meaning: its own questions, its own standards, its own output. Credit Risk Review is the first application, because our work is as document-heavy as it gets. When a reviewer picks up a borrower, the first job is not analysis. It is logistics: credit agreements, financials, underwriting memos, covenant compliance, correspondence, sitting in different systems and shared folders. Hours, sometimes days, before a single judgment is written. And because it is manual, it varies by person, it goes stale, and statements do not always trace back to a source.
So here is what Sentinel will do. It will organize the evidence: read the documents and find the relevant text, tables, and figures. It will prepare the analysis: structure what it finds into the output the team needs. For us, that is a workpaper, section by section. It will show its work: every statement links back to the page it came from, so the reviewer can check it in one click. And it will keep people accountable: where it is not confident, it will say so and flag the item for review.
I want to be precise about that last point, because this is a Risk audience and you should hold me to it. Sentinel will not make risk judgments. It will not grade anything. It is not replacing reviewers and it is not replacing our systems of record. It addresses the document-heavy work that happens before judgment. Interpretation, challenge, approval, and the final conclusion stay with the person whose name is on the review.
Sentinel will automate preparation, not accountability.
Transition: Here is how it is put together, and this is the work we are doing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diagram I will show you, and it is not a technical one. It is about who owns what. It is also the work we are doing right now: this is the architecture we are defining with IT so the foundation gets built once, properly.
Start at the bottom: where documents will come from. Our upstream systems, direct upload, and monitored SharePoint folders. Documents flow in once.
The middle is the shared foundation, the part built and controlled once, for everybody. Eight capabilities. It takes in documents and reads text, tables, and images. It finds what matters and cites every source. It flags what it is unsure about. It holds each team's rules, version-controlled, so we always know which version of a standard a conclusion was held to. And it monitors itself, keeps records, and keeps each team's data separate and access controlled. Each of those is a control problem solved once, never re-solved by the next team. That is the point of a platform.
The top is the applications, and this is where the meaning lives. Each Risk team owns its own. Credit Risk Review is the first: deep review of borrower relationships, workpapers with every statement cited, and, in a later release, a built-in second opinion where Sentinel argues the other side and the reviewer decides. IB Event Identification grew out of the Commercial Lending use case. Its question: which clients are exposed to this event? It scans documents across the whole portfolio. Vantage is the Personal &amp; Corporate Banking use case. Its question: what value is in this document? It extracts fields with the page highlighted and a reason, and other platforms can use it as a capability. Same foundation, different meaning.
One more point. IT has now drafted the platform design, and their deck opens with four words: process once, use many times. We did not write that for them. When business and engineering tell the same story independently, the architecture is right.
And the target operating model makes the top row grow without new builds. A future application is configured, not built: the team supplies its questions, policies, templates, thresholds, and sign-off points, through business-led, no-code or low-code configuration. Engineering owns the components and the controlled deployment; the business owns the content and what the tool is supposed to do. That split is what keeps accountability clear.
The platform provides the mechanism; the risk team provides the meaning.
Transition: So where are we on actually building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where this is, because you have just seen something in production and this is not that.
Start at the dashed line. That is today, and we are in the middle of design workshops with IT and Data. Everything to the left of the line is done. Everything to the right is either dated, or hollow, which means the timing firms up once the build is sized.
Look left first. The top lane is where this started: the Commercial Lending proof of concept, approved in June. That team keeps its tactical solution in the meantime; when the platform is ready, their use case migrates onto it. Nobody waits, and nobody builds twice.
The bottom lane is Sentinel. In July we confirmed the proof of concept and the benefits case. The extended proof of concept reads credit documents, cites the evidence, and fills the six workpaper sections our reviewers use. It convinced us the approach works. It is not a production application and it is not going through governance as one.
Alongside that, the groundwork: our requirements written down, the analyst journey documented step by step, and, as of a few days ago, a draft platform design from IT. Three applications are designed on one foundation: our review workpapers, IB Event Identification, and Vantage, which is why I can talk about a platform rather than a tool.
Now look right. September: the architecture goes to the AI Forum for ratification, and the draft design is already on the table. That draft proposes the foundation through December and all three applications by the end of the first quarter. I am showing you hollow diamonds anyway, because those dates firm up at ratification, and I would rather beat a date I did not promise than miss one I did. Then the releases, which are deliberately staged. Release 1, Assemble and Assess: the evidence-backed workpaper, validated and tested alongside the current process before anyone depends on it. Release 2, Challenge and Adjudicate: Sentinel presents a counter-position with its own evidence, and the reviewer rules on it and records why. That gives us something we have never had, an auditable record of applied judgment. Release 3, Learn and Scale: governed learning from reviewer feedback, connection to upstream systems, and the next teams onboarding, starting with Personal &amp; Corporate Banking and the Commercial Lending use case coming home to the platform.
The principle is simple: start with one controlled application, prove trust, then expand.
Transition: Which brings me to what all of this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this worth? Two answers: one for my team, and one for the organization.
For Credit Risk Review, the first thing is time. Our scarcest resource is not software; it is senior reviewer judgment. Today a large share of that judgment is spent finding, extracting, and assembling before the real work starts. Sentinel takes the assembly, and our specialists get their hours back for the analysis only they can do.
The second is consistency. When every workpaper is prepared against the same questions and the same standards, the work product stops varying by author. Same borrower, same evidence, same rigor, whoever picks it up.
And the third is the one I care most about. Credit Risk Review exists to challenge risk assumptions in this organization. When every position we take is backed by evidence cited to the page, and, in a later release, when Sentinel argues the counter-position and the reviewer rules on it and records why, we challenge from firmer ground, and we accumulate an auditable record of applied judgment. Our expertise stops living only in people's heads. This platform will bring tremendous value to how this team works.
For the organization, the value compounds. Every document Sentinel processes is processed once, and becomes part of a common knowledge graph of credit documentation: a connected, governed picture of what our documents actually say, reusable by design across teams. The day a policy changes or an event hits a sector, the organization can put questions to its documents instead of to a dozen shared drives.
And the things a risk function worries about most are not left to each team to solve. Traceability, human adjudication, and business-context configuration are built into the platform itself. Every application inherits them by construction; nobody rebuilds them, and nobody gets them subtly wrong.
Which is why the target operating model matters: business-led configuration, no code or low code. A team with a document-heavy process configures its questions and standards onto the platform; it does not commission a build. That is how three applications become many, without the cost or the risk of many builds.
I will close with this. Sentinel gives Risk a common, controlled way to convert evidence into better-prepared human judgment. The judgment stays with us. The preparation does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103120"/>
            <a:ext cx="11277295" cy="822960"/>
          </a:xfrm>
          <a:prstGeom prst="rect">
            <a:avLst/>
          </a:prstGeom>
          <a:noFill/>
          <a:ln/>
        </p:spPr>
        <p:txBody>
          <a:bodyPr wrap="square" lIns="0" tIns="0" rIns="0" bIns="0" rtlCol="0" anchor="ctr"/>
          <a:lstStyle/>
          <a:p>
            <a:pPr indent="0" marL="0">
              <a:buNone/>
            </a:pPr>
            <a:r>
              <a:rPr lang="en-US" sz="4000" dirty="0">
                <a:solidFill>
                  <a:srgbClr val="1E1E1E"/>
                </a:solidFill>
                <a:latin typeface="Frutiger 45 Light" pitchFamily="34" charset="0"/>
                <a:ea typeface="Frutiger 45 Light" pitchFamily="34" charset="-122"/>
                <a:cs typeface="Frutiger 45 Light" pitchFamily="34" charset="-120"/>
              </a:rPr>
              <a:t>Project Sentinel</a:t>
            </a:r>
            <a:endParaRPr lang="en-US" sz="4000" dirty="0"/>
          </a:p>
        </p:txBody>
      </p:sp>
      <p:sp>
        <p:nvSpPr>
          <p:cNvPr id="3" name="Text 1"/>
          <p:cNvSpPr txBox="1"/>
          <p:nvPr/>
        </p:nvSpPr>
        <p:spPr>
          <a:xfrm>
            <a:off x="457200" y="2926080"/>
            <a:ext cx="11277295" cy="548640"/>
          </a:xfrm>
          <a:prstGeom prst="rect">
            <a:avLst/>
          </a:prstGeom>
          <a:noFill/>
          <a:ln/>
        </p:spPr>
        <p:txBody>
          <a:bodyPr wrap="square" lIns="0" tIns="0" rIns="0" bIns="0" rtlCol="0" anchor="ctr"/>
          <a:lstStyle/>
          <a:p>
            <a:pPr indent="0" marL="0">
              <a:buNone/>
            </a:pPr>
            <a:r>
              <a:rPr lang="en-US" sz="2400" dirty="0">
                <a:solidFill>
                  <a:srgbClr val="000000"/>
                </a:solidFill>
                <a:latin typeface="Frutiger 45 Light" pitchFamily="34" charset="0"/>
                <a:ea typeface="Frutiger 45 Light" pitchFamily="34" charset="-122"/>
                <a:cs typeface="Frutiger 45 Light" pitchFamily="34" charset="-120"/>
              </a:rPr>
              <a:t>One foundation for Risk's document work</a:t>
            </a:r>
            <a:endParaRPr lang="en-US" sz="2400" dirty="0"/>
          </a:p>
        </p:txBody>
      </p:sp>
      <p:sp>
        <p:nvSpPr>
          <p:cNvPr id="4" name="Text 2"/>
          <p:cNvSpPr txBox="1"/>
          <p:nvPr/>
        </p:nvSpPr>
        <p:spPr>
          <a:xfrm>
            <a:off x="457200" y="3749040"/>
            <a:ext cx="11277295" cy="365760"/>
          </a:xfrm>
          <a:prstGeom prst="rect">
            <a:avLst/>
          </a:prstGeom>
          <a:noFill/>
          <a:ln/>
        </p:spPr>
        <p:txBody>
          <a:bodyPr wrap="square" lIns="0" tIns="0" rIns="0" bIns="0" rtlCol="0" anchor="ctr"/>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Credit Risk Review  |  Group Risk Control COO townhall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One team's question became </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a capability for all of Risk</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Sentinel will do the document preparation, so our reviewers spend their time on judgment.</a:t>
            </a:r>
            <a:endParaRPr lang="en-US" sz="1400" dirty="0"/>
          </a:p>
        </p:txBody>
      </p:sp>
      <p:sp>
        <p:nvSpPr>
          <p:cNvPr id="4" name="Shape 2"/>
          <p:cNvSpPr/>
          <p:nvPr/>
        </p:nvSpPr>
        <p:spPr>
          <a:xfrm>
            <a:off x="457200" y="1508760"/>
            <a:ext cx="4480560" cy="4572000"/>
          </a:xfrm>
          <a:prstGeom prst="rect">
            <a:avLst/>
          </a:prstGeom>
          <a:solidFill>
            <a:srgbClr val="ECEBE4"/>
          </a:solidFill>
          <a:ln w="12700">
            <a:solidFill>
              <a:srgbClr val="ECEBE4"/>
            </a:solidFill>
            <a:prstDash val="solid"/>
          </a:ln>
        </p:spPr>
      </p:sp>
      <p:sp>
        <p:nvSpPr>
          <p:cNvPr id="5" name="Text 3"/>
          <p:cNvSpPr txBox="1"/>
          <p:nvPr/>
        </p:nvSpPr>
        <p:spPr>
          <a:xfrm>
            <a:off x="731520" y="1737360"/>
            <a:ext cx="3931920" cy="274320"/>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What Sentinel will do</a:t>
            </a:r>
            <a:endParaRPr lang="en-US" sz="1400" dirty="0"/>
          </a:p>
        </p:txBody>
      </p:sp>
      <p:sp>
        <p:nvSpPr>
          <p:cNvPr id="6" name="Text 4"/>
          <p:cNvSpPr txBox="1"/>
          <p:nvPr/>
        </p:nvSpPr>
        <p:spPr>
          <a:xfrm>
            <a:off x="731520" y="2240280"/>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Organize the evidence.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Read the documents and find the relevant text, tables, and figures.</a:t>
            </a:r>
            <a:endParaRPr lang="en-US" sz="1200" dirty="0"/>
          </a:p>
        </p:txBody>
      </p:sp>
      <p:sp>
        <p:nvSpPr>
          <p:cNvPr id="7" name="Text 5"/>
          <p:cNvSpPr txBox="1"/>
          <p:nvPr/>
        </p:nvSpPr>
        <p:spPr>
          <a:xfrm>
            <a:off x="731520" y="3264408"/>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Prepare the analysis.</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Structure what it finds into the output the team needs, such as a workpaper.</a:t>
            </a:r>
            <a:endParaRPr lang="en-US" sz="1200" dirty="0"/>
          </a:p>
        </p:txBody>
      </p:sp>
      <p:sp>
        <p:nvSpPr>
          <p:cNvPr id="8" name="Text 6"/>
          <p:cNvSpPr txBox="1"/>
          <p:nvPr/>
        </p:nvSpPr>
        <p:spPr>
          <a:xfrm>
            <a:off x="731520" y="4288536"/>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Show its work.</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Link every statement back to its source.</a:t>
            </a:r>
            <a:endParaRPr lang="en-US" sz="1200" dirty="0"/>
          </a:p>
        </p:txBody>
      </p:sp>
      <p:sp>
        <p:nvSpPr>
          <p:cNvPr id="9" name="Text 7"/>
          <p:cNvSpPr txBox="1"/>
          <p:nvPr/>
        </p:nvSpPr>
        <p:spPr>
          <a:xfrm>
            <a:off x="731520" y="5312664"/>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Keep people accountable.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Flag uncertainty and hold items for a reviewer.</a:t>
            </a:r>
            <a:endParaRPr lang="en-US" sz="1200" dirty="0"/>
          </a:p>
        </p:txBody>
      </p:sp>
      <p:sp>
        <p:nvSpPr>
          <p:cNvPr id="10" name="Shape 8"/>
          <p:cNvSpPr/>
          <p:nvPr/>
        </p:nvSpPr>
        <p:spPr>
          <a:xfrm>
            <a:off x="5303520" y="1508760"/>
            <a:ext cx="6430975" cy="1371600"/>
          </a:xfrm>
          <a:prstGeom prst="rect">
            <a:avLst/>
          </a:prstGeom>
          <a:solidFill>
            <a:srgbClr val="ECEBE4"/>
          </a:solidFill>
          <a:ln w="12700">
            <a:solidFill>
              <a:srgbClr val="ECEBE4"/>
            </a:solidFill>
            <a:prstDash val="solid"/>
          </a:ln>
        </p:spPr>
      </p:sp>
      <p:sp>
        <p:nvSpPr>
          <p:cNvPr id="11" name="Text 9"/>
          <p:cNvSpPr txBox="1"/>
          <p:nvPr/>
        </p:nvSpPr>
        <p:spPr>
          <a:xfrm>
            <a:off x="5577840" y="1691640"/>
            <a:ext cx="2743200" cy="274320"/>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Where it started</a:t>
            </a:r>
            <a:endParaRPr lang="en-US" sz="1200" dirty="0"/>
          </a:p>
        </p:txBody>
      </p:sp>
      <p:sp>
        <p:nvSpPr>
          <p:cNvPr id="12" name="Shape 10"/>
          <p:cNvSpPr/>
          <p:nvPr/>
        </p:nvSpPr>
        <p:spPr>
          <a:xfrm>
            <a:off x="5577840" y="2011680"/>
            <a:ext cx="548640" cy="658368"/>
          </a:xfrm>
          <a:prstGeom prst="flowChartDocument">
            <a:avLst/>
          </a:prstGeom>
          <a:solidFill>
            <a:srgbClr val="FFFFFF"/>
          </a:solidFill>
          <a:ln w="12700">
            <a:solidFill>
              <a:srgbClr val="6B6B6B"/>
            </a:solidFill>
            <a:prstDash val="solid"/>
          </a:ln>
        </p:spPr>
      </p:sp>
      <p:sp>
        <p:nvSpPr>
          <p:cNvPr id="13" name="Text 11"/>
          <p:cNvSpPr txBox="1"/>
          <p:nvPr/>
        </p:nvSpPr>
        <p:spPr>
          <a:xfrm>
            <a:off x="5577840" y="2011680"/>
            <a:ext cx="548640" cy="566928"/>
          </a:xfrm>
          <a:prstGeom prst="rect">
            <a:avLst/>
          </a:prstGeom>
          <a:noFill/>
          <a:ln/>
        </p:spPr>
        <p:txBody>
          <a:bodyPr wrap="square" lIns="0" tIns="0" rIns="0" bIns="0" rtlCol="0" anchor="ctr"/>
          <a:lstStyle/>
          <a:p>
            <a:pPr algn="ctr" indent="0" marL="0">
              <a:buNone/>
            </a:pPr>
            <a:r>
              <a:rPr lang="en-US" sz="2000" b="1" dirty="0">
                <a:solidFill>
                  <a:srgbClr val="E60000"/>
                </a:solidFill>
                <a:latin typeface="Frutiger 45 Light" pitchFamily="34" charset="0"/>
                <a:ea typeface="Frutiger 45 Light" pitchFamily="34" charset="-122"/>
                <a:cs typeface="Frutiger 45 Light" pitchFamily="34" charset="-120"/>
              </a:rPr>
              <a:t>?</a:t>
            </a:r>
            <a:endParaRPr lang="en-US" sz="2000" dirty="0"/>
          </a:p>
        </p:txBody>
      </p:sp>
      <p:sp>
        <p:nvSpPr>
          <p:cNvPr id="14" name="Text 12"/>
          <p:cNvSpPr txBox="1"/>
          <p:nvPr/>
        </p:nvSpPr>
        <p:spPr>
          <a:xfrm>
            <a:off x="6309360" y="2011680"/>
            <a:ext cx="5150815" cy="731520"/>
          </a:xfrm>
          <a:prstGeom prst="rect">
            <a:avLst/>
          </a:prstGeom>
          <a:noFill/>
          <a:ln/>
        </p:spPr>
        <p:txBody>
          <a:bodyPr wrap="square" lIns="0" tIns="0" rIns="0" bIns="0" rtlCol="0" anchor="t"/>
          <a:lstStyle/>
          <a:p>
            <a:pPr indent="0" marL="0">
              <a:buNone/>
            </a:pPr>
            <a:r>
              <a:rPr lang="en-US" sz="1200" dirty="0">
                <a:solidFill>
                  <a:srgbClr val="3A3A3A"/>
                </a:solidFill>
                <a:latin typeface="Frutiger 45 Light" pitchFamily="34" charset="0"/>
                <a:ea typeface="Frutiger 45 Light" pitchFamily="34" charset="-122"/>
                <a:cs typeface="Frutiger 45 Light" pitchFamily="34" charset="-120"/>
              </a:rPr>
              <a:t>A proof of concept in IB Commercial Lending: upload a document, ask a question, get an answer with its source.</a:t>
            </a:r>
            <a:endParaRPr lang="en-US" sz="1200" dirty="0"/>
          </a:p>
        </p:txBody>
      </p:sp>
      <p:sp>
        <p:nvSpPr>
          <p:cNvPr id="15" name="Shape 13"/>
          <p:cNvSpPr/>
          <p:nvPr/>
        </p:nvSpPr>
        <p:spPr>
          <a:xfrm>
            <a:off x="5303520" y="3063240"/>
            <a:ext cx="6430975" cy="3017520"/>
          </a:xfrm>
          <a:prstGeom prst="rect">
            <a:avLst/>
          </a:prstGeom>
          <a:solidFill>
            <a:srgbClr val="ECEBE4"/>
          </a:solidFill>
          <a:ln w="12700">
            <a:solidFill>
              <a:srgbClr val="ECEBE4"/>
            </a:solidFill>
            <a:prstDash val="solid"/>
          </a:ln>
        </p:spPr>
      </p:sp>
      <p:sp>
        <p:nvSpPr>
          <p:cNvPr id="16" name="Text 14"/>
          <p:cNvSpPr txBox="1"/>
          <p:nvPr/>
        </p:nvSpPr>
        <p:spPr>
          <a:xfrm>
            <a:off x="5577840" y="3246120"/>
            <a:ext cx="2743200" cy="274320"/>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What we saw</a:t>
            </a:r>
            <a:endParaRPr lang="en-US" sz="1200" dirty="0"/>
          </a:p>
        </p:txBody>
      </p:sp>
      <p:sp>
        <p:nvSpPr>
          <p:cNvPr id="17" name="Text 15"/>
          <p:cNvSpPr txBox="1"/>
          <p:nvPr/>
        </p:nvSpPr>
        <p:spPr>
          <a:xfrm>
            <a:off x="5577840" y="3538728"/>
            <a:ext cx="5882335" cy="548640"/>
          </a:xfrm>
          <a:prstGeom prst="rect">
            <a:avLst/>
          </a:prstGeom>
          <a:noFill/>
          <a:ln/>
        </p:spPr>
        <p:txBody>
          <a:bodyPr wrap="square" lIns="0" tIns="0" rIns="0" bIns="0" rtlCol="0" anchor="t"/>
          <a:lstStyle/>
          <a:p>
            <a:pPr indent="0" marL="0">
              <a:buNone/>
            </a:pPr>
            <a:r>
              <a:rPr lang="en-US" sz="1200" dirty="0">
                <a:solidFill>
                  <a:srgbClr val="3A3A3A"/>
                </a:solidFill>
                <a:latin typeface="Frutiger 45 Light" pitchFamily="34" charset="0"/>
                <a:ea typeface="Frutiger 45 Light" pitchFamily="34" charset="-122"/>
                <a:cs typeface="Frutiger 45 Light" pitchFamily="34" charset="-120"/>
              </a:rPr>
              <a:t>The hard part is the same for every Risk team. Build it once. Let every team bring its own questions, standards, and outputs.</a:t>
            </a:r>
            <a:endParaRPr lang="en-US" sz="1200" dirty="0"/>
          </a:p>
        </p:txBody>
      </p:sp>
      <p:sp>
        <p:nvSpPr>
          <p:cNvPr id="18" name="Shape 16"/>
          <p:cNvSpPr/>
          <p:nvPr/>
        </p:nvSpPr>
        <p:spPr>
          <a:xfrm>
            <a:off x="5577840" y="4206240"/>
            <a:ext cx="1024128" cy="502920"/>
          </a:xfrm>
          <a:prstGeom prst="rect">
            <a:avLst/>
          </a:prstGeom>
          <a:solidFill>
            <a:srgbClr val="FFFFFF"/>
          </a:solidFill>
          <a:ln w="12700">
            <a:solidFill>
              <a:srgbClr val="B8B3A2"/>
            </a:solidFill>
            <a:prstDash val="solid"/>
          </a:ln>
        </p:spPr>
      </p:sp>
      <p:sp>
        <p:nvSpPr>
          <p:cNvPr id="19" name="Text 17"/>
          <p:cNvSpPr txBox="1"/>
          <p:nvPr/>
        </p:nvSpPr>
        <p:spPr>
          <a:xfrm>
            <a:off x="5577840"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Credit Risk Review</a:t>
            </a:r>
            <a:endParaRPr lang="en-US" sz="1000" dirty="0"/>
          </a:p>
        </p:txBody>
      </p:sp>
      <p:sp>
        <p:nvSpPr>
          <p:cNvPr id="20" name="Shape 18"/>
          <p:cNvSpPr/>
          <p:nvPr/>
        </p:nvSpPr>
        <p:spPr>
          <a:xfrm>
            <a:off x="6693408" y="4206240"/>
            <a:ext cx="1024128" cy="502920"/>
          </a:xfrm>
          <a:prstGeom prst="rect">
            <a:avLst/>
          </a:prstGeom>
          <a:solidFill>
            <a:srgbClr val="FFFFFF"/>
          </a:solidFill>
          <a:ln w="12700">
            <a:solidFill>
              <a:srgbClr val="B8B3A2"/>
            </a:solidFill>
            <a:prstDash val="solid"/>
          </a:ln>
        </p:spPr>
      </p:sp>
      <p:sp>
        <p:nvSpPr>
          <p:cNvPr id="21" name="Text 19"/>
          <p:cNvSpPr txBox="1"/>
          <p:nvPr/>
        </p:nvSpPr>
        <p:spPr>
          <a:xfrm>
            <a:off x="6693408"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Commercial Lending</a:t>
            </a:r>
            <a:endParaRPr lang="en-US" sz="1000" dirty="0"/>
          </a:p>
        </p:txBody>
      </p:sp>
      <p:sp>
        <p:nvSpPr>
          <p:cNvPr id="22" name="Shape 20"/>
          <p:cNvSpPr/>
          <p:nvPr/>
        </p:nvSpPr>
        <p:spPr>
          <a:xfrm>
            <a:off x="7808976" y="4206240"/>
            <a:ext cx="1024128" cy="502920"/>
          </a:xfrm>
          <a:prstGeom prst="rect">
            <a:avLst/>
          </a:prstGeom>
          <a:solidFill>
            <a:srgbClr val="FFFFFF"/>
          </a:solidFill>
          <a:ln w="12700">
            <a:solidFill>
              <a:srgbClr val="B8B3A2"/>
            </a:solidFill>
            <a:prstDash val="solid"/>
          </a:ln>
        </p:spPr>
      </p:sp>
      <p:sp>
        <p:nvSpPr>
          <p:cNvPr id="23" name="Text 21"/>
          <p:cNvSpPr txBox="1"/>
          <p:nvPr/>
        </p:nvSpPr>
        <p:spPr>
          <a:xfrm>
            <a:off x="7808976"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Personal &amp; Corporate Banking</a:t>
            </a:r>
            <a:endParaRPr lang="en-US" sz="1000" dirty="0"/>
          </a:p>
        </p:txBody>
      </p:sp>
      <p:sp>
        <p:nvSpPr>
          <p:cNvPr id="24" name="Shape 22"/>
          <p:cNvSpPr/>
          <p:nvPr/>
        </p:nvSpPr>
        <p:spPr>
          <a:xfrm>
            <a:off x="8924544" y="4206240"/>
            <a:ext cx="1024128" cy="502920"/>
          </a:xfrm>
          <a:prstGeom prst="rect">
            <a:avLst/>
          </a:prstGeom>
          <a:solidFill>
            <a:srgbClr val="FFFFFF"/>
          </a:solidFill>
          <a:ln w="12700">
            <a:solidFill>
              <a:srgbClr val="6B6B6B"/>
            </a:solidFill>
            <a:prstDash val="dash"/>
          </a:ln>
        </p:spPr>
      </p:sp>
      <p:sp>
        <p:nvSpPr>
          <p:cNvPr id="25" name="Text 23"/>
          <p:cNvSpPr txBox="1"/>
          <p:nvPr/>
        </p:nvSpPr>
        <p:spPr>
          <a:xfrm>
            <a:off x="8924544"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Future teams</a:t>
            </a:r>
            <a:endParaRPr lang="en-US" sz="1000" dirty="0"/>
          </a:p>
        </p:txBody>
      </p:sp>
      <p:sp>
        <p:nvSpPr>
          <p:cNvPr id="26" name="Shape 24"/>
          <p:cNvSpPr/>
          <p:nvPr/>
        </p:nvSpPr>
        <p:spPr>
          <a:xfrm>
            <a:off x="5577840" y="4800600"/>
            <a:ext cx="4370832" cy="566928"/>
          </a:xfrm>
          <a:prstGeom prst="rect">
            <a:avLst/>
          </a:prstGeom>
          <a:solidFill>
            <a:srgbClr val="B8B3A2"/>
          </a:solidFill>
          <a:ln w="12700">
            <a:solidFill>
              <a:srgbClr val="B8B3A2"/>
            </a:solidFill>
            <a:prstDash val="solid"/>
          </a:ln>
        </p:spPr>
      </p:sp>
      <p:sp>
        <p:nvSpPr>
          <p:cNvPr id="27" name="Text 25"/>
          <p:cNvSpPr txBox="1"/>
          <p:nvPr/>
        </p:nvSpPr>
        <p:spPr>
          <a:xfrm>
            <a:off x="5669280" y="4800600"/>
            <a:ext cx="4187952" cy="566928"/>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Shared foundation: takes in documents, reads them, finds what matters, cites sources, controls access</a:t>
            </a:r>
            <a:endParaRPr lang="en-US" sz="1000" dirty="0"/>
          </a:p>
        </p:txBody>
      </p:sp>
      <p:sp>
        <p:nvSpPr>
          <p:cNvPr id="28" name="Shape 26"/>
          <p:cNvSpPr/>
          <p:nvPr/>
        </p:nvSpPr>
        <p:spPr>
          <a:xfrm>
            <a:off x="10040112" y="4910328"/>
            <a:ext cx="365760" cy="347472"/>
          </a:xfrm>
          <a:prstGeom prst="rightArrow">
            <a:avLst/>
          </a:prstGeom>
          <a:solidFill>
            <a:srgbClr val="6B6B6B"/>
          </a:solidFill>
          <a:ln w="12700">
            <a:solidFill>
              <a:srgbClr val="6B6B6B"/>
            </a:solidFill>
            <a:prstDash val="solid"/>
          </a:ln>
        </p:spPr>
      </p:sp>
      <p:sp>
        <p:nvSpPr>
          <p:cNvPr id="29" name="Text 27"/>
          <p:cNvSpPr txBox="1"/>
          <p:nvPr/>
        </p:nvSpPr>
        <p:spPr>
          <a:xfrm>
            <a:off x="9948672" y="4663440"/>
            <a:ext cx="548640" cy="201168"/>
          </a:xfrm>
          <a:prstGeom prst="rect">
            <a:avLst/>
          </a:prstGeom>
          <a:noFill/>
          <a:ln/>
        </p:spPr>
        <p:txBody>
          <a:bodyPr wrap="square" lIns="0" tIns="0" rIns="0" bIns="0" rtlCol="0" anchor="t"/>
          <a:lstStyle/>
          <a:p>
            <a:pPr algn="ctr" indent="0" marL="0">
              <a:buNone/>
            </a:pPr>
            <a:r>
              <a:rPr lang="en-US" sz="1000" dirty="0">
                <a:solidFill>
                  <a:srgbClr val="6B6B6B"/>
                </a:solidFill>
                <a:latin typeface="Frutiger 45 Light" pitchFamily="34" charset="0"/>
                <a:ea typeface="Frutiger 45 Light" pitchFamily="34" charset="-122"/>
                <a:cs typeface="Frutiger 45 Light" pitchFamily="34" charset="-120"/>
              </a:rPr>
              <a:t>draft</a:t>
            </a:r>
            <a:endParaRPr lang="en-US" sz="1000" dirty="0"/>
          </a:p>
        </p:txBody>
      </p:sp>
      <p:sp>
        <p:nvSpPr>
          <p:cNvPr id="30" name="Shape 28"/>
          <p:cNvSpPr/>
          <p:nvPr/>
        </p:nvSpPr>
        <p:spPr>
          <a:xfrm>
            <a:off x="10497312" y="4251960"/>
            <a:ext cx="962863" cy="1207008"/>
          </a:xfrm>
          <a:prstGeom prst="roundRect">
            <a:avLst>
              <a:gd name="adj" fmla="val 7597"/>
            </a:avLst>
          </a:prstGeom>
          <a:solidFill>
            <a:srgbClr val="FFFFFF"/>
          </a:solidFill>
          <a:ln w="19050">
            <a:solidFill>
              <a:srgbClr val="E60000"/>
            </a:solidFill>
            <a:prstDash val="solid"/>
          </a:ln>
        </p:spPr>
      </p:sp>
      <p:sp>
        <p:nvSpPr>
          <p:cNvPr id="31" name="Text 29"/>
          <p:cNvSpPr txBox="1"/>
          <p:nvPr/>
        </p:nvSpPr>
        <p:spPr>
          <a:xfrm>
            <a:off x="10497312" y="4251960"/>
            <a:ext cx="962863" cy="1207008"/>
          </a:xfrm>
          <a:prstGeom prst="rect">
            <a:avLst/>
          </a:prstGeom>
          <a:noFill/>
          <a:ln/>
        </p:spPr>
        <p:txBody>
          <a:bodyPr wrap="square" lIns="38100" tIns="38100" rIns="38100" bIns="38100" rtlCol="0" anchor="ctr"/>
          <a:lstStyle/>
          <a:p>
            <a:pPr algn="ctr" indent="0" marL="0">
              <a:buNone/>
            </a:pPr>
            <a:r>
              <a:rPr lang="en-US" sz="1000" b="1" dirty="0">
                <a:solidFill>
                  <a:srgbClr val="1E1E1E"/>
                </a:solidFill>
                <a:latin typeface="Frutiger 45 Light" pitchFamily="34" charset="0"/>
                <a:ea typeface="Frutiger 45 Light" pitchFamily="34" charset="-122"/>
                <a:cs typeface="Frutiger 45 Light" pitchFamily="34" charset="-120"/>
              </a:rPr>
              <a:t>Reviewer</a:t>
            </a:r>
            <a:endParaRPr lang="en-US" sz="1000" dirty="0"/>
          </a:p>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checks, challenges, decides</a:t>
            </a:r>
            <a:endParaRPr lang="en-US" sz="1000" dirty="0"/>
          </a:p>
        </p:txBody>
      </p:sp>
      <p:sp>
        <p:nvSpPr>
          <p:cNvPr id="32" name="Text 30"/>
          <p:cNvSpPr txBox="1"/>
          <p:nvPr/>
        </p:nvSpPr>
        <p:spPr>
          <a:xfrm>
            <a:off x="5577840" y="5696712"/>
            <a:ext cx="5882335" cy="274320"/>
          </a:xfrm>
          <a:prstGeom prst="rect">
            <a:avLst/>
          </a:prstGeom>
          <a:noFill/>
          <a:ln/>
        </p:spPr>
        <p:txBody>
          <a:bodyPr wrap="square" lIns="0" tIns="0" rIns="0" bIns="0" rtlCol="0" anchor="t"/>
          <a:lstStyle/>
          <a:p>
            <a:pPr indent="0" marL="0">
              <a:buNone/>
            </a:pPr>
            <a:r>
              <a:rPr lang="en-US" sz="1100" i="1" dirty="0">
                <a:solidFill>
                  <a:srgbClr val="6B6B6B"/>
                </a:solidFill>
                <a:latin typeface="Frutiger 45 Light" pitchFamily="34" charset="0"/>
                <a:ea typeface="Frutiger 45 Light" pitchFamily="34" charset="-122"/>
                <a:cs typeface="Frutiger 45 Light" pitchFamily="34" charset="-120"/>
              </a:rPr>
              <a:t>Judgment stays with people.</a:t>
            </a:r>
            <a:endParaRPr lang="en-US" sz="1100" dirty="0"/>
          </a:p>
        </p:txBody>
      </p:sp>
      <p:sp>
        <p:nvSpPr>
          <p:cNvPr id="34" name="Text 31"/>
          <p:cNvSpPr txBox="1"/>
          <p:nvPr/>
        </p:nvSpPr>
        <p:spPr>
          <a:xfrm>
            <a:off x="10271455" y="6473952"/>
            <a:ext cx="10515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35" name="Text 32"/>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One shared foundation.</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Each team brings its own rules.</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Built once with IT, inherited by every team that follows. Technical architecture in progress.</a:t>
            </a:r>
            <a:endParaRPr lang="en-US" sz="1400" dirty="0"/>
          </a:p>
        </p:txBody>
      </p:sp>
      <p:sp>
        <p:nvSpPr>
          <p:cNvPr id="4" name="Shape 2"/>
          <p:cNvSpPr/>
          <p:nvPr/>
        </p:nvSpPr>
        <p:spPr>
          <a:xfrm>
            <a:off x="457200" y="1481328"/>
            <a:ext cx="274320" cy="274320"/>
          </a:xfrm>
          <a:prstGeom prst="ellipse">
            <a:avLst/>
          </a:prstGeom>
          <a:solidFill>
            <a:srgbClr val="E60000"/>
          </a:solidFill>
          <a:ln w="12700">
            <a:solidFill>
              <a:srgbClr val="E60000"/>
            </a:solidFill>
            <a:prstDash val="solid"/>
          </a:ln>
        </p:spPr>
      </p:sp>
      <p:sp>
        <p:nvSpPr>
          <p:cNvPr id="5" name="Text 3"/>
          <p:cNvSpPr txBox="1"/>
          <p:nvPr/>
        </p:nvSpPr>
        <p:spPr>
          <a:xfrm>
            <a:off x="457200" y="14813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3</a:t>
            </a:r>
            <a:endParaRPr lang="en-US" sz="1200" dirty="0"/>
          </a:p>
        </p:txBody>
      </p:sp>
      <p:sp>
        <p:nvSpPr>
          <p:cNvPr id="6" name="Text 4"/>
          <p:cNvSpPr txBox="1"/>
          <p:nvPr/>
        </p:nvSpPr>
        <p:spPr>
          <a:xfrm>
            <a:off x="822960" y="1499616"/>
            <a:ext cx="5486400" cy="274320"/>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Each team owns its own application</a:t>
            </a:r>
            <a:endParaRPr lang="en-US" sz="1200" dirty="0"/>
          </a:p>
        </p:txBody>
      </p:sp>
      <p:sp>
        <p:nvSpPr>
          <p:cNvPr id="7" name="Shape 5"/>
          <p:cNvSpPr/>
          <p:nvPr/>
        </p:nvSpPr>
        <p:spPr>
          <a:xfrm>
            <a:off x="457200" y="1792224"/>
            <a:ext cx="2697480" cy="1828800"/>
          </a:xfrm>
          <a:prstGeom prst="rect">
            <a:avLst/>
          </a:prstGeom>
          <a:solidFill>
            <a:srgbClr val="ECEBE4"/>
          </a:solidFill>
          <a:ln w="19050">
            <a:solidFill>
              <a:srgbClr val="E60000"/>
            </a:solidFill>
            <a:prstDash val="solid"/>
          </a:ln>
        </p:spPr>
      </p:sp>
      <p:sp>
        <p:nvSpPr>
          <p:cNvPr id="8" name="Text 6"/>
          <p:cNvSpPr txBox="1"/>
          <p:nvPr/>
        </p:nvSpPr>
        <p:spPr>
          <a:xfrm>
            <a:off x="621792" y="1883664"/>
            <a:ext cx="2368296" cy="512064"/>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Credit Risk Review</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first application, in design</a:t>
            </a:r>
            <a:endParaRPr lang="en-US" sz="1200" dirty="0"/>
          </a:p>
        </p:txBody>
      </p:sp>
      <p:sp>
        <p:nvSpPr>
          <p:cNvPr id="9" name="Text 7"/>
          <p:cNvSpPr txBox="1"/>
          <p:nvPr/>
        </p:nvSpPr>
        <p:spPr>
          <a:xfrm>
            <a:off x="621792" y="2377440"/>
            <a:ext cx="2368296" cy="402336"/>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"What evidence supports the review?"</a:t>
            </a:r>
            <a:endParaRPr lang="en-US" sz="1100" dirty="0"/>
          </a:p>
        </p:txBody>
      </p:sp>
      <p:sp>
        <p:nvSpPr>
          <p:cNvPr id="10" name="Text 8"/>
          <p:cNvSpPr txBox="1"/>
          <p:nvPr/>
        </p:nvSpPr>
        <p:spPr>
          <a:xfrm>
            <a:off x="621792" y="2834640"/>
            <a:ext cx="2368296"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Deep review of borrower relationships</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Workpapers with every statement cited</a:t>
            </a:r>
            <a:endParaRPr lang="en-US" sz="1100" dirty="0"/>
          </a:p>
        </p:txBody>
      </p:sp>
      <p:sp>
        <p:nvSpPr>
          <p:cNvPr id="11" name="Shape 9"/>
          <p:cNvSpPr/>
          <p:nvPr/>
        </p:nvSpPr>
        <p:spPr>
          <a:xfrm>
            <a:off x="1696212" y="3675888"/>
            <a:ext cx="219456" cy="237744"/>
          </a:xfrm>
          <a:prstGeom prst="upArrow">
            <a:avLst/>
          </a:prstGeom>
          <a:solidFill>
            <a:srgbClr val="6B6B6B"/>
          </a:solidFill>
          <a:ln w="12700">
            <a:solidFill>
              <a:srgbClr val="6B6B6B"/>
            </a:solidFill>
            <a:prstDash val="solid"/>
          </a:ln>
        </p:spPr>
      </p:sp>
      <p:sp>
        <p:nvSpPr>
          <p:cNvPr id="12" name="Shape 10"/>
          <p:cNvSpPr/>
          <p:nvPr/>
        </p:nvSpPr>
        <p:spPr>
          <a:xfrm>
            <a:off x="3317138" y="1792224"/>
            <a:ext cx="2697480" cy="1828800"/>
          </a:xfrm>
          <a:prstGeom prst="rect">
            <a:avLst/>
          </a:prstGeom>
          <a:solidFill>
            <a:srgbClr val="ECEBE4"/>
          </a:solidFill>
          <a:ln w="12700">
            <a:solidFill>
              <a:srgbClr val="ECEBE4"/>
            </a:solidFill>
            <a:prstDash val="solid"/>
          </a:ln>
        </p:spPr>
      </p:sp>
      <p:sp>
        <p:nvSpPr>
          <p:cNvPr id="13" name="Text 11"/>
          <p:cNvSpPr txBox="1"/>
          <p:nvPr/>
        </p:nvSpPr>
        <p:spPr>
          <a:xfrm>
            <a:off x="3481730" y="1883664"/>
            <a:ext cx="2368296" cy="512064"/>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IB Event Identification</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planned; the Commercial Lending use case</a:t>
            </a:r>
            <a:endParaRPr lang="en-US" sz="1200" dirty="0"/>
          </a:p>
        </p:txBody>
      </p:sp>
      <p:sp>
        <p:nvSpPr>
          <p:cNvPr id="14" name="Text 12"/>
          <p:cNvSpPr txBox="1"/>
          <p:nvPr/>
        </p:nvSpPr>
        <p:spPr>
          <a:xfrm>
            <a:off x="3481730" y="2377440"/>
            <a:ext cx="2368296" cy="402336"/>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"Which clients are exposed to this event?"</a:t>
            </a:r>
            <a:endParaRPr lang="en-US" sz="1100" dirty="0"/>
          </a:p>
        </p:txBody>
      </p:sp>
      <p:sp>
        <p:nvSpPr>
          <p:cNvPr id="15" name="Text 13"/>
          <p:cNvSpPr txBox="1"/>
          <p:nvPr/>
        </p:nvSpPr>
        <p:spPr>
          <a:xfrm>
            <a:off x="3481730" y="2834640"/>
            <a:ext cx="2368296"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Scan documents across the whole portfolio</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Aggregate what it finds to portfolio level</a:t>
            </a:r>
            <a:endParaRPr lang="en-US" sz="1100" dirty="0"/>
          </a:p>
        </p:txBody>
      </p:sp>
      <p:sp>
        <p:nvSpPr>
          <p:cNvPr id="16" name="Shape 14"/>
          <p:cNvSpPr/>
          <p:nvPr/>
        </p:nvSpPr>
        <p:spPr>
          <a:xfrm>
            <a:off x="4556150" y="3675888"/>
            <a:ext cx="219456" cy="237744"/>
          </a:xfrm>
          <a:prstGeom prst="upArrow">
            <a:avLst/>
          </a:prstGeom>
          <a:solidFill>
            <a:srgbClr val="6B6B6B"/>
          </a:solidFill>
          <a:ln w="12700">
            <a:solidFill>
              <a:srgbClr val="6B6B6B"/>
            </a:solidFill>
            <a:prstDash val="solid"/>
          </a:ln>
        </p:spPr>
      </p:sp>
      <p:sp>
        <p:nvSpPr>
          <p:cNvPr id="17" name="Shape 15"/>
          <p:cNvSpPr/>
          <p:nvPr/>
        </p:nvSpPr>
        <p:spPr>
          <a:xfrm>
            <a:off x="6177077" y="1792224"/>
            <a:ext cx="2697480" cy="1828800"/>
          </a:xfrm>
          <a:prstGeom prst="rect">
            <a:avLst/>
          </a:prstGeom>
          <a:solidFill>
            <a:srgbClr val="ECEBE4"/>
          </a:solidFill>
          <a:ln w="12700">
            <a:solidFill>
              <a:srgbClr val="ECEBE4"/>
            </a:solidFill>
            <a:prstDash val="solid"/>
          </a:ln>
        </p:spPr>
      </p:sp>
      <p:sp>
        <p:nvSpPr>
          <p:cNvPr id="18" name="Text 16"/>
          <p:cNvSpPr txBox="1"/>
          <p:nvPr/>
        </p:nvSpPr>
        <p:spPr>
          <a:xfrm>
            <a:off x="6341669" y="1883664"/>
            <a:ext cx="2368296" cy="512064"/>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Vantage</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planned; the Personal &amp; Corporate Banking use case</a:t>
            </a:r>
            <a:endParaRPr lang="en-US" sz="1200" dirty="0"/>
          </a:p>
        </p:txBody>
      </p:sp>
      <p:sp>
        <p:nvSpPr>
          <p:cNvPr id="19" name="Text 17"/>
          <p:cNvSpPr txBox="1"/>
          <p:nvPr/>
        </p:nvSpPr>
        <p:spPr>
          <a:xfrm>
            <a:off x="6341669" y="2377440"/>
            <a:ext cx="2368296" cy="402336"/>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"What value is in this document?"</a:t>
            </a:r>
            <a:endParaRPr lang="en-US" sz="1100" dirty="0"/>
          </a:p>
        </p:txBody>
      </p:sp>
      <p:sp>
        <p:nvSpPr>
          <p:cNvPr id="20" name="Text 18"/>
          <p:cNvSpPr txBox="1"/>
          <p:nvPr/>
        </p:nvSpPr>
        <p:spPr>
          <a:xfrm>
            <a:off x="6341669" y="2834640"/>
            <a:ext cx="2368296"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Extract fields with page highlighting and a reason</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A capability other platforms can use</a:t>
            </a:r>
            <a:endParaRPr lang="en-US" sz="1100" dirty="0"/>
          </a:p>
        </p:txBody>
      </p:sp>
      <p:sp>
        <p:nvSpPr>
          <p:cNvPr id="21" name="Shape 19"/>
          <p:cNvSpPr/>
          <p:nvPr/>
        </p:nvSpPr>
        <p:spPr>
          <a:xfrm>
            <a:off x="7416089" y="3675888"/>
            <a:ext cx="219456" cy="237744"/>
          </a:xfrm>
          <a:prstGeom prst="upArrow">
            <a:avLst/>
          </a:prstGeom>
          <a:solidFill>
            <a:srgbClr val="6B6B6B"/>
          </a:solidFill>
          <a:ln w="12700">
            <a:solidFill>
              <a:srgbClr val="6B6B6B"/>
            </a:solidFill>
            <a:prstDash val="solid"/>
          </a:ln>
        </p:spPr>
      </p:sp>
      <p:sp>
        <p:nvSpPr>
          <p:cNvPr id="22" name="Shape 20"/>
          <p:cNvSpPr/>
          <p:nvPr/>
        </p:nvSpPr>
        <p:spPr>
          <a:xfrm>
            <a:off x="9037015" y="1792224"/>
            <a:ext cx="2697480" cy="1828800"/>
          </a:xfrm>
          <a:prstGeom prst="rect">
            <a:avLst/>
          </a:prstGeom>
          <a:solidFill>
            <a:srgbClr val="FFFFFF"/>
          </a:solidFill>
          <a:ln w="12700">
            <a:solidFill>
              <a:srgbClr val="6B6B6B"/>
            </a:solidFill>
            <a:prstDash val="dash"/>
          </a:ln>
        </p:spPr>
      </p:sp>
      <p:sp>
        <p:nvSpPr>
          <p:cNvPr id="23" name="Text 21"/>
          <p:cNvSpPr txBox="1"/>
          <p:nvPr/>
        </p:nvSpPr>
        <p:spPr>
          <a:xfrm>
            <a:off x="9201607" y="1883664"/>
            <a:ext cx="2368296" cy="512064"/>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Future applications</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target operating model</a:t>
            </a:r>
            <a:endParaRPr lang="en-US" sz="1200" dirty="0"/>
          </a:p>
        </p:txBody>
      </p:sp>
      <p:sp>
        <p:nvSpPr>
          <p:cNvPr id="24" name="Text 22"/>
          <p:cNvSpPr txBox="1"/>
          <p:nvPr/>
        </p:nvSpPr>
        <p:spPr>
          <a:xfrm>
            <a:off x="9201607" y="2377440"/>
            <a:ext cx="2368296" cy="402336"/>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"Configured, not built."</a:t>
            </a:r>
            <a:endParaRPr lang="en-US" sz="1100" dirty="0"/>
          </a:p>
        </p:txBody>
      </p:sp>
      <p:sp>
        <p:nvSpPr>
          <p:cNvPr id="25" name="Text 23"/>
          <p:cNvSpPr txBox="1"/>
          <p:nvPr/>
        </p:nvSpPr>
        <p:spPr>
          <a:xfrm>
            <a:off x="9201607" y="2834640"/>
            <a:ext cx="2368296"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Business-led configuration, no code or low code</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Platform controls inherited by construction</a:t>
            </a:r>
            <a:endParaRPr lang="en-US" sz="1100" dirty="0"/>
          </a:p>
        </p:txBody>
      </p:sp>
      <p:sp>
        <p:nvSpPr>
          <p:cNvPr id="26" name="Shape 24"/>
          <p:cNvSpPr/>
          <p:nvPr/>
        </p:nvSpPr>
        <p:spPr>
          <a:xfrm>
            <a:off x="10276027" y="3675888"/>
            <a:ext cx="219456" cy="237744"/>
          </a:xfrm>
          <a:prstGeom prst="upArrow">
            <a:avLst/>
          </a:prstGeom>
          <a:solidFill>
            <a:srgbClr val="6B6B6B"/>
          </a:solidFill>
          <a:ln w="12700">
            <a:solidFill>
              <a:srgbClr val="6B6B6B"/>
            </a:solidFill>
            <a:prstDash val="solid"/>
          </a:ln>
        </p:spPr>
      </p:sp>
      <p:sp>
        <p:nvSpPr>
          <p:cNvPr id="27" name="Shape 25"/>
          <p:cNvSpPr/>
          <p:nvPr/>
        </p:nvSpPr>
        <p:spPr>
          <a:xfrm>
            <a:off x="457200" y="3895344"/>
            <a:ext cx="11277295" cy="1481328"/>
          </a:xfrm>
          <a:prstGeom prst="rect">
            <a:avLst/>
          </a:prstGeom>
          <a:solidFill>
            <a:srgbClr val="B8B3A2"/>
          </a:solidFill>
          <a:ln w="12700">
            <a:solidFill>
              <a:srgbClr val="B8B3A2"/>
            </a:solidFill>
            <a:prstDash val="solid"/>
          </a:ln>
        </p:spPr>
      </p:sp>
      <p:sp>
        <p:nvSpPr>
          <p:cNvPr id="28" name="Shape 26"/>
          <p:cNvSpPr/>
          <p:nvPr/>
        </p:nvSpPr>
        <p:spPr>
          <a:xfrm>
            <a:off x="640080" y="4023360"/>
            <a:ext cx="274320" cy="274320"/>
          </a:xfrm>
          <a:prstGeom prst="ellipse">
            <a:avLst/>
          </a:prstGeom>
          <a:solidFill>
            <a:srgbClr val="E60000"/>
          </a:solidFill>
          <a:ln w="12700">
            <a:solidFill>
              <a:srgbClr val="E60000"/>
            </a:solidFill>
            <a:prstDash val="solid"/>
          </a:ln>
        </p:spPr>
      </p:sp>
      <p:sp>
        <p:nvSpPr>
          <p:cNvPr id="29" name="Text 27"/>
          <p:cNvSpPr txBox="1"/>
          <p:nvPr/>
        </p:nvSpPr>
        <p:spPr>
          <a:xfrm>
            <a:off x="640080" y="4023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2</a:t>
            </a:r>
            <a:endParaRPr lang="en-US" sz="1200" dirty="0"/>
          </a:p>
        </p:txBody>
      </p:sp>
      <p:sp>
        <p:nvSpPr>
          <p:cNvPr id="30" name="Text 28"/>
          <p:cNvSpPr txBox="1"/>
          <p:nvPr/>
        </p:nvSpPr>
        <p:spPr>
          <a:xfrm>
            <a:off x="1005840" y="4041648"/>
            <a:ext cx="5486400" cy="274320"/>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The shared foundation does the heavy lifting</a:t>
            </a:r>
            <a:endParaRPr lang="en-US" sz="1200" dirty="0"/>
          </a:p>
        </p:txBody>
      </p:sp>
      <p:sp>
        <p:nvSpPr>
          <p:cNvPr id="31" name="Text 29"/>
          <p:cNvSpPr txBox="1"/>
          <p:nvPr/>
        </p:nvSpPr>
        <p:spPr>
          <a:xfrm>
            <a:off x="7619695" y="4041648"/>
            <a:ext cx="3931920" cy="274320"/>
          </a:xfrm>
          <a:prstGeom prst="rect">
            <a:avLst/>
          </a:prstGeom>
          <a:noFill/>
          <a:ln/>
        </p:spPr>
        <p:txBody>
          <a:bodyPr wrap="square" lIns="0" tIns="0" rIns="0" bIns="0" rtlCol="0" anchor="t"/>
          <a:lstStyle/>
          <a:p>
            <a:pPr algn="r" indent="0" marL="0">
              <a:buNone/>
            </a:pPr>
            <a:r>
              <a:rPr lang="en-US" sz="1100" i="1" dirty="0">
                <a:solidFill>
                  <a:srgbClr val="1E1E1E"/>
                </a:solidFill>
                <a:latin typeface="Frutiger 45 Light" pitchFamily="34" charset="0"/>
                <a:ea typeface="Frutiger 45 Light" pitchFamily="34" charset="-122"/>
                <a:cs typeface="Frutiger 45 Light" pitchFamily="34" charset="-120"/>
              </a:rPr>
              <a:t>Processed once. Inherited by every application.</a:t>
            </a:r>
            <a:endParaRPr lang="en-US" sz="1100" dirty="0"/>
          </a:p>
        </p:txBody>
      </p:sp>
      <p:sp>
        <p:nvSpPr>
          <p:cNvPr id="32" name="Shape 30"/>
          <p:cNvSpPr/>
          <p:nvPr/>
        </p:nvSpPr>
        <p:spPr>
          <a:xfrm>
            <a:off x="640080" y="4352544"/>
            <a:ext cx="2606040" cy="438912"/>
          </a:xfrm>
          <a:prstGeom prst="rect">
            <a:avLst/>
          </a:prstGeom>
          <a:solidFill>
            <a:srgbClr val="FFFFFF"/>
          </a:solidFill>
          <a:ln w="12700">
            <a:solidFill>
              <a:srgbClr val="FFFFFF"/>
            </a:solidFill>
            <a:prstDash val="solid"/>
          </a:ln>
        </p:spPr>
      </p:sp>
      <p:sp>
        <p:nvSpPr>
          <p:cNvPr id="33" name="Text 31"/>
          <p:cNvSpPr txBox="1"/>
          <p:nvPr/>
        </p:nvSpPr>
        <p:spPr>
          <a:xfrm>
            <a:off x="640080" y="4352544"/>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Takes in documents</a:t>
            </a:r>
            <a:endParaRPr lang="en-US" sz="1100" dirty="0"/>
          </a:p>
        </p:txBody>
      </p:sp>
      <p:sp>
        <p:nvSpPr>
          <p:cNvPr id="34" name="Shape 32"/>
          <p:cNvSpPr/>
          <p:nvPr/>
        </p:nvSpPr>
        <p:spPr>
          <a:xfrm>
            <a:off x="3408578" y="4352544"/>
            <a:ext cx="2606040" cy="438912"/>
          </a:xfrm>
          <a:prstGeom prst="rect">
            <a:avLst/>
          </a:prstGeom>
          <a:solidFill>
            <a:srgbClr val="FFFFFF"/>
          </a:solidFill>
          <a:ln w="12700">
            <a:solidFill>
              <a:srgbClr val="FFFFFF"/>
            </a:solidFill>
            <a:prstDash val="solid"/>
          </a:ln>
        </p:spPr>
      </p:sp>
      <p:sp>
        <p:nvSpPr>
          <p:cNvPr id="35" name="Text 33"/>
          <p:cNvSpPr txBox="1"/>
          <p:nvPr/>
        </p:nvSpPr>
        <p:spPr>
          <a:xfrm>
            <a:off x="3408578" y="4352544"/>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Reads text, tables, and images</a:t>
            </a:r>
            <a:endParaRPr lang="en-US" sz="1100" dirty="0"/>
          </a:p>
        </p:txBody>
      </p:sp>
      <p:sp>
        <p:nvSpPr>
          <p:cNvPr id="36" name="Shape 34"/>
          <p:cNvSpPr/>
          <p:nvPr/>
        </p:nvSpPr>
        <p:spPr>
          <a:xfrm>
            <a:off x="6177077" y="4352544"/>
            <a:ext cx="2606040" cy="438912"/>
          </a:xfrm>
          <a:prstGeom prst="rect">
            <a:avLst/>
          </a:prstGeom>
          <a:solidFill>
            <a:srgbClr val="FFFFFF"/>
          </a:solidFill>
          <a:ln w="12700">
            <a:solidFill>
              <a:srgbClr val="FFFFFF"/>
            </a:solidFill>
            <a:prstDash val="solid"/>
          </a:ln>
        </p:spPr>
      </p:sp>
      <p:sp>
        <p:nvSpPr>
          <p:cNvPr id="37" name="Text 35"/>
          <p:cNvSpPr txBox="1"/>
          <p:nvPr/>
        </p:nvSpPr>
        <p:spPr>
          <a:xfrm>
            <a:off x="6177077" y="4352544"/>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Finds what matters</a:t>
            </a:r>
            <a:endParaRPr lang="en-US" sz="1100" dirty="0"/>
          </a:p>
        </p:txBody>
      </p:sp>
      <p:sp>
        <p:nvSpPr>
          <p:cNvPr id="38" name="Shape 36"/>
          <p:cNvSpPr/>
          <p:nvPr/>
        </p:nvSpPr>
        <p:spPr>
          <a:xfrm>
            <a:off x="8945575" y="4352544"/>
            <a:ext cx="2606040" cy="438912"/>
          </a:xfrm>
          <a:prstGeom prst="rect">
            <a:avLst/>
          </a:prstGeom>
          <a:solidFill>
            <a:srgbClr val="FFFFFF"/>
          </a:solidFill>
          <a:ln w="12700">
            <a:solidFill>
              <a:srgbClr val="FFFFFF"/>
            </a:solidFill>
            <a:prstDash val="solid"/>
          </a:ln>
        </p:spPr>
      </p:sp>
      <p:sp>
        <p:nvSpPr>
          <p:cNvPr id="39" name="Text 37"/>
          <p:cNvSpPr txBox="1"/>
          <p:nvPr/>
        </p:nvSpPr>
        <p:spPr>
          <a:xfrm>
            <a:off x="8945575" y="4352544"/>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Cites every source</a:t>
            </a:r>
            <a:endParaRPr lang="en-US" sz="1100" dirty="0"/>
          </a:p>
        </p:txBody>
      </p:sp>
      <p:sp>
        <p:nvSpPr>
          <p:cNvPr id="40" name="Shape 38"/>
          <p:cNvSpPr/>
          <p:nvPr/>
        </p:nvSpPr>
        <p:spPr>
          <a:xfrm>
            <a:off x="640080" y="4873752"/>
            <a:ext cx="2606040" cy="438912"/>
          </a:xfrm>
          <a:prstGeom prst="rect">
            <a:avLst/>
          </a:prstGeom>
          <a:solidFill>
            <a:srgbClr val="FFFFFF"/>
          </a:solidFill>
          <a:ln w="12700">
            <a:solidFill>
              <a:srgbClr val="FFFFFF"/>
            </a:solidFill>
            <a:prstDash val="solid"/>
          </a:ln>
        </p:spPr>
      </p:sp>
      <p:sp>
        <p:nvSpPr>
          <p:cNvPr id="41" name="Text 39"/>
          <p:cNvSpPr txBox="1"/>
          <p:nvPr/>
        </p:nvSpPr>
        <p:spPr>
          <a:xfrm>
            <a:off x="640080" y="4873752"/>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Flags what it is unsure about</a:t>
            </a:r>
            <a:endParaRPr lang="en-US" sz="1100" dirty="0"/>
          </a:p>
        </p:txBody>
      </p:sp>
      <p:sp>
        <p:nvSpPr>
          <p:cNvPr id="42" name="Shape 40"/>
          <p:cNvSpPr/>
          <p:nvPr/>
        </p:nvSpPr>
        <p:spPr>
          <a:xfrm>
            <a:off x="3408578" y="4873752"/>
            <a:ext cx="2606040" cy="438912"/>
          </a:xfrm>
          <a:prstGeom prst="rect">
            <a:avLst/>
          </a:prstGeom>
          <a:solidFill>
            <a:srgbClr val="FFFFFF"/>
          </a:solidFill>
          <a:ln w="12700">
            <a:solidFill>
              <a:srgbClr val="FFFFFF"/>
            </a:solidFill>
            <a:prstDash val="solid"/>
          </a:ln>
        </p:spPr>
      </p:sp>
      <p:sp>
        <p:nvSpPr>
          <p:cNvPr id="43" name="Text 41"/>
          <p:cNvSpPr txBox="1"/>
          <p:nvPr/>
        </p:nvSpPr>
        <p:spPr>
          <a:xfrm>
            <a:off x="3408578" y="4873752"/>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Holds each team's rules and standards, version-controlled</a:t>
            </a:r>
            <a:endParaRPr lang="en-US" sz="1100" dirty="0"/>
          </a:p>
        </p:txBody>
      </p:sp>
      <p:sp>
        <p:nvSpPr>
          <p:cNvPr id="44" name="Shape 42"/>
          <p:cNvSpPr/>
          <p:nvPr/>
        </p:nvSpPr>
        <p:spPr>
          <a:xfrm>
            <a:off x="6177077" y="4873752"/>
            <a:ext cx="2606040" cy="438912"/>
          </a:xfrm>
          <a:prstGeom prst="rect">
            <a:avLst/>
          </a:prstGeom>
          <a:solidFill>
            <a:srgbClr val="FFFFFF"/>
          </a:solidFill>
          <a:ln w="12700">
            <a:solidFill>
              <a:srgbClr val="FFFFFF"/>
            </a:solidFill>
            <a:prstDash val="solid"/>
          </a:ln>
        </p:spPr>
      </p:sp>
      <p:sp>
        <p:nvSpPr>
          <p:cNvPr id="45" name="Text 43"/>
          <p:cNvSpPr txBox="1"/>
          <p:nvPr/>
        </p:nvSpPr>
        <p:spPr>
          <a:xfrm>
            <a:off x="6177077" y="4873752"/>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Monitors itself and keeps records</a:t>
            </a:r>
            <a:endParaRPr lang="en-US" sz="1100" dirty="0"/>
          </a:p>
        </p:txBody>
      </p:sp>
      <p:sp>
        <p:nvSpPr>
          <p:cNvPr id="46" name="Shape 44"/>
          <p:cNvSpPr/>
          <p:nvPr/>
        </p:nvSpPr>
        <p:spPr>
          <a:xfrm>
            <a:off x="8945575" y="4873752"/>
            <a:ext cx="2606040" cy="438912"/>
          </a:xfrm>
          <a:prstGeom prst="rect">
            <a:avLst/>
          </a:prstGeom>
          <a:solidFill>
            <a:srgbClr val="FFFFFF"/>
          </a:solidFill>
          <a:ln w="12700">
            <a:solidFill>
              <a:srgbClr val="FFFFFF"/>
            </a:solidFill>
            <a:prstDash val="solid"/>
          </a:ln>
        </p:spPr>
      </p:sp>
      <p:sp>
        <p:nvSpPr>
          <p:cNvPr id="47" name="Text 45"/>
          <p:cNvSpPr txBox="1"/>
          <p:nvPr/>
        </p:nvSpPr>
        <p:spPr>
          <a:xfrm>
            <a:off x="8945575" y="4873752"/>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Keeps each team's data separate and access controlled</a:t>
            </a:r>
            <a:endParaRPr lang="en-US" sz="1100" dirty="0"/>
          </a:p>
        </p:txBody>
      </p:sp>
      <p:sp>
        <p:nvSpPr>
          <p:cNvPr id="48" name="Shape 46"/>
          <p:cNvSpPr/>
          <p:nvPr/>
        </p:nvSpPr>
        <p:spPr>
          <a:xfrm>
            <a:off x="457200" y="5788152"/>
            <a:ext cx="274320" cy="274320"/>
          </a:xfrm>
          <a:prstGeom prst="ellipse">
            <a:avLst/>
          </a:prstGeom>
          <a:solidFill>
            <a:srgbClr val="E60000"/>
          </a:solidFill>
          <a:ln w="12700">
            <a:solidFill>
              <a:srgbClr val="E60000"/>
            </a:solidFill>
            <a:prstDash val="solid"/>
          </a:ln>
        </p:spPr>
      </p:sp>
      <p:sp>
        <p:nvSpPr>
          <p:cNvPr id="49" name="Text 47"/>
          <p:cNvSpPr txBox="1"/>
          <p:nvPr/>
        </p:nvSpPr>
        <p:spPr>
          <a:xfrm>
            <a:off x="457200" y="57881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1</a:t>
            </a:r>
            <a:endParaRPr lang="en-US" sz="1200" dirty="0"/>
          </a:p>
        </p:txBody>
      </p:sp>
      <p:sp>
        <p:nvSpPr>
          <p:cNvPr id="50" name="Text 48"/>
          <p:cNvSpPr txBox="1"/>
          <p:nvPr/>
        </p:nvSpPr>
        <p:spPr>
          <a:xfrm>
            <a:off x="822960" y="5806440"/>
            <a:ext cx="2194560" cy="274320"/>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Documents come in once</a:t>
            </a:r>
            <a:endParaRPr lang="en-US" sz="1200" dirty="0"/>
          </a:p>
        </p:txBody>
      </p:sp>
      <p:sp>
        <p:nvSpPr>
          <p:cNvPr id="51" name="Shape 49"/>
          <p:cNvSpPr/>
          <p:nvPr/>
        </p:nvSpPr>
        <p:spPr>
          <a:xfrm>
            <a:off x="3200400" y="5650992"/>
            <a:ext cx="2692298" cy="548640"/>
          </a:xfrm>
          <a:prstGeom prst="rect">
            <a:avLst/>
          </a:prstGeom>
          <a:solidFill>
            <a:srgbClr val="ECEBE4"/>
          </a:solidFill>
          <a:ln w="12700">
            <a:solidFill>
              <a:srgbClr val="ECEBE4"/>
            </a:solidFill>
            <a:prstDash val="solid"/>
          </a:ln>
        </p:spPr>
      </p:sp>
      <p:sp>
        <p:nvSpPr>
          <p:cNvPr id="52" name="Text 50"/>
          <p:cNvSpPr txBox="1"/>
          <p:nvPr/>
        </p:nvSpPr>
        <p:spPr>
          <a:xfrm>
            <a:off x="3200400" y="5650992"/>
            <a:ext cx="2692298" cy="548640"/>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Our upstream systems, pulled directly</a:t>
            </a:r>
            <a:endParaRPr lang="en-US" sz="1100" dirty="0"/>
          </a:p>
        </p:txBody>
      </p:sp>
      <p:sp>
        <p:nvSpPr>
          <p:cNvPr id="53" name="Shape 51"/>
          <p:cNvSpPr/>
          <p:nvPr/>
        </p:nvSpPr>
        <p:spPr>
          <a:xfrm>
            <a:off x="4436821" y="5358384"/>
            <a:ext cx="219456" cy="237744"/>
          </a:xfrm>
          <a:prstGeom prst="upArrow">
            <a:avLst/>
          </a:prstGeom>
          <a:solidFill>
            <a:srgbClr val="6B6B6B"/>
          </a:solidFill>
          <a:ln w="12700">
            <a:solidFill>
              <a:srgbClr val="6B6B6B"/>
            </a:solidFill>
            <a:prstDash val="solid"/>
          </a:ln>
        </p:spPr>
      </p:sp>
      <p:sp>
        <p:nvSpPr>
          <p:cNvPr id="54" name="Shape 52"/>
          <p:cNvSpPr/>
          <p:nvPr/>
        </p:nvSpPr>
        <p:spPr>
          <a:xfrm>
            <a:off x="6121298" y="5650992"/>
            <a:ext cx="2692298" cy="548640"/>
          </a:xfrm>
          <a:prstGeom prst="rect">
            <a:avLst/>
          </a:prstGeom>
          <a:solidFill>
            <a:srgbClr val="ECEBE4"/>
          </a:solidFill>
          <a:ln w="12700">
            <a:solidFill>
              <a:srgbClr val="ECEBE4"/>
            </a:solidFill>
            <a:prstDash val="solid"/>
          </a:ln>
        </p:spPr>
      </p:sp>
      <p:sp>
        <p:nvSpPr>
          <p:cNvPr id="55" name="Text 53"/>
          <p:cNvSpPr txBox="1"/>
          <p:nvPr/>
        </p:nvSpPr>
        <p:spPr>
          <a:xfrm>
            <a:off x="6121298" y="5650992"/>
            <a:ext cx="2692298" cy="548640"/>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Direct upload, single documents or batches</a:t>
            </a:r>
            <a:endParaRPr lang="en-US" sz="1100" dirty="0"/>
          </a:p>
        </p:txBody>
      </p:sp>
      <p:sp>
        <p:nvSpPr>
          <p:cNvPr id="56" name="Shape 54"/>
          <p:cNvSpPr/>
          <p:nvPr/>
        </p:nvSpPr>
        <p:spPr>
          <a:xfrm>
            <a:off x="7357720" y="5358384"/>
            <a:ext cx="219456" cy="237744"/>
          </a:xfrm>
          <a:prstGeom prst="upArrow">
            <a:avLst/>
          </a:prstGeom>
          <a:solidFill>
            <a:srgbClr val="6B6B6B"/>
          </a:solidFill>
          <a:ln w="12700">
            <a:solidFill>
              <a:srgbClr val="6B6B6B"/>
            </a:solidFill>
            <a:prstDash val="solid"/>
          </a:ln>
        </p:spPr>
      </p:sp>
      <p:sp>
        <p:nvSpPr>
          <p:cNvPr id="57" name="Shape 55"/>
          <p:cNvSpPr/>
          <p:nvPr/>
        </p:nvSpPr>
        <p:spPr>
          <a:xfrm>
            <a:off x="9042197" y="5650992"/>
            <a:ext cx="2692298" cy="548640"/>
          </a:xfrm>
          <a:prstGeom prst="rect">
            <a:avLst/>
          </a:prstGeom>
          <a:solidFill>
            <a:srgbClr val="ECEBE4"/>
          </a:solidFill>
          <a:ln w="12700">
            <a:solidFill>
              <a:srgbClr val="ECEBE4"/>
            </a:solidFill>
            <a:prstDash val="solid"/>
          </a:ln>
        </p:spPr>
      </p:sp>
      <p:sp>
        <p:nvSpPr>
          <p:cNvPr id="58" name="Text 56"/>
          <p:cNvSpPr txBox="1"/>
          <p:nvPr/>
        </p:nvSpPr>
        <p:spPr>
          <a:xfrm>
            <a:off x="9042197" y="5650992"/>
            <a:ext cx="2692298" cy="548640"/>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Monitored SharePoint folders, picked up automatically</a:t>
            </a:r>
            <a:endParaRPr lang="en-US" sz="1100" dirty="0"/>
          </a:p>
        </p:txBody>
      </p:sp>
      <p:sp>
        <p:nvSpPr>
          <p:cNvPr id="59" name="Shape 57"/>
          <p:cNvSpPr/>
          <p:nvPr/>
        </p:nvSpPr>
        <p:spPr>
          <a:xfrm>
            <a:off x="10278618" y="5358384"/>
            <a:ext cx="219456" cy="237744"/>
          </a:xfrm>
          <a:prstGeom prst="upArrow">
            <a:avLst/>
          </a:prstGeom>
          <a:solidFill>
            <a:srgbClr val="6B6B6B"/>
          </a:solidFill>
          <a:ln w="12700">
            <a:solidFill>
              <a:srgbClr val="6B6B6B"/>
            </a:solidFill>
            <a:prstDash val="solid"/>
          </a:ln>
        </p:spPr>
      </p:sp>
      <p:sp>
        <p:nvSpPr>
          <p:cNvPr id="61" name="Text 58"/>
          <p:cNvSpPr txBox="1"/>
          <p:nvPr/>
        </p:nvSpPr>
        <p:spPr>
          <a:xfrm>
            <a:off x="10271455" y="6473952"/>
            <a:ext cx="10515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62" name="Text 59"/>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In technical architecture now.</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Staged releases to follow.</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Confirmed milestones are dated. Everything else is timed once the build is sized.</a:t>
            </a:r>
            <a:endParaRPr lang="en-US" sz="1400" dirty="0"/>
          </a:p>
        </p:txBody>
      </p:sp>
      <p:sp>
        <p:nvSpPr>
          <p:cNvPr id="4" name="Shape 2"/>
          <p:cNvSpPr/>
          <p:nvPr/>
        </p:nvSpPr>
        <p:spPr>
          <a:xfrm>
            <a:off x="1508760" y="1508760"/>
            <a:ext cx="777240" cy="384048"/>
          </a:xfrm>
          <a:prstGeom prst="chevron">
            <a:avLst/>
          </a:prstGeom>
          <a:solidFill>
            <a:srgbClr val="B8B3A2"/>
          </a:solidFill>
          <a:ln w="12700">
            <a:solidFill>
              <a:srgbClr val="FFFFFF"/>
            </a:solidFill>
            <a:prstDash val="solid"/>
          </a:ln>
        </p:spPr>
      </p:sp>
      <p:sp>
        <p:nvSpPr>
          <p:cNvPr id="5" name="Text 3"/>
          <p:cNvSpPr txBox="1"/>
          <p:nvPr/>
        </p:nvSpPr>
        <p:spPr>
          <a:xfrm>
            <a:off x="1618488" y="1508760"/>
            <a:ext cx="55778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Q2-26</a:t>
            </a:r>
            <a:endParaRPr lang="en-US" sz="1100" dirty="0"/>
          </a:p>
        </p:txBody>
      </p:sp>
      <p:sp>
        <p:nvSpPr>
          <p:cNvPr id="6" name="Shape 4"/>
          <p:cNvSpPr/>
          <p:nvPr/>
        </p:nvSpPr>
        <p:spPr>
          <a:xfrm>
            <a:off x="2286000" y="1508760"/>
            <a:ext cx="1965960" cy="384048"/>
          </a:xfrm>
          <a:prstGeom prst="chevron">
            <a:avLst/>
          </a:prstGeom>
          <a:solidFill>
            <a:srgbClr val="B8B3A2"/>
          </a:solidFill>
          <a:ln w="12700">
            <a:solidFill>
              <a:srgbClr val="FFFFFF"/>
            </a:solidFill>
            <a:prstDash val="solid"/>
          </a:ln>
        </p:spPr>
      </p:sp>
      <p:sp>
        <p:nvSpPr>
          <p:cNvPr id="7" name="Text 5"/>
          <p:cNvSpPr txBox="1"/>
          <p:nvPr/>
        </p:nvSpPr>
        <p:spPr>
          <a:xfrm>
            <a:off x="2395728" y="1508760"/>
            <a:ext cx="174650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Q3-26</a:t>
            </a:r>
            <a:endParaRPr lang="en-US" sz="1100" dirty="0"/>
          </a:p>
        </p:txBody>
      </p:sp>
      <p:sp>
        <p:nvSpPr>
          <p:cNvPr id="8" name="Shape 6"/>
          <p:cNvSpPr/>
          <p:nvPr/>
        </p:nvSpPr>
        <p:spPr>
          <a:xfrm>
            <a:off x="4251960" y="1508760"/>
            <a:ext cx="1051560" cy="384048"/>
          </a:xfrm>
          <a:prstGeom prst="chevron">
            <a:avLst/>
          </a:prstGeom>
          <a:solidFill>
            <a:srgbClr val="ECEBE4"/>
          </a:solidFill>
          <a:ln w="12700">
            <a:solidFill>
              <a:srgbClr val="FFFFFF"/>
            </a:solidFill>
            <a:prstDash val="solid"/>
          </a:ln>
        </p:spPr>
      </p:sp>
      <p:sp>
        <p:nvSpPr>
          <p:cNvPr id="9" name="Text 7"/>
          <p:cNvSpPr txBox="1"/>
          <p:nvPr/>
        </p:nvSpPr>
        <p:spPr>
          <a:xfrm>
            <a:off x="4361688" y="1508760"/>
            <a:ext cx="83210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Q4-26</a:t>
            </a:r>
            <a:endParaRPr lang="en-US" sz="1100" dirty="0"/>
          </a:p>
        </p:txBody>
      </p:sp>
      <p:sp>
        <p:nvSpPr>
          <p:cNvPr id="10" name="Shape 8"/>
          <p:cNvSpPr/>
          <p:nvPr/>
        </p:nvSpPr>
        <p:spPr>
          <a:xfrm>
            <a:off x="5303520" y="1508760"/>
            <a:ext cx="960120" cy="384048"/>
          </a:xfrm>
          <a:prstGeom prst="chevron">
            <a:avLst/>
          </a:prstGeom>
          <a:solidFill>
            <a:srgbClr val="ECEBE4"/>
          </a:solidFill>
          <a:ln w="12700">
            <a:solidFill>
              <a:srgbClr val="FFFFFF"/>
            </a:solidFill>
            <a:prstDash val="solid"/>
          </a:ln>
        </p:spPr>
      </p:sp>
      <p:sp>
        <p:nvSpPr>
          <p:cNvPr id="11" name="Text 9"/>
          <p:cNvSpPr txBox="1"/>
          <p:nvPr/>
        </p:nvSpPr>
        <p:spPr>
          <a:xfrm>
            <a:off x="5413248" y="1508760"/>
            <a:ext cx="74066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Q1-27</a:t>
            </a:r>
            <a:endParaRPr lang="en-US" sz="1100" dirty="0"/>
          </a:p>
        </p:txBody>
      </p:sp>
      <p:sp>
        <p:nvSpPr>
          <p:cNvPr id="12" name="Shape 10"/>
          <p:cNvSpPr/>
          <p:nvPr/>
        </p:nvSpPr>
        <p:spPr>
          <a:xfrm>
            <a:off x="6263640" y="1508760"/>
            <a:ext cx="1417320" cy="384048"/>
          </a:xfrm>
          <a:prstGeom prst="chevron">
            <a:avLst/>
          </a:prstGeom>
          <a:solidFill>
            <a:srgbClr val="ECEBE4"/>
          </a:solidFill>
          <a:ln w="12700">
            <a:solidFill>
              <a:srgbClr val="FFFFFF"/>
            </a:solidFill>
            <a:prstDash val="solid"/>
          </a:ln>
        </p:spPr>
      </p:sp>
      <p:sp>
        <p:nvSpPr>
          <p:cNvPr id="13" name="Text 11"/>
          <p:cNvSpPr txBox="1"/>
          <p:nvPr/>
        </p:nvSpPr>
        <p:spPr>
          <a:xfrm>
            <a:off x="6373368" y="1508760"/>
            <a:ext cx="119786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Q2-27 and beyond</a:t>
            </a:r>
            <a:endParaRPr lang="en-US" sz="1100" dirty="0"/>
          </a:p>
        </p:txBody>
      </p:sp>
      <p:sp>
        <p:nvSpPr>
          <p:cNvPr id="14" name="Text 12"/>
          <p:cNvSpPr txBox="1"/>
          <p:nvPr/>
        </p:nvSpPr>
        <p:spPr>
          <a:xfrm>
            <a:off x="457200" y="2331720"/>
            <a:ext cx="1005840" cy="548640"/>
          </a:xfrm>
          <a:prstGeom prst="rect">
            <a:avLst/>
          </a:prstGeom>
          <a:noFill/>
          <a:ln/>
        </p:spPr>
        <p:txBody>
          <a:bodyPr wrap="square" lIns="0" tIns="0" rIns="0" bIns="0" rtlCol="0" anchor="ctr"/>
          <a:lstStyle/>
          <a:p>
            <a:pPr indent="0" marL="0">
              <a:buNone/>
            </a:pPr>
            <a:r>
              <a:rPr lang="en-US" sz="1100" b="1" dirty="0">
                <a:solidFill>
                  <a:srgbClr val="6B6B6B"/>
                </a:solidFill>
                <a:latin typeface="Frutiger 45 Light" pitchFamily="34" charset="0"/>
                <a:ea typeface="Frutiger 45 Light" pitchFamily="34" charset="-122"/>
                <a:cs typeface="Frutiger 45 Light" pitchFamily="34" charset="-120"/>
              </a:rPr>
              <a:t>Where it started</a:t>
            </a:r>
            <a:endParaRPr lang="en-US" sz="1100" dirty="0"/>
          </a:p>
        </p:txBody>
      </p:sp>
      <p:sp>
        <p:nvSpPr>
          <p:cNvPr id="15" name="Text 13"/>
          <p:cNvSpPr txBox="1"/>
          <p:nvPr/>
        </p:nvSpPr>
        <p:spPr>
          <a:xfrm>
            <a:off x="457200" y="3794760"/>
            <a:ext cx="1005840" cy="548640"/>
          </a:xfrm>
          <a:prstGeom prst="rect">
            <a:avLst/>
          </a:prstGeom>
          <a:noFill/>
          <a:ln/>
        </p:spPr>
        <p:txBody>
          <a:bodyPr wrap="square" lIns="0" tIns="0" rIns="0" bIns="0" rtlCol="0" anchor="ctr"/>
          <a:lstStyle/>
          <a:p>
            <a:pPr indent="0" marL="0">
              <a:buNone/>
            </a:pPr>
            <a:r>
              <a:rPr lang="en-US" sz="1100" b="1" dirty="0">
                <a:solidFill>
                  <a:srgbClr val="1E1E1E"/>
                </a:solidFill>
                <a:latin typeface="Frutiger 45 Light" pitchFamily="34" charset="0"/>
                <a:ea typeface="Frutiger 45 Light" pitchFamily="34" charset="-122"/>
                <a:cs typeface="Frutiger 45 Light" pitchFamily="34" charset="-120"/>
              </a:rPr>
              <a:t>Sentinel, the shared platform</a:t>
            </a:r>
            <a:endParaRPr lang="en-US" sz="1100" dirty="0"/>
          </a:p>
        </p:txBody>
      </p:sp>
      <p:sp>
        <p:nvSpPr>
          <p:cNvPr id="16" name="Shape 14"/>
          <p:cNvSpPr/>
          <p:nvPr/>
        </p:nvSpPr>
        <p:spPr>
          <a:xfrm>
            <a:off x="1508760" y="2606040"/>
            <a:ext cx="6172200" cy="0"/>
          </a:xfrm>
          <a:prstGeom prst="line">
            <a:avLst/>
          </a:prstGeom>
          <a:noFill/>
          <a:ln w="15875">
            <a:solidFill>
              <a:srgbClr val="B8B3A2"/>
            </a:solidFill>
            <a:prstDash val="solid"/>
          </a:ln>
        </p:spPr>
      </p:sp>
      <p:sp>
        <p:nvSpPr>
          <p:cNvPr id="17" name="Shape 15"/>
          <p:cNvSpPr/>
          <p:nvPr/>
        </p:nvSpPr>
        <p:spPr>
          <a:xfrm>
            <a:off x="1508760" y="4069080"/>
            <a:ext cx="6172200" cy="0"/>
          </a:xfrm>
          <a:prstGeom prst="line">
            <a:avLst/>
          </a:prstGeom>
          <a:noFill/>
          <a:ln w="22225">
            <a:solidFill>
              <a:srgbClr val="6B6B6B"/>
            </a:solidFill>
            <a:prstDash val="solid"/>
          </a:ln>
        </p:spPr>
      </p:sp>
      <p:sp>
        <p:nvSpPr>
          <p:cNvPr id="18" name="Shape 16"/>
          <p:cNvSpPr/>
          <p:nvPr/>
        </p:nvSpPr>
        <p:spPr>
          <a:xfrm>
            <a:off x="3563874" y="1463040"/>
            <a:ext cx="0" cy="4069080"/>
          </a:xfrm>
          <a:prstGeom prst="line">
            <a:avLst/>
          </a:prstGeom>
          <a:noFill/>
          <a:ln w="12700">
            <a:solidFill>
              <a:srgbClr val="E60000"/>
            </a:solidFill>
            <a:prstDash val="dash"/>
          </a:ln>
        </p:spPr>
      </p:sp>
      <p:sp>
        <p:nvSpPr>
          <p:cNvPr id="19" name="Text 17"/>
          <p:cNvSpPr txBox="1"/>
          <p:nvPr/>
        </p:nvSpPr>
        <p:spPr>
          <a:xfrm>
            <a:off x="3198114" y="5550408"/>
            <a:ext cx="731520" cy="228600"/>
          </a:xfrm>
          <a:prstGeom prst="rect">
            <a:avLst/>
          </a:prstGeom>
          <a:noFill/>
          <a:ln/>
        </p:spPr>
        <p:txBody>
          <a:bodyPr wrap="square" lIns="0" tIns="0" rIns="0" bIns="0" rtlCol="0" anchor="t"/>
          <a:lstStyle/>
          <a:p>
            <a:pPr algn="ctr" indent="0" marL="0">
              <a:buNone/>
            </a:pPr>
            <a:r>
              <a:rPr lang="en-US" sz="1000" b="1" dirty="0">
                <a:solidFill>
                  <a:srgbClr val="E60000"/>
                </a:solidFill>
                <a:latin typeface="Frutiger 45 Light" pitchFamily="34" charset="0"/>
                <a:ea typeface="Frutiger 45 Light" pitchFamily="34" charset="-122"/>
                <a:cs typeface="Frutiger 45 Light" pitchFamily="34" charset="-120"/>
              </a:rPr>
              <a:t>Today</a:t>
            </a:r>
            <a:endParaRPr lang="en-US" sz="1000" dirty="0"/>
          </a:p>
        </p:txBody>
      </p:sp>
      <p:sp>
        <p:nvSpPr>
          <p:cNvPr id="20" name="Shape 18"/>
          <p:cNvSpPr/>
          <p:nvPr/>
        </p:nvSpPr>
        <p:spPr>
          <a:xfrm>
            <a:off x="2059686" y="2496312"/>
            <a:ext cx="219456" cy="219456"/>
          </a:xfrm>
          <a:prstGeom prst="diamond">
            <a:avLst/>
          </a:prstGeom>
          <a:solidFill>
            <a:srgbClr val="1E1E1E"/>
          </a:solidFill>
          <a:ln w="12700">
            <a:solidFill>
              <a:srgbClr val="1E1E1E"/>
            </a:solidFill>
            <a:prstDash val="solid"/>
          </a:ln>
        </p:spPr>
      </p:sp>
      <p:sp>
        <p:nvSpPr>
          <p:cNvPr id="21" name="Text 19"/>
          <p:cNvSpPr txBox="1"/>
          <p:nvPr/>
        </p:nvSpPr>
        <p:spPr>
          <a:xfrm>
            <a:off x="1529334" y="1947672"/>
            <a:ext cx="1280160" cy="502920"/>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Jun: question-answering proof of concept approved</a:t>
            </a:r>
            <a:endParaRPr lang="en-US" sz="1000" dirty="0"/>
          </a:p>
        </p:txBody>
      </p:sp>
      <p:sp>
        <p:nvSpPr>
          <p:cNvPr id="22" name="Shape 20"/>
          <p:cNvSpPr/>
          <p:nvPr/>
        </p:nvSpPr>
        <p:spPr>
          <a:xfrm>
            <a:off x="4299966" y="2496312"/>
            <a:ext cx="219456" cy="219456"/>
          </a:xfrm>
          <a:prstGeom prst="diamond">
            <a:avLst/>
          </a:prstGeom>
          <a:solidFill>
            <a:srgbClr val="1E1E1E"/>
          </a:solidFill>
          <a:ln w="12700">
            <a:solidFill>
              <a:srgbClr val="1E1E1E"/>
            </a:solidFill>
            <a:prstDash val="solid"/>
          </a:ln>
        </p:spPr>
      </p:sp>
      <p:sp>
        <p:nvSpPr>
          <p:cNvPr id="23" name="Text 21"/>
          <p:cNvSpPr txBox="1"/>
          <p:nvPr/>
        </p:nvSpPr>
        <p:spPr>
          <a:xfrm>
            <a:off x="3792474" y="1947672"/>
            <a:ext cx="1234440" cy="502920"/>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Oct: approved to run as a tactical solution</a:t>
            </a:r>
            <a:endParaRPr lang="en-US" sz="1000" dirty="0"/>
          </a:p>
        </p:txBody>
      </p:sp>
      <p:sp>
        <p:nvSpPr>
          <p:cNvPr id="24" name="Shape 22"/>
          <p:cNvSpPr/>
          <p:nvPr/>
        </p:nvSpPr>
        <p:spPr>
          <a:xfrm>
            <a:off x="4983480" y="2496312"/>
            <a:ext cx="219456" cy="219456"/>
          </a:xfrm>
          <a:prstGeom prst="diamond">
            <a:avLst/>
          </a:prstGeom>
          <a:solidFill>
            <a:srgbClr val="FFFFFF"/>
          </a:solidFill>
          <a:ln w="12700">
            <a:solidFill>
              <a:srgbClr val="6B6B6B"/>
            </a:solidFill>
            <a:prstDash val="solid"/>
          </a:ln>
        </p:spPr>
      </p:sp>
      <p:sp>
        <p:nvSpPr>
          <p:cNvPr id="25" name="Text 23"/>
          <p:cNvSpPr txBox="1"/>
          <p:nvPr/>
        </p:nvSpPr>
        <p:spPr>
          <a:xfrm>
            <a:off x="5257800" y="2459736"/>
            <a:ext cx="2011680" cy="292608"/>
          </a:xfrm>
          <a:prstGeom prst="rect">
            <a:avLst/>
          </a:prstGeom>
          <a:noFill/>
          <a:ln/>
        </p:spPr>
        <p:txBody>
          <a:bodyPr wrap="square" lIns="0" tIns="0" rIns="0" bIns="0" rtlCol="0" anchor="ctr"/>
          <a:lstStyle/>
          <a:p>
            <a:pPr indent="0" marL="0">
              <a:buNone/>
            </a:pPr>
            <a:r>
              <a:rPr lang="en-US" sz="1000" dirty="0">
                <a:solidFill>
                  <a:srgbClr val="3A3A3A"/>
                </a:solidFill>
                <a:latin typeface="Frutiger 45 Light" pitchFamily="34" charset="0"/>
                <a:ea typeface="Frutiger 45 Light" pitchFamily="34" charset="-122"/>
                <a:cs typeface="Frutiger 45 Light" pitchFamily="34" charset="-120"/>
              </a:rPr>
              <a:t>In use for portfolio-level insights</a:t>
            </a:r>
            <a:endParaRPr lang="en-US" sz="1000" dirty="0"/>
          </a:p>
        </p:txBody>
      </p:sp>
      <p:sp>
        <p:nvSpPr>
          <p:cNvPr id="26" name="Shape 24"/>
          <p:cNvSpPr/>
          <p:nvPr/>
        </p:nvSpPr>
        <p:spPr>
          <a:xfrm>
            <a:off x="2471166" y="3959352"/>
            <a:ext cx="219456" cy="219456"/>
          </a:xfrm>
          <a:prstGeom prst="diamond">
            <a:avLst/>
          </a:prstGeom>
          <a:solidFill>
            <a:srgbClr val="1E1E1E"/>
          </a:solidFill>
          <a:ln w="12700">
            <a:solidFill>
              <a:srgbClr val="1E1E1E"/>
            </a:solidFill>
            <a:prstDash val="solid"/>
          </a:ln>
        </p:spPr>
      </p:sp>
      <p:sp>
        <p:nvSpPr>
          <p:cNvPr id="27" name="Text 25"/>
          <p:cNvSpPr txBox="1"/>
          <p:nvPr/>
        </p:nvSpPr>
        <p:spPr>
          <a:xfrm>
            <a:off x="2009394" y="4233672"/>
            <a:ext cx="1143000" cy="566928"/>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Jul: proof of concept and benefits case confirmed</a:t>
            </a:r>
            <a:endParaRPr lang="en-US" sz="1000" dirty="0"/>
          </a:p>
        </p:txBody>
      </p:sp>
      <p:sp>
        <p:nvSpPr>
          <p:cNvPr id="28" name="Shape 26"/>
          <p:cNvSpPr/>
          <p:nvPr/>
        </p:nvSpPr>
        <p:spPr>
          <a:xfrm>
            <a:off x="3454146" y="3959352"/>
            <a:ext cx="219456" cy="219456"/>
          </a:xfrm>
          <a:prstGeom prst="diamond">
            <a:avLst/>
          </a:prstGeom>
          <a:solidFill>
            <a:srgbClr val="1E1E1E"/>
          </a:solidFill>
          <a:ln w="12700">
            <a:solidFill>
              <a:srgbClr val="1E1E1E"/>
            </a:solidFill>
            <a:prstDash val="solid"/>
          </a:ln>
        </p:spPr>
      </p:sp>
      <p:sp>
        <p:nvSpPr>
          <p:cNvPr id="29" name="Text 27"/>
          <p:cNvSpPr txBox="1"/>
          <p:nvPr/>
        </p:nvSpPr>
        <p:spPr>
          <a:xfrm>
            <a:off x="2164842" y="3355848"/>
            <a:ext cx="1325880" cy="548640"/>
          </a:xfrm>
          <a:prstGeom prst="rect">
            <a:avLst/>
          </a:prstGeom>
          <a:noFill/>
          <a:ln/>
        </p:spPr>
        <p:txBody>
          <a:bodyPr wrap="square" lIns="0" tIns="0" rIns="0" bIns="0" rtlCol="0" anchor="b"/>
          <a:lstStyle/>
          <a:p>
            <a:pPr algn="r" indent="0" marL="0">
              <a:buNone/>
            </a:pPr>
            <a:r>
              <a:rPr lang="en-US" sz="1000" dirty="0">
                <a:solidFill>
                  <a:srgbClr val="3A3A3A"/>
                </a:solidFill>
                <a:latin typeface="Frutiger 45 Light" pitchFamily="34" charset="0"/>
                <a:ea typeface="Frutiger 45 Light" pitchFamily="34" charset="-122"/>
                <a:cs typeface="Frutiger 45 Light" pitchFamily="34" charset="-120"/>
              </a:rPr>
              <a:t>Aug: design workshops with IT and Data, in progress</a:t>
            </a:r>
            <a:endParaRPr lang="en-US" sz="1000" dirty="0"/>
          </a:p>
        </p:txBody>
      </p:sp>
      <p:sp>
        <p:nvSpPr>
          <p:cNvPr id="30" name="Shape 28"/>
          <p:cNvSpPr/>
          <p:nvPr/>
        </p:nvSpPr>
        <p:spPr>
          <a:xfrm>
            <a:off x="3906317" y="3959352"/>
            <a:ext cx="219456" cy="219456"/>
          </a:xfrm>
          <a:prstGeom prst="diamond">
            <a:avLst/>
          </a:prstGeom>
          <a:solidFill>
            <a:srgbClr val="1E1E1E"/>
          </a:solidFill>
          <a:ln w="12700">
            <a:solidFill>
              <a:srgbClr val="1E1E1E"/>
            </a:solidFill>
            <a:prstDash val="solid"/>
          </a:ln>
        </p:spPr>
      </p:sp>
      <p:sp>
        <p:nvSpPr>
          <p:cNvPr id="31" name="Text 29"/>
          <p:cNvSpPr txBox="1"/>
          <p:nvPr/>
        </p:nvSpPr>
        <p:spPr>
          <a:xfrm>
            <a:off x="3655314" y="4233672"/>
            <a:ext cx="1051560" cy="566928"/>
          </a:xfrm>
          <a:prstGeom prst="rect">
            <a:avLst/>
          </a:prstGeom>
          <a:noFill/>
          <a:ln/>
        </p:spPr>
        <p:txBody>
          <a:bodyPr wrap="square" lIns="0" tIns="0" rIns="0" bIns="0" rtlCol="0" anchor="t"/>
          <a:lstStyle/>
          <a:p>
            <a:pPr algn="l" indent="0" marL="0">
              <a:buNone/>
            </a:pPr>
            <a:r>
              <a:rPr lang="en-US" sz="1000" dirty="0">
                <a:solidFill>
                  <a:srgbClr val="3A3A3A"/>
                </a:solidFill>
                <a:latin typeface="Frutiger 45 Light" pitchFamily="34" charset="0"/>
                <a:ea typeface="Frutiger 45 Light" pitchFamily="34" charset="-122"/>
                <a:cs typeface="Frutiger 45 Light" pitchFamily="34" charset="-120"/>
              </a:rPr>
              <a:t>Sep: architecture ratified at the AI Forum</a:t>
            </a:r>
            <a:endParaRPr lang="en-US" sz="1000" dirty="0"/>
          </a:p>
        </p:txBody>
      </p:sp>
      <p:sp>
        <p:nvSpPr>
          <p:cNvPr id="32" name="Shape 30"/>
          <p:cNvSpPr/>
          <p:nvPr/>
        </p:nvSpPr>
        <p:spPr>
          <a:xfrm>
            <a:off x="4720590" y="3959352"/>
            <a:ext cx="219456" cy="219456"/>
          </a:xfrm>
          <a:prstGeom prst="diamond">
            <a:avLst/>
          </a:prstGeom>
          <a:solidFill>
            <a:srgbClr val="FFFFFF"/>
          </a:solidFill>
          <a:ln w="12700">
            <a:solidFill>
              <a:srgbClr val="6B6B6B"/>
            </a:solidFill>
            <a:prstDash val="solid"/>
          </a:ln>
        </p:spPr>
      </p:sp>
      <p:sp>
        <p:nvSpPr>
          <p:cNvPr id="33" name="Text 31"/>
          <p:cNvSpPr txBox="1"/>
          <p:nvPr/>
        </p:nvSpPr>
        <p:spPr>
          <a:xfrm>
            <a:off x="4464558" y="4233672"/>
            <a:ext cx="731520" cy="566928"/>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Build</a:t>
            </a:r>
            <a:endParaRPr lang="en-US" sz="1000" dirty="0"/>
          </a:p>
        </p:txBody>
      </p:sp>
      <p:sp>
        <p:nvSpPr>
          <p:cNvPr id="34" name="Shape 32"/>
          <p:cNvSpPr/>
          <p:nvPr/>
        </p:nvSpPr>
        <p:spPr>
          <a:xfrm>
            <a:off x="5673852" y="3959352"/>
            <a:ext cx="219456" cy="219456"/>
          </a:xfrm>
          <a:prstGeom prst="diamond">
            <a:avLst/>
          </a:prstGeom>
          <a:solidFill>
            <a:srgbClr val="FFFFFF"/>
          </a:solidFill>
          <a:ln w="12700">
            <a:solidFill>
              <a:srgbClr val="6B6B6B"/>
            </a:solidFill>
            <a:prstDash val="solid"/>
          </a:ln>
        </p:spPr>
      </p:sp>
      <p:sp>
        <p:nvSpPr>
          <p:cNvPr id="35" name="Text 33"/>
          <p:cNvSpPr txBox="1"/>
          <p:nvPr/>
        </p:nvSpPr>
        <p:spPr>
          <a:xfrm>
            <a:off x="5257800" y="4233672"/>
            <a:ext cx="1051560" cy="566928"/>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1: Assemble and Assess</a:t>
            </a:r>
            <a:endParaRPr lang="en-US" sz="1000" dirty="0"/>
          </a:p>
        </p:txBody>
      </p:sp>
      <p:sp>
        <p:nvSpPr>
          <p:cNvPr id="36" name="Shape 34"/>
          <p:cNvSpPr/>
          <p:nvPr/>
        </p:nvSpPr>
        <p:spPr>
          <a:xfrm>
            <a:off x="6579108" y="3959352"/>
            <a:ext cx="219456" cy="219456"/>
          </a:xfrm>
          <a:prstGeom prst="diamond">
            <a:avLst/>
          </a:prstGeom>
          <a:solidFill>
            <a:srgbClr val="FFFFFF"/>
          </a:solidFill>
          <a:ln w="12700">
            <a:solidFill>
              <a:srgbClr val="6B6B6B"/>
            </a:solidFill>
            <a:prstDash val="solid"/>
          </a:ln>
        </p:spPr>
      </p:sp>
      <p:sp>
        <p:nvSpPr>
          <p:cNvPr id="37" name="Text 35"/>
          <p:cNvSpPr txBox="1"/>
          <p:nvPr/>
        </p:nvSpPr>
        <p:spPr>
          <a:xfrm>
            <a:off x="6208776" y="3355848"/>
            <a:ext cx="960120" cy="548640"/>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2: Challenge and Adjudicate</a:t>
            </a:r>
            <a:endParaRPr lang="en-US" sz="1000" dirty="0"/>
          </a:p>
        </p:txBody>
      </p:sp>
      <p:sp>
        <p:nvSpPr>
          <p:cNvPr id="38" name="Shape 36"/>
          <p:cNvSpPr/>
          <p:nvPr/>
        </p:nvSpPr>
        <p:spPr>
          <a:xfrm>
            <a:off x="7434072" y="3959352"/>
            <a:ext cx="219456" cy="219456"/>
          </a:xfrm>
          <a:prstGeom prst="diamond">
            <a:avLst/>
          </a:prstGeom>
          <a:solidFill>
            <a:srgbClr val="FFFFFF"/>
          </a:solidFill>
          <a:ln w="12700">
            <a:solidFill>
              <a:srgbClr val="6B6B6B"/>
            </a:solidFill>
            <a:prstDash val="solid"/>
          </a:ln>
        </p:spPr>
      </p:sp>
      <p:sp>
        <p:nvSpPr>
          <p:cNvPr id="39" name="Text 37"/>
          <p:cNvSpPr txBox="1"/>
          <p:nvPr/>
        </p:nvSpPr>
        <p:spPr>
          <a:xfrm>
            <a:off x="7040880" y="4233672"/>
            <a:ext cx="1005840" cy="566928"/>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3: Learn and Scale</a:t>
            </a:r>
            <a:endParaRPr lang="en-US" sz="1000" dirty="0"/>
          </a:p>
        </p:txBody>
      </p:sp>
      <p:sp>
        <p:nvSpPr>
          <p:cNvPr id="40" name="Shape 38"/>
          <p:cNvSpPr/>
          <p:nvPr/>
        </p:nvSpPr>
        <p:spPr>
          <a:xfrm>
            <a:off x="5093208" y="2734056"/>
            <a:ext cx="0" cy="576072"/>
          </a:xfrm>
          <a:prstGeom prst="line">
            <a:avLst/>
          </a:prstGeom>
          <a:noFill/>
          <a:ln w="12700">
            <a:solidFill>
              <a:srgbClr val="6B6B6B"/>
            </a:solidFill>
            <a:prstDash val="solid"/>
          </a:ln>
        </p:spPr>
      </p:sp>
      <p:sp>
        <p:nvSpPr>
          <p:cNvPr id="41" name="Shape 39"/>
          <p:cNvSpPr/>
          <p:nvPr/>
        </p:nvSpPr>
        <p:spPr>
          <a:xfrm>
            <a:off x="5093208" y="3310128"/>
            <a:ext cx="2450592" cy="0"/>
          </a:xfrm>
          <a:prstGeom prst="line">
            <a:avLst/>
          </a:prstGeom>
          <a:noFill/>
          <a:ln w="12700">
            <a:solidFill>
              <a:srgbClr val="6B6B6B"/>
            </a:solidFill>
            <a:prstDash val="solid"/>
          </a:ln>
        </p:spPr>
      </p:sp>
      <p:sp>
        <p:nvSpPr>
          <p:cNvPr id="42" name="Shape 40"/>
          <p:cNvSpPr/>
          <p:nvPr/>
        </p:nvSpPr>
        <p:spPr>
          <a:xfrm>
            <a:off x="7543800" y="3310128"/>
            <a:ext cx="0" cy="612648"/>
          </a:xfrm>
          <a:prstGeom prst="line">
            <a:avLst/>
          </a:prstGeom>
          <a:noFill/>
          <a:ln w="12700">
            <a:solidFill>
              <a:srgbClr val="6B6B6B"/>
            </a:solidFill>
            <a:prstDash val="solid"/>
            <a:tailEnd type="triangle"/>
          </a:ln>
        </p:spPr>
      </p:sp>
      <p:sp>
        <p:nvSpPr>
          <p:cNvPr id="43" name="Text 41"/>
          <p:cNvSpPr txBox="1"/>
          <p:nvPr/>
        </p:nvSpPr>
        <p:spPr>
          <a:xfrm>
            <a:off x="5230368" y="3017520"/>
            <a:ext cx="2743200" cy="256032"/>
          </a:xfrm>
          <a:prstGeom prst="rect">
            <a:avLst/>
          </a:prstGeom>
          <a:noFill/>
          <a:ln/>
        </p:spPr>
        <p:txBody>
          <a:bodyPr wrap="square" lIns="0" tIns="0" rIns="0" bIns="0" rtlCol="0" anchor="t"/>
          <a:lstStyle/>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Commercial Lending migrates onto Sentinel</a:t>
            </a:r>
            <a:endParaRPr lang="en-US" sz="1000" dirty="0"/>
          </a:p>
        </p:txBody>
      </p:sp>
      <p:sp>
        <p:nvSpPr>
          <p:cNvPr id="44" name="Shape 42"/>
          <p:cNvSpPr/>
          <p:nvPr/>
        </p:nvSpPr>
        <p:spPr>
          <a:xfrm>
            <a:off x="2169414" y="4956048"/>
            <a:ext cx="822960" cy="274320"/>
          </a:xfrm>
          <a:prstGeom prst="roundRect">
            <a:avLst>
              <a:gd name="adj" fmla="val 50000"/>
            </a:avLst>
          </a:prstGeom>
          <a:solidFill>
            <a:srgbClr val="B8B3A2"/>
          </a:solidFill>
          <a:ln w="12700">
            <a:solidFill>
              <a:srgbClr val="B8B3A2"/>
            </a:solidFill>
            <a:prstDash val="solid"/>
          </a:ln>
        </p:spPr>
      </p:sp>
      <p:sp>
        <p:nvSpPr>
          <p:cNvPr id="45" name="Text 43"/>
          <p:cNvSpPr txBox="1"/>
          <p:nvPr/>
        </p:nvSpPr>
        <p:spPr>
          <a:xfrm>
            <a:off x="2169414" y="4956048"/>
            <a:ext cx="82296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proven</a:t>
            </a:r>
            <a:endParaRPr lang="en-US" sz="1000" dirty="0"/>
          </a:p>
        </p:txBody>
      </p:sp>
      <p:sp>
        <p:nvSpPr>
          <p:cNvPr id="46" name="Shape 44"/>
          <p:cNvSpPr/>
          <p:nvPr/>
        </p:nvSpPr>
        <p:spPr>
          <a:xfrm>
            <a:off x="3093415" y="4956048"/>
            <a:ext cx="868680" cy="274320"/>
          </a:xfrm>
          <a:prstGeom prst="roundRect">
            <a:avLst>
              <a:gd name="adj" fmla="val 50000"/>
            </a:avLst>
          </a:prstGeom>
          <a:solidFill>
            <a:srgbClr val="B8B3A2"/>
          </a:solidFill>
          <a:ln w="12700">
            <a:solidFill>
              <a:srgbClr val="B8B3A2"/>
            </a:solidFill>
            <a:prstDash val="solid"/>
          </a:ln>
        </p:spPr>
      </p:sp>
      <p:sp>
        <p:nvSpPr>
          <p:cNvPr id="47" name="Text 45"/>
          <p:cNvSpPr txBox="1"/>
          <p:nvPr/>
        </p:nvSpPr>
        <p:spPr>
          <a:xfrm>
            <a:off x="3093415" y="4956048"/>
            <a:ext cx="86868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in design</a:t>
            </a:r>
            <a:endParaRPr lang="en-US" sz="1000" dirty="0"/>
          </a:p>
        </p:txBody>
      </p:sp>
      <p:sp>
        <p:nvSpPr>
          <p:cNvPr id="48" name="Shape 46"/>
          <p:cNvSpPr/>
          <p:nvPr/>
        </p:nvSpPr>
        <p:spPr>
          <a:xfrm>
            <a:off x="4327398" y="4956048"/>
            <a:ext cx="1005840" cy="274320"/>
          </a:xfrm>
          <a:prstGeom prst="roundRect">
            <a:avLst>
              <a:gd name="adj" fmla="val 50000"/>
            </a:avLst>
          </a:prstGeom>
          <a:solidFill>
            <a:srgbClr val="B8B3A2"/>
          </a:solidFill>
          <a:ln w="12700">
            <a:solidFill>
              <a:srgbClr val="B8B3A2"/>
            </a:solidFill>
            <a:prstDash val="solid"/>
          </a:ln>
        </p:spPr>
      </p:sp>
      <p:sp>
        <p:nvSpPr>
          <p:cNvPr id="49" name="Text 47"/>
          <p:cNvSpPr txBox="1"/>
          <p:nvPr/>
        </p:nvSpPr>
        <p:spPr>
          <a:xfrm>
            <a:off x="4327398" y="4956048"/>
            <a:ext cx="100584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to be sized</a:t>
            </a:r>
            <a:endParaRPr lang="en-US" sz="1000" dirty="0"/>
          </a:p>
        </p:txBody>
      </p:sp>
      <p:sp>
        <p:nvSpPr>
          <p:cNvPr id="50" name="Shape 48"/>
          <p:cNvSpPr/>
          <p:nvPr/>
        </p:nvSpPr>
        <p:spPr>
          <a:xfrm>
            <a:off x="5447538" y="4956048"/>
            <a:ext cx="2233422" cy="274320"/>
          </a:xfrm>
          <a:prstGeom prst="roundRect">
            <a:avLst>
              <a:gd name="adj" fmla="val 50000"/>
            </a:avLst>
          </a:prstGeom>
          <a:solidFill>
            <a:srgbClr val="B8B3A2"/>
          </a:solidFill>
          <a:ln w="12700">
            <a:solidFill>
              <a:srgbClr val="B8B3A2"/>
            </a:solidFill>
            <a:prstDash val="solid"/>
          </a:ln>
        </p:spPr>
      </p:sp>
      <p:sp>
        <p:nvSpPr>
          <p:cNvPr id="51" name="Text 49"/>
          <p:cNvSpPr txBox="1"/>
          <p:nvPr/>
        </p:nvSpPr>
        <p:spPr>
          <a:xfrm>
            <a:off x="5447538" y="4956048"/>
            <a:ext cx="2233422" cy="274320"/>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planned</a:t>
            </a:r>
            <a:endParaRPr lang="en-US" sz="1000" dirty="0"/>
          </a:p>
        </p:txBody>
      </p:sp>
      <p:sp>
        <p:nvSpPr>
          <p:cNvPr id="52" name="Shape 50"/>
          <p:cNvSpPr/>
          <p:nvPr/>
        </p:nvSpPr>
        <p:spPr>
          <a:xfrm>
            <a:off x="6263640" y="3813048"/>
            <a:ext cx="0" cy="512064"/>
          </a:xfrm>
          <a:prstGeom prst="line">
            <a:avLst/>
          </a:prstGeom>
          <a:noFill/>
          <a:ln w="12700">
            <a:solidFill>
              <a:srgbClr val="6B6B6B"/>
            </a:solidFill>
            <a:prstDash val="dash"/>
          </a:ln>
        </p:spPr>
      </p:sp>
      <p:sp>
        <p:nvSpPr>
          <p:cNvPr id="53" name="Text 51"/>
          <p:cNvSpPr txBox="1"/>
          <p:nvPr/>
        </p:nvSpPr>
        <p:spPr>
          <a:xfrm>
            <a:off x="3977640" y="5321808"/>
            <a:ext cx="3840480" cy="310896"/>
          </a:xfrm>
          <a:prstGeom prst="rect">
            <a:avLst/>
          </a:prstGeom>
          <a:noFill/>
          <a:ln/>
        </p:spPr>
        <p:txBody>
          <a:bodyPr wrap="square" lIns="0" tIns="0" rIns="0" bIns="0" rtlCol="0" anchor="t"/>
          <a:lstStyle/>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IT draft plan proposes: foundation to December, three applications by end of Q1-27. Subject to ratification.</a:t>
            </a:r>
            <a:endParaRPr lang="en-US" sz="1000" dirty="0"/>
          </a:p>
        </p:txBody>
      </p:sp>
      <p:sp>
        <p:nvSpPr>
          <p:cNvPr id="54" name="Shape 52"/>
          <p:cNvSpPr/>
          <p:nvPr/>
        </p:nvSpPr>
        <p:spPr>
          <a:xfrm>
            <a:off x="1517904" y="6080760"/>
            <a:ext cx="164592" cy="164592"/>
          </a:xfrm>
          <a:prstGeom prst="diamond">
            <a:avLst/>
          </a:prstGeom>
          <a:solidFill>
            <a:srgbClr val="1E1E1E"/>
          </a:solidFill>
          <a:ln w="12700">
            <a:solidFill>
              <a:srgbClr val="1E1E1E"/>
            </a:solidFill>
            <a:prstDash val="solid"/>
          </a:ln>
        </p:spPr>
      </p:sp>
      <p:sp>
        <p:nvSpPr>
          <p:cNvPr id="55" name="Text 53"/>
          <p:cNvSpPr txBox="1"/>
          <p:nvPr/>
        </p:nvSpPr>
        <p:spPr>
          <a:xfrm>
            <a:off x="1783080" y="6053328"/>
            <a:ext cx="1097280" cy="228600"/>
          </a:xfrm>
          <a:prstGeom prst="rect">
            <a:avLst/>
          </a:prstGeom>
          <a:noFill/>
          <a:ln/>
        </p:spPr>
        <p:txBody>
          <a:bodyPr wrap="square" lIns="0" tIns="0" rIns="0" bIns="0" rtlCol="0" anchor="ctr"/>
          <a:lstStyle/>
          <a:p>
            <a:pPr indent="0" marL="0">
              <a:buNone/>
            </a:pPr>
            <a:r>
              <a:rPr lang="en-US" sz="1000" dirty="0">
                <a:solidFill>
                  <a:srgbClr val="6B6B6B"/>
                </a:solidFill>
                <a:latin typeface="Frutiger 45 Light" pitchFamily="34" charset="0"/>
                <a:ea typeface="Frutiger 45 Light" pitchFamily="34" charset="-122"/>
                <a:cs typeface="Frutiger 45 Light" pitchFamily="34" charset="-120"/>
              </a:rPr>
              <a:t>confirmed</a:t>
            </a:r>
            <a:endParaRPr lang="en-US" sz="1000" dirty="0"/>
          </a:p>
        </p:txBody>
      </p:sp>
      <p:sp>
        <p:nvSpPr>
          <p:cNvPr id="56" name="Shape 54"/>
          <p:cNvSpPr/>
          <p:nvPr/>
        </p:nvSpPr>
        <p:spPr>
          <a:xfrm>
            <a:off x="2889504" y="6080760"/>
            <a:ext cx="164592" cy="164592"/>
          </a:xfrm>
          <a:prstGeom prst="diamond">
            <a:avLst/>
          </a:prstGeom>
          <a:solidFill>
            <a:srgbClr val="FFFFFF"/>
          </a:solidFill>
          <a:ln w="12700">
            <a:solidFill>
              <a:srgbClr val="6B6B6B"/>
            </a:solidFill>
            <a:prstDash val="solid"/>
          </a:ln>
        </p:spPr>
      </p:sp>
      <p:sp>
        <p:nvSpPr>
          <p:cNvPr id="57" name="Text 55"/>
          <p:cNvSpPr txBox="1"/>
          <p:nvPr/>
        </p:nvSpPr>
        <p:spPr>
          <a:xfrm>
            <a:off x="3154680" y="6053328"/>
            <a:ext cx="2926080" cy="228600"/>
          </a:xfrm>
          <a:prstGeom prst="rect">
            <a:avLst/>
          </a:prstGeom>
          <a:noFill/>
          <a:ln/>
        </p:spPr>
        <p:txBody>
          <a:bodyPr wrap="square" lIns="0" tIns="0" rIns="0" bIns="0" rtlCol="0" anchor="ctr"/>
          <a:lstStyle/>
          <a:p>
            <a:pPr indent="0" marL="0">
              <a:buNone/>
            </a:pPr>
            <a:r>
              <a:rPr lang="en-US" sz="1000" dirty="0">
                <a:solidFill>
                  <a:srgbClr val="6B6B6B"/>
                </a:solidFill>
                <a:latin typeface="Frutiger 45 Light" pitchFamily="34" charset="0"/>
                <a:ea typeface="Frutiger 45 Light" pitchFamily="34" charset="-122"/>
                <a:cs typeface="Frutiger 45 Light" pitchFamily="34" charset="-120"/>
              </a:rPr>
              <a:t>timing to be confirmed after sizing</a:t>
            </a:r>
            <a:endParaRPr lang="en-US" sz="1000" dirty="0"/>
          </a:p>
        </p:txBody>
      </p:sp>
      <p:sp>
        <p:nvSpPr>
          <p:cNvPr id="58" name="Shape 56"/>
          <p:cNvSpPr/>
          <p:nvPr/>
        </p:nvSpPr>
        <p:spPr>
          <a:xfrm>
            <a:off x="8092440" y="1508760"/>
            <a:ext cx="3642055" cy="2240280"/>
          </a:xfrm>
          <a:prstGeom prst="rect">
            <a:avLst/>
          </a:prstGeom>
          <a:solidFill>
            <a:srgbClr val="ECEBE4"/>
          </a:solidFill>
          <a:ln w="12700">
            <a:solidFill>
              <a:srgbClr val="ECEBE4"/>
            </a:solidFill>
            <a:prstDash val="solid"/>
          </a:ln>
        </p:spPr>
      </p:sp>
      <p:sp>
        <p:nvSpPr>
          <p:cNvPr id="59" name="Text 57"/>
          <p:cNvSpPr txBox="1"/>
          <p:nvPr/>
        </p:nvSpPr>
        <p:spPr>
          <a:xfrm>
            <a:off x="8321040" y="1673352"/>
            <a:ext cx="3184855" cy="274320"/>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Done so far</a:t>
            </a:r>
            <a:endParaRPr lang="en-US" sz="1200" dirty="0"/>
          </a:p>
        </p:txBody>
      </p:sp>
      <p:sp>
        <p:nvSpPr>
          <p:cNvPr id="60" name="Text 58"/>
          <p:cNvSpPr txBox="1"/>
          <p:nvPr/>
        </p:nvSpPr>
        <p:spPr>
          <a:xfrm>
            <a:off x="8321040" y="2011680"/>
            <a:ext cx="3184855" cy="16459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The proof of concept was extended to credit review. It reads credit documents, cites evidence, and fills six workpaper sections.</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Requirements and the analyst journey are documented, and IT's draft platform design is in hand (27 August).</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Three applications are designed on one foundation: Credit Risk Review, IB Event Identification, and Vantage.</a:t>
            </a:r>
            <a:endParaRPr lang="en-US" sz="1100" dirty="0"/>
          </a:p>
        </p:txBody>
      </p:sp>
      <p:sp>
        <p:nvSpPr>
          <p:cNvPr id="61" name="Shape 59"/>
          <p:cNvSpPr/>
          <p:nvPr/>
        </p:nvSpPr>
        <p:spPr>
          <a:xfrm>
            <a:off x="8092440" y="3931920"/>
            <a:ext cx="3642055" cy="2240280"/>
          </a:xfrm>
          <a:prstGeom prst="rect">
            <a:avLst/>
          </a:prstGeom>
          <a:solidFill>
            <a:srgbClr val="ECEBE4"/>
          </a:solidFill>
          <a:ln w="12700">
            <a:solidFill>
              <a:srgbClr val="ECEBE4"/>
            </a:solidFill>
            <a:prstDash val="solid"/>
          </a:ln>
        </p:spPr>
      </p:sp>
      <p:sp>
        <p:nvSpPr>
          <p:cNvPr id="62" name="Text 60"/>
          <p:cNvSpPr txBox="1"/>
          <p:nvPr/>
        </p:nvSpPr>
        <p:spPr>
          <a:xfrm>
            <a:off x="8321040" y="4096512"/>
            <a:ext cx="3184855" cy="274320"/>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Happening now</a:t>
            </a:r>
            <a:endParaRPr lang="en-US" sz="1200" dirty="0"/>
          </a:p>
        </p:txBody>
      </p:sp>
      <p:sp>
        <p:nvSpPr>
          <p:cNvPr id="63" name="Text 61"/>
          <p:cNvSpPr txBox="1"/>
          <p:nvPr/>
        </p:nvSpPr>
        <p:spPr>
          <a:xfrm>
            <a:off x="8321040" y="4434840"/>
            <a:ext cx="3184855" cy="16459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We are reviewing IT's draft design ahead of September ratification.</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We are designing access, segregation, and retention.</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We are agreeing how output is validated before anyone relies on it, and assembling standards, templates, and owners.</a:t>
            </a:r>
            <a:endParaRPr lang="en-US" sz="1100" dirty="0"/>
          </a:p>
        </p:txBody>
      </p:sp>
      <p:sp>
        <p:nvSpPr>
          <p:cNvPr id="65" name="Text 62"/>
          <p:cNvSpPr txBox="1"/>
          <p:nvPr/>
        </p:nvSpPr>
        <p:spPr>
          <a:xfrm>
            <a:off x="10271455" y="6473952"/>
            <a:ext cx="10515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66" name="Text 63"/>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Value twice over:</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for Credit Risk Review, and for Risk</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Time and consistency for the first application. A shared, reusable document foundation for the organization.</a:t>
            </a:r>
            <a:endParaRPr lang="en-US" sz="1400" dirty="0"/>
          </a:p>
        </p:txBody>
      </p:sp>
      <p:sp>
        <p:nvSpPr>
          <p:cNvPr id="4" name="Shape 2"/>
          <p:cNvSpPr/>
          <p:nvPr/>
        </p:nvSpPr>
        <p:spPr>
          <a:xfrm>
            <a:off x="457200" y="1554480"/>
            <a:ext cx="5455768" cy="3703320"/>
          </a:xfrm>
          <a:prstGeom prst="rect">
            <a:avLst/>
          </a:prstGeom>
          <a:solidFill>
            <a:srgbClr val="ECEBE4"/>
          </a:solidFill>
          <a:ln w="12700">
            <a:solidFill>
              <a:srgbClr val="ECEBE4"/>
            </a:solidFill>
            <a:prstDash val="solid"/>
          </a:ln>
        </p:spPr>
      </p:sp>
      <p:sp>
        <p:nvSpPr>
          <p:cNvPr id="5" name="Text 3"/>
          <p:cNvSpPr txBox="1"/>
          <p:nvPr/>
        </p:nvSpPr>
        <p:spPr>
          <a:xfrm>
            <a:off x="731520" y="1810512"/>
            <a:ext cx="4907128" cy="292608"/>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For Credit Risk Review</a:t>
            </a:r>
            <a:endParaRPr lang="en-US" sz="1400" dirty="0"/>
          </a:p>
        </p:txBody>
      </p:sp>
      <p:sp>
        <p:nvSpPr>
          <p:cNvPr id="6" name="Text 4"/>
          <p:cNvSpPr txBox="1"/>
          <p:nvPr/>
        </p:nvSpPr>
        <p:spPr>
          <a:xfrm>
            <a:off x="731520" y="2331720"/>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Time back for judgment.</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Reviewer hours move from assembling documents to analysis: more productive use of scarce SME capability.</a:t>
            </a:r>
            <a:endParaRPr lang="en-US" sz="1200" dirty="0"/>
          </a:p>
        </p:txBody>
      </p:sp>
      <p:sp>
        <p:nvSpPr>
          <p:cNvPr id="7" name="Text 5"/>
          <p:cNvSpPr txBox="1"/>
          <p:nvPr/>
        </p:nvSpPr>
        <p:spPr>
          <a:xfrm>
            <a:off x="731520" y="3300984"/>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Less variation.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Every workpaper holds to the same questions and standards, whoever prepares it.</a:t>
            </a:r>
            <a:endParaRPr lang="en-US" sz="1200" dirty="0"/>
          </a:p>
        </p:txBody>
      </p:sp>
      <p:sp>
        <p:nvSpPr>
          <p:cNvPr id="8" name="Text 6"/>
          <p:cNvSpPr txBox="1"/>
          <p:nvPr/>
        </p:nvSpPr>
        <p:spPr>
          <a:xfrm>
            <a:off x="731520" y="4270248"/>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Stronger challenge.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Positions backed by cited evidence let us challenge risk assumptions across the organization from firmer ground.</a:t>
            </a:r>
            <a:endParaRPr lang="en-US" sz="1200" dirty="0"/>
          </a:p>
        </p:txBody>
      </p:sp>
      <p:sp>
        <p:nvSpPr>
          <p:cNvPr id="9" name="Shape 7"/>
          <p:cNvSpPr/>
          <p:nvPr/>
        </p:nvSpPr>
        <p:spPr>
          <a:xfrm>
            <a:off x="6278728" y="1554480"/>
            <a:ext cx="5455768" cy="3703320"/>
          </a:xfrm>
          <a:prstGeom prst="rect">
            <a:avLst/>
          </a:prstGeom>
          <a:solidFill>
            <a:srgbClr val="ECEBE4"/>
          </a:solidFill>
          <a:ln w="12700">
            <a:solidFill>
              <a:srgbClr val="ECEBE4"/>
            </a:solidFill>
            <a:prstDash val="solid"/>
          </a:ln>
        </p:spPr>
      </p:sp>
      <p:sp>
        <p:nvSpPr>
          <p:cNvPr id="10" name="Text 8"/>
          <p:cNvSpPr txBox="1"/>
          <p:nvPr/>
        </p:nvSpPr>
        <p:spPr>
          <a:xfrm>
            <a:off x="6553048" y="1810512"/>
            <a:ext cx="4907128" cy="292608"/>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For the organization</a:t>
            </a:r>
            <a:endParaRPr lang="en-US" sz="1400" dirty="0"/>
          </a:p>
        </p:txBody>
      </p:sp>
      <p:sp>
        <p:nvSpPr>
          <p:cNvPr id="11" name="Text 9"/>
          <p:cNvSpPr txBox="1"/>
          <p:nvPr/>
        </p:nvSpPr>
        <p:spPr>
          <a:xfrm>
            <a:off x="6553048" y="2331720"/>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A common knowledge graph of credit documentation.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Every document processed once, reusable by design across teams.</a:t>
            </a:r>
            <a:endParaRPr lang="en-US" sz="1200" dirty="0"/>
          </a:p>
        </p:txBody>
      </p:sp>
      <p:sp>
        <p:nvSpPr>
          <p:cNvPr id="12" name="Text 10"/>
          <p:cNvSpPr txBox="1"/>
          <p:nvPr/>
        </p:nvSpPr>
        <p:spPr>
          <a:xfrm>
            <a:off x="6553048" y="3300984"/>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Controls built in, not bolted 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Traceability, human adjudication, and business-context configuration are platform features every application inherits.</a:t>
            </a:r>
            <a:endParaRPr lang="en-US" sz="1200" dirty="0"/>
          </a:p>
        </p:txBody>
      </p:sp>
      <p:sp>
        <p:nvSpPr>
          <p:cNvPr id="13" name="Text 11"/>
          <p:cNvSpPr txBox="1"/>
          <p:nvPr/>
        </p:nvSpPr>
        <p:spPr>
          <a:xfrm>
            <a:off x="6553048" y="4270248"/>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Configured, not built.</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Target operating model: business-led configuration, no code or low code, so new applications need no new build.</a:t>
            </a:r>
            <a:endParaRPr lang="en-US" sz="1200" dirty="0"/>
          </a:p>
        </p:txBody>
      </p:sp>
      <p:sp>
        <p:nvSpPr>
          <p:cNvPr id="14" name="Shape 12"/>
          <p:cNvSpPr/>
          <p:nvPr/>
        </p:nvSpPr>
        <p:spPr>
          <a:xfrm>
            <a:off x="457200" y="5486400"/>
            <a:ext cx="11277295" cy="685800"/>
          </a:xfrm>
          <a:prstGeom prst="rect">
            <a:avLst/>
          </a:prstGeom>
          <a:solidFill>
            <a:srgbClr val="B8B3A2"/>
          </a:solidFill>
          <a:ln w="12700">
            <a:solidFill>
              <a:srgbClr val="B8B3A2"/>
            </a:solidFill>
            <a:prstDash val="solid"/>
          </a:ln>
        </p:spPr>
      </p:sp>
      <p:sp>
        <p:nvSpPr>
          <p:cNvPr id="15" name="Text 13"/>
          <p:cNvSpPr txBox="1"/>
          <p:nvPr/>
        </p:nvSpPr>
        <p:spPr>
          <a:xfrm>
            <a:off x="731520" y="5486400"/>
            <a:ext cx="10728655" cy="685800"/>
          </a:xfrm>
          <a:prstGeom prst="rect">
            <a:avLst/>
          </a:prstGeom>
          <a:noFill/>
          <a:ln/>
        </p:spPr>
        <p:txBody>
          <a:bodyPr wrap="square" lIns="0" tIns="0" rIns="0" bIns="0" rtlCol="0" anchor="ctr"/>
          <a:lstStyle/>
          <a:p>
            <a:pPr algn="ctr" indent="0" marL="0">
              <a:buNone/>
            </a:pPr>
            <a:r>
              <a:rPr lang="en-US" sz="1300" i="1" dirty="0">
                <a:solidFill>
                  <a:srgbClr val="1E1E1E"/>
                </a:solidFill>
                <a:latin typeface="Frutiger 45 Light" pitchFamily="34" charset="0"/>
                <a:ea typeface="Frutiger 45 Light" pitchFamily="34" charset="-122"/>
                <a:cs typeface="Frutiger 45 Light" pitchFamily="34" charset="-120"/>
              </a:rPr>
              <a:t>"Sentinel gives Risk a common, controlled way to convert evidence into better-prepared human judgment."</a:t>
            </a:r>
            <a:endParaRPr lang="en-US" sz="1300" dirty="0"/>
          </a:p>
        </p:txBody>
      </p:sp>
      <p:sp>
        <p:nvSpPr>
          <p:cNvPr id="17" name="Text 14"/>
          <p:cNvSpPr txBox="1"/>
          <p:nvPr/>
        </p:nvSpPr>
        <p:spPr>
          <a:xfrm>
            <a:off x="10271455" y="6473952"/>
            <a:ext cx="10515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18" name="Text 15"/>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Sentinel</dc:title>
  <dc:subject>PptxGenJS Presentation</dc:subject>
  <dc:creator>Credit Risk Review</dc:creator>
  <cp:lastModifiedBy>Credit Risk Review</cp:lastModifiedBy>
  <cp:revision>1</cp:revision>
  <dcterms:created xsi:type="dcterms:W3CDTF">2026-08-31T18:49:47Z</dcterms:created>
  <dcterms:modified xsi:type="dcterms:W3CDTF">2026-08-31T18:49:47Z</dcterms:modified>
</cp:coreProperties>
</file>