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 min): Three things today. First, the Copilot Studio Review Agent is live for the whole team. I'll show what it does and how to get value from it. Second, a quick honest status on Sentinel. Third, something more durable than any single tool: a simple way to decide what AI could do versus what it should do in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 min): Quick thread from last session: prompt library is out, the Spotlight emails keep landing, and Sentinel's plan and architecture were shared here on Aug 6. Today builds on all three: the agent is the prompt-library idea taken to the next level, Sentinel has moved a step forward, and the framework ties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(3 min): Transition in: last time I showed you prompts, things you run one at a time; this is the next step, a Copilot Studio agent that carries a whole piece of the CRR workflow, and it's already live for everyone in this room. Then frame the problem: the burden in a CRR workpaper was never just writing. It's finding the evidence across Periodic Reviews, credit files, monitoring, ratings, and trading data; working out where it belongs; tracking what's missing; then writing to the section requirements. The copilot takes on exactly that manual layer. Give the concrete example: upload a Periodic Review and say 'use this document for the review'; it extracts the useful evidence and starts mapping it to the workpaper. Land the bar: it doesn't replace judgment; it removes the manual burden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(3 min): Walk the flow left to right. Step 2 is the one to slow down on: classify first, draft second. Source documents aren't organized like the workpaper: one paragraph of a Periodic Review can feed three different sections, and the agent splits it and holds each piece for the right one. Each section then analyzes against its own question: who is the counterparty and what's our relationship; how is each Partner performing; was it underwritten and documented properly; has it been monitored effectively; are the ratings methodology and assignments supported; what business are we doing and does the exposure remain appropriate. Two principles worth saying out loud: ownership doesn't mean mandatory inclusion; a topic makes the workpaper when it's relevant and supported, not because the taxonomy lists it; and 'generate final document' is always available; take what's done and finish manually whenever you choose. Close on the bar: assembly vs.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was built (3 min): Pull up the screenshot and demystify it; this is deliberately NOT one giant prompt. Four layers. The orchestrator runs the review: establishes the Ultimate Parent and the Partners in scope, keeps context, tracks what's collected and what's missing, and calls the right skill at the right moment. The Section Ownership Taxonomy is the layer worth explaining: testing showed the agent sometimes used the right information in the wrong place: stress exposure landing in Financials, portfolio composition confused with fund strategy. The fix was making classification an explicit, SME-reviewed step before any drafting: taxonomy decides WHERE, section skills decide HOW. Each of the six section skills carries its section's analytical requirements, gap logic, and drafting instructions; supporting skills handle trading intelligence, editing, and help. Why it matters: change how one section is analyzed and you update one file; the taxonomy keeps placement consistent; new capabilities like policy-compliance checks bolt on without a rebuild; and when something's off you can see which layer missed. Plant the seed for Part 3: this is 'right-size the ask' practiced at the architecture level: many small, well-scoped instructions instead of one mega-prompt.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Ecosystem (2 min): Quick orientation so the team knows which tool to reach for. Three levels of the same Microsoft ecosystem. M365 Copilot is the everyday assistant: ad hoc, you prompt it task by task, you review everything. Agent Builder is no-code specialization inside Copilot, for when instructions, knowledge, or output patterns get reused; think 'Copilot with a reusable job description.' Copilot Studio is the low-code platform for governed, multi-step business solutions, which is exactly why the Review Agent lives there: orchestration across skills, controlled deployment, room to grow. Guidance for our environment: for personal or team knowledge scenarios start with Agent Builder; move to Copilot Studio for process automation, system integrations, broader use, or stronger governance, and remember published or shared agents may need affirmation and registration/approval depending on the use case. If you're unsure where an idea belongs, bring it to me; that's part of the ask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it well (3 min): Four habits. Make it step one: the value is at the start of a review, not bolted on later. Verify against source: same discipline you'd apply to any first draft. Judgment is yours: the agent never concludes for you. And report what's off: every correction you send improves it for everyone. Invite a couple of quick reactions from people who have tried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(3 min): Honest status. Since Aug 6 we've moved from the plan into real technical requirements conversations. That's the step that determines how it gets built. What I don't have yet is an updated timeline, on purpose: the requirements decisions drive the dates. Commitment to the group: a concrete timeline lands here once requirements are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detail (2 min): The fuller picture from the working sessions. Target model first: one shared platform carries the reusable capabilities (ingestion and extraction, evidence citations, retrieval, knowledge bases, monitoring, security, audit controls) and group-owned applications sit on top. CRR is deliberately the first application: evidence-cited workpaper assembly plus an advocate/challenge assessment with a human making the call; Commercial Lending/ERM and P&amp;C follow. Progress: business-requirement reviews are largely complete with comments being folded in, the analyst journey is with IT for release and sprint planning, and design workshops are working the storage, connectivity, tuning, and platform-vs-application questions. Next: requirements and MVP scope, AI governance approvals, technology choices, the IT roadmap and estimates, then build and rollout planning. Name the risks plainly: the governance cycle, platform choices, and business rules for exposure determinations where documentation is silent and judgment varies. Still no dates on purpose; the roadmap and estimates are what turn this into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traps (3 min): Transition in: there is plenty AI could do in our work; the question a risk team is built to ask is what it should do, and how. Keep this generic: no incidents, no names; everyone will quietly recognize themselves anyway. Trap one is the input end: dumping a mountain of context and instructions in and trusting whatever comes back; overloaded asks breed errors and contradictions, and the polish hides them. Trap two is the output end: passing AI output along as written: unverified, unowned, in nobody's voice. Land the bar: these tools enhance the work; they don't replace the person responsible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(3 min): AI is a drafting engine, not a colleague. It reads tirelessly and drafts fluently, but it only works with what you give it, and it sounds equally confident when it's wrong. It doesn't know what you meant but didn't say, it won't flag your contradictions, and it can't own your conclusions. The bottom bar sets up the two rules: it depends on you at both ends. The input trap lives at the ask end; the output trap at the edit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(4 min): One rule per end. The ask end first: one task per prompt, big jobs chained as small checkable steps; the model never says 'these instructions conflict', it picks one silently and the polish hides it; the new-hire test is the practical heuristic; and prompts shared with the team are work products, so route them through the prompt library for a second set of eyes. Then the edit end, the one place to be firm, kindly but clearly: the draft is raw material; make it yours with real document names and workpaper language; the signature test is the standard, nothing goes to QC that you haven't read, corrected, and would defend; forwarding raw output doesn't eliminate the work, it relocates it to QC's desk with your name attached. Close on the bar and the callback: assembly vs.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test (3 min): The two rules tell you HOW to work with AI; this grid tells you WHERE. Two questions: how easily can you check it, and what happens if it's wrong? Walk the quadrants. Point out where our own tools sit: Power Prompts top-left, the Review Agent bottom-left: high stakes but easy to verify, which is exactly why it drafts and you approve. Bottom-right stays human-led. Then run the exercise: ask two or three people to name a task and place it live. This is the last slide, so close from here: open the floor for questions and discussion, mention the Sentinel timeline comes back to this group once requirements settle and the next Power Prompt Spotlight is on its way, and invite anyone with a task AI might take on to bring it to you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1691640"/>
            <a:ext cx="12188952" cy="320040"/>
          </a:xfrm>
          <a:prstGeom prst="rect">
            <a:avLst/>
          </a:prstGeom>
          <a:noFill/>
          <a:ln/>
        </p:spPr>
        <p:txBody>
          <a:bodyPr wrap="square" lIns="0" tIns="0" rIns="0" bIns="0" rtlCol="0" anchor="ctr"/>
          <a:lstStyle/>
          <a:p>
            <a:pPr algn="ctr" indent="0" marL="0">
              <a:buNone/>
            </a:pPr>
            <a:r>
              <a:rPr lang="en-US" sz="1400" b="1" spc="400" kern="0" dirty="0">
                <a:solidFill>
                  <a:srgbClr val="706E67"/>
                </a:solidFill>
                <a:latin typeface="Arial" pitchFamily="34" charset="0"/>
                <a:ea typeface="Arial" pitchFamily="34" charset="-122"/>
                <a:cs typeface="Arial" pitchFamily="34" charset="-120"/>
              </a:rPr>
              <a:t>GROUP RISK CONTROL</a:t>
            </a:r>
            <a:endParaRPr lang="en-US" sz="1400" dirty="0"/>
          </a:p>
        </p:txBody>
      </p:sp>
      <p:sp>
        <p:nvSpPr>
          <p:cNvPr id="3" name="Text 1"/>
          <p:cNvSpPr/>
          <p:nvPr/>
        </p:nvSpPr>
        <p:spPr>
          <a:xfrm>
            <a:off x="0" y="2103120"/>
            <a:ext cx="12188952" cy="914400"/>
          </a:xfrm>
          <a:prstGeom prst="rect">
            <a:avLst/>
          </a:prstGeom>
          <a:noFill/>
          <a:ln/>
        </p:spPr>
        <p:txBody>
          <a:bodyPr wrap="square" lIns="0" tIns="0" rIns="0" bIns="0" rtlCol="0" anchor="ctr"/>
          <a:lstStyle/>
          <a:p>
            <a:pPr algn="ctr" indent="0" marL="0">
              <a:buNone/>
            </a:pPr>
            <a:r>
              <a:rPr lang="en-US" sz="5200" b="1" dirty="0">
                <a:solidFill>
                  <a:srgbClr val="121212"/>
                </a:solidFill>
                <a:latin typeface="Arial" pitchFamily="34" charset="0"/>
                <a:ea typeface="Arial" pitchFamily="34" charset="-122"/>
                <a:cs typeface="Arial" pitchFamily="34" charset="-120"/>
              </a:rPr>
              <a:t>AI Progress Update</a:t>
            </a:r>
            <a:endParaRPr lang="en-US" sz="5200" dirty="0"/>
          </a:p>
        </p:txBody>
      </p:sp>
      <p:sp>
        <p:nvSpPr>
          <p:cNvPr id="4" name="Text 2"/>
          <p:cNvSpPr/>
          <p:nvPr/>
        </p:nvSpPr>
        <p:spPr>
          <a:xfrm>
            <a:off x="1645920" y="3154680"/>
            <a:ext cx="8897112" cy="411480"/>
          </a:xfrm>
          <a:prstGeom prst="rect">
            <a:avLst/>
          </a:prstGeom>
          <a:noFill/>
          <a:ln/>
        </p:spPr>
        <p:txBody>
          <a:bodyPr wrap="square" lIns="0" tIns="0" rIns="0" bIns="0" rtlCol="0" anchor="ctr"/>
          <a:lstStyle/>
          <a:p>
            <a:pPr algn="ctr" indent="0" marL="0">
              <a:buNone/>
            </a:pPr>
            <a:r>
              <a:rPr lang="en-US" sz="1700" dirty="0">
                <a:solidFill>
                  <a:srgbClr val="706E67"/>
                </a:solidFill>
                <a:latin typeface="Arial" pitchFamily="34" charset="0"/>
                <a:ea typeface="Arial" pitchFamily="34" charset="-122"/>
                <a:cs typeface="Arial" pitchFamily="34" charset="-120"/>
              </a:rPr>
              <a:t>The Review Agent is live, Sentinel moves forward, and a way to decide what AI should do</a:t>
            </a:r>
            <a:endParaRPr lang="en-US" sz="1700" dirty="0"/>
          </a:p>
        </p:txBody>
      </p:sp>
      <p:sp>
        <p:nvSpPr>
          <p:cNvPr id="5" name="Shape 3"/>
          <p:cNvSpPr/>
          <p:nvPr/>
        </p:nvSpPr>
        <p:spPr>
          <a:xfrm>
            <a:off x="2071116" y="4114800"/>
            <a:ext cx="2468880" cy="502920"/>
          </a:xfrm>
          <a:prstGeom prst="roundRect">
            <a:avLst>
              <a:gd name="adj" fmla="val 49091"/>
            </a:avLst>
          </a:prstGeom>
          <a:solidFill>
            <a:srgbClr val="B8B3A2"/>
          </a:solidFill>
          <a:ln/>
        </p:spPr>
      </p:sp>
      <p:sp>
        <p:nvSpPr>
          <p:cNvPr id="6" name="Text 4"/>
          <p:cNvSpPr/>
          <p:nvPr/>
        </p:nvSpPr>
        <p:spPr>
          <a:xfrm>
            <a:off x="2071116" y="4114800"/>
            <a:ext cx="2468880" cy="502920"/>
          </a:xfrm>
          <a:prstGeom prst="rect">
            <a:avLst/>
          </a:prstGeom>
          <a:noFill/>
          <a:ln/>
        </p:spPr>
        <p:txBody>
          <a:bodyPr wrap="square" lIns="0" tIns="0" rIns="0" bIns="0" rtlCol="0" anchor="ctr"/>
          <a:lstStyle/>
          <a:p>
            <a:pPr algn="ctr" indent="0" marL="0">
              <a:buNone/>
            </a:pPr>
            <a:r>
              <a:rPr lang="en-US" sz="1300" b="1" dirty="0">
                <a:solidFill>
                  <a:srgbClr val="121212"/>
                </a:solidFill>
                <a:latin typeface="Arial" pitchFamily="34" charset="0"/>
                <a:ea typeface="Arial" pitchFamily="34" charset="-122"/>
                <a:cs typeface="Arial" pitchFamily="34" charset="-120"/>
              </a:rPr>
              <a:t>The Review Agent</a:t>
            </a:r>
            <a:endParaRPr lang="en-US" sz="1300" dirty="0"/>
          </a:p>
        </p:txBody>
      </p:sp>
      <p:sp>
        <p:nvSpPr>
          <p:cNvPr id="7" name="Shape 5"/>
          <p:cNvSpPr/>
          <p:nvPr/>
        </p:nvSpPr>
        <p:spPr>
          <a:xfrm>
            <a:off x="4860036" y="4114800"/>
            <a:ext cx="2468880" cy="502920"/>
          </a:xfrm>
          <a:prstGeom prst="roundRect">
            <a:avLst>
              <a:gd name="adj" fmla="val 49091"/>
            </a:avLst>
          </a:prstGeom>
          <a:solidFill>
            <a:srgbClr val="B8B3A2"/>
          </a:solidFill>
          <a:ln/>
        </p:spPr>
      </p:sp>
      <p:sp>
        <p:nvSpPr>
          <p:cNvPr id="8" name="Text 6"/>
          <p:cNvSpPr/>
          <p:nvPr/>
        </p:nvSpPr>
        <p:spPr>
          <a:xfrm>
            <a:off x="4860036" y="4114800"/>
            <a:ext cx="2468880" cy="502920"/>
          </a:xfrm>
          <a:prstGeom prst="rect">
            <a:avLst/>
          </a:prstGeom>
          <a:noFill/>
          <a:ln/>
        </p:spPr>
        <p:txBody>
          <a:bodyPr wrap="square" lIns="0" tIns="0" rIns="0" bIns="0" rtlCol="0" anchor="ctr"/>
          <a:lstStyle/>
          <a:p>
            <a:pPr algn="ctr" indent="0" marL="0">
              <a:buNone/>
            </a:pPr>
            <a:r>
              <a:rPr lang="en-US" sz="1300" b="1" dirty="0">
                <a:solidFill>
                  <a:srgbClr val="121212"/>
                </a:solidFill>
                <a:latin typeface="Arial" pitchFamily="34" charset="0"/>
                <a:ea typeface="Arial" pitchFamily="34" charset="-122"/>
                <a:cs typeface="Arial" pitchFamily="34" charset="-120"/>
              </a:rPr>
              <a:t>Sentinel Status</a:t>
            </a:r>
            <a:endParaRPr lang="en-US" sz="1300" dirty="0"/>
          </a:p>
        </p:txBody>
      </p:sp>
      <p:sp>
        <p:nvSpPr>
          <p:cNvPr id="9" name="Shape 7"/>
          <p:cNvSpPr/>
          <p:nvPr/>
        </p:nvSpPr>
        <p:spPr>
          <a:xfrm>
            <a:off x="7648956" y="4114800"/>
            <a:ext cx="2468880" cy="502920"/>
          </a:xfrm>
          <a:prstGeom prst="roundRect">
            <a:avLst>
              <a:gd name="adj" fmla="val 49091"/>
            </a:avLst>
          </a:prstGeom>
          <a:solidFill>
            <a:srgbClr val="B8B3A2"/>
          </a:solidFill>
          <a:ln/>
        </p:spPr>
      </p:sp>
      <p:sp>
        <p:nvSpPr>
          <p:cNvPr id="10" name="Text 8"/>
          <p:cNvSpPr/>
          <p:nvPr/>
        </p:nvSpPr>
        <p:spPr>
          <a:xfrm>
            <a:off x="7648956" y="4114800"/>
            <a:ext cx="2468880" cy="502920"/>
          </a:xfrm>
          <a:prstGeom prst="rect">
            <a:avLst/>
          </a:prstGeom>
          <a:noFill/>
          <a:ln/>
        </p:spPr>
        <p:txBody>
          <a:bodyPr wrap="square" lIns="0" tIns="0" rIns="0" bIns="0" rtlCol="0" anchor="ctr"/>
          <a:lstStyle/>
          <a:p>
            <a:pPr algn="ctr" indent="0" marL="0">
              <a:buNone/>
            </a:pPr>
            <a:r>
              <a:rPr lang="en-US" sz="1300" b="1" dirty="0">
                <a:solidFill>
                  <a:srgbClr val="121212"/>
                </a:solidFill>
                <a:latin typeface="Arial" pitchFamily="34" charset="0"/>
                <a:ea typeface="Arial" pitchFamily="34" charset="-122"/>
                <a:cs typeface="Arial" pitchFamily="34" charset="-120"/>
              </a:rPr>
              <a:t>Could vs. Should</a:t>
            </a:r>
            <a:endParaRPr lang="en-US" sz="1300" dirty="0"/>
          </a:p>
        </p:txBody>
      </p:sp>
      <p:sp>
        <p:nvSpPr>
          <p:cNvPr id="11" name="Text 9"/>
          <p:cNvSpPr/>
          <p:nvPr/>
        </p:nvSpPr>
        <p:spPr>
          <a:xfrm>
            <a:off x="0" y="5989320"/>
            <a:ext cx="12188952" cy="320040"/>
          </a:xfrm>
          <a:prstGeom prst="rect">
            <a:avLst/>
          </a:prstGeom>
          <a:noFill/>
          <a:ln/>
        </p:spPr>
        <p:txBody>
          <a:bodyPr wrap="square" lIns="0" tIns="0" rIns="0" bIns="0" rtlCol="0" anchor="ctr"/>
          <a:lstStyle/>
          <a:p>
            <a:pPr algn="ctr" indent="0" marL="0">
              <a:buNone/>
            </a:pPr>
            <a:r>
              <a:rPr lang="en-US" sz="1300" dirty="0">
                <a:solidFill>
                  <a:srgbClr val="7A7870"/>
                </a:solidFill>
                <a:latin typeface="Arial" pitchFamily="34" charset="0"/>
                <a:ea typeface="Arial" pitchFamily="34" charset="-122"/>
                <a:cs typeface="Arial" pitchFamily="34" charset="-120"/>
              </a:rPr>
              <a:t>Steve  ·  August 26,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Since August 6</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Where we left off, and what's new today</a:t>
            </a:r>
            <a:endParaRPr lang="en-US" sz="1500" dirty="0"/>
          </a:p>
        </p:txBody>
      </p:sp>
      <p:sp>
        <p:nvSpPr>
          <p:cNvPr id="4" name="Text 2"/>
          <p:cNvSpPr/>
          <p:nvPr/>
        </p:nvSpPr>
        <p:spPr>
          <a:xfrm>
            <a:off x="548640" y="1481328"/>
            <a:ext cx="3657600" cy="256032"/>
          </a:xfrm>
          <a:prstGeom prst="rect">
            <a:avLst/>
          </a:prstGeom>
          <a:noFill/>
          <a:ln/>
        </p:spPr>
        <p:txBody>
          <a:bodyPr wrap="square" lIns="0" tIns="0" rIns="0" bIns="0" rtlCol="0" anchor="ctr"/>
          <a:lstStyle/>
          <a:p>
            <a:pPr indent="0" marL="0">
              <a:buNone/>
            </a:pPr>
            <a:r>
              <a:rPr lang="en-US" sz="1100" b="1" spc="250" kern="0" dirty="0">
                <a:solidFill>
                  <a:srgbClr val="706E67"/>
                </a:solidFill>
                <a:latin typeface="Arial" pitchFamily="34" charset="0"/>
                <a:ea typeface="Arial" pitchFamily="34" charset="-122"/>
                <a:cs typeface="Arial" pitchFamily="34" charset="-120"/>
              </a:rPr>
              <a:t>LAST TIME</a:t>
            </a:r>
            <a:endParaRPr lang="en-US" sz="1100" dirty="0"/>
          </a:p>
        </p:txBody>
      </p:sp>
      <p:sp>
        <p:nvSpPr>
          <p:cNvPr id="5" name="Shape 3"/>
          <p:cNvSpPr/>
          <p:nvPr/>
        </p:nvSpPr>
        <p:spPr>
          <a:xfrm>
            <a:off x="548640" y="1810512"/>
            <a:ext cx="3593592" cy="1481328"/>
          </a:xfrm>
          <a:prstGeom prst="roundRect">
            <a:avLst>
              <a:gd name="adj" fmla="val 5556"/>
            </a:avLst>
          </a:prstGeom>
          <a:solidFill>
            <a:srgbClr val="F3F2EF"/>
          </a:solidFill>
          <a:ln/>
        </p:spPr>
      </p:sp>
      <p:sp>
        <p:nvSpPr>
          <p:cNvPr id="6" name="Shape 4"/>
          <p:cNvSpPr/>
          <p:nvPr/>
        </p:nvSpPr>
        <p:spPr>
          <a:xfrm>
            <a:off x="777240" y="2039112"/>
            <a:ext cx="420624" cy="420624"/>
          </a:xfrm>
          <a:prstGeom prst="ellipse">
            <a:avLst/>
          </a:prstGeom>
          <a:solidFill>
            <a:srgbClr val="CCCABC"/>
          </a:solidFill>
          <a:ln/>
        </p:spPr>
      </p:sp>
      <p:pic>
        <p:nvPicPr>
          <p:cNvPr id="7" name="Image 0" descr="preencoded.png">    </p:cNvPr>
          <p:cNvPicPr>
            <a:picLocks noChangeAspect="1"/>
          </p:cNvPicPr>
          <p:nvPr/>
        </p:nvPicPr>
        <p:blipFill>
          <a:blip r:embed="rId1"/>
          <a:stretch>
            <a:fillRect/>
          </a:stretch>
        </p:blipFill>
        <p:spPr>
          <a:xfrm>
            <a:off x="886602" y="2148474"/>
            <a:ext cx="201900" cy="201900"/>
          </a:xfrm>
          <a:prstGeom prst="rect">
            <a:avLst/>
          </a:prstGeom>
        </p:spPr>
      </p:pic>
      <p:sp>
        <p:nvSpPr>
          <p:cNvPr id="8" name="Text 5"/>
          <p:cNvSpPr/>
          <p:nvPr/>
        </p:nvSpPr>
        <p:spPr>
          <a:xfrm>
            <a:off x="1335024" y="2029968"/>
            <a:ext cx="2633472" cy="457200"/>
          </a:xfrm>
          <a:prstGeom prst="rect">
            <a:avLst/>
          </a:prstGeom>
          <a:noFill/>
          <a:ln/>
        </p:spPr>
        <p:txBody>
          <a:bodyPr wrap="square" lIns="0" tIns="0" rIns="0" bIns="0" rtlCol="0" anchor="t"/>
          <a:lstStyle/>
          <a:p>
            <a:pPr indent="0" marL="0">
              <a:buNone/>
            </a:pPr>
            <a:r>
              <a:rPr lang="en-US" sz="1400" b="1" dirty="0">
                <a:solidFill>
                  <a:srgbClr val="121212"/>
                </a:solidFill>
                <a:latin typeface="Arial" pitchFamily="34" charset="0"/>
                <a:ea typeface="Arial" pitchFamily="34" charset="-122"/>
                <a:cs typeface="Arial" pitchFamily="34" charset="-120"/>
              </a:rPr>
              <a:t>Prompt library initiative</a:t>
            </a:r>
            <a:endParaRPr lang="en-US" sz="1400" dirty="0"/>
          </a:p>
        </p:txBody>
      </p:sp>
      <p:sp>
        <p:nvSpPr>
          <p:cNvPr id="9" name="Text 6"/>
          <p:cNvSpPr/>
          <p:nvPr/>
        </p:nvSpPr>
        <p:spPr>
          <a:xfrm>
            <a:off x="777240" y="2560320"/>
            <a:ext cx="3136392" cy="658368"/>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Launched the group risk control prompt library: shared, reusable prompts for the team.</a:t>
            </a:r>
            <a:endParaRPr lang="en-US" sz="1150" dirty="0"/>
          </a:p>
        </p:txBody>
      </p:sp>
      <p:sp>
        <p:nvSpPr>
          <p:cNvPr id="10" name="Shape 7"/>
          <p:cNvSpPr/>
          <p:nvPr/>
        </p:nvSpPr>
        <p:spPr>
          <a:xfrm>
            <a:off x="4370832" y="1810512"/>
            <a:ext cx="3593592" cy="1481328"/>
          </a:xfrm>
          <a:prstGeom prst="roundRect">
            <a:avLst>
              <a:gd name="adj" fmla="val 5556"/>
            </a:avLst>
          </a:prstGeom>
          <a:solidFill>
            <a:srgbClr val="F3F2EF"/>
          </a:solidFill>
          <a:ln/>
        </p:spPr>
      </p:sp>
      <p:sp>
        <p:nvSpPr>
          <p:cNvPr id="11" name="Shape 8"/>
          <p:cNvSpPr/>
          <p:nvPr/>
        </p:nvSpPr>
        <p:spPr>
          <a:xfrm>
            <a:off x="4599432" y="2039112"/>
            <a:ext cx="420624" cy="420624"/>
          </a:xfrm>
          <a:prstGeom prst="ellipse">
            <a:avLst/>
          </a:prstGeom>
          <a:solidFill>
            <a:srgbClr val="CCCABC"/>
          </a:solidFill>
          <a:ln/>
        </p:spPr>
      </p:sp>
      <p:pic>
        <p:nvPicPr>
          <p:cNvPr id="12" name="Image 1" descr="preencoded.png">    </p:cNvPr>
          <p:cNvPicPr>
            <a:picLocks noChangeAspect="1"/>
          </p:cNvPicPr>
          <p:nvPr/>
        </p:nvPicPr>
        <p:blipFill>
          <a:blip r:embed="rId2"/>
          <a:stretch>
            <a:fillRect/>
          </a:stretch>
        </p:blipFill>
        <p:spPr>
          <a:xfrm>
            <a:off x="4708794" y="2148474"/>
            <a:ext cx="201900" cy="201900"/>
          </a:xfrm>
          <a:prstGeom prst="rect">
            <a:avLst/>
          </a:prstGeom>
        </p:spPr>
      </p:pic>
      <p:sp>
        <p:nvSpPr>
          <p:cNvPr id="13" name="Text 9"/>
          <p:cNvSpPr/>
          <p:nvPr/>
        </p:nvSpPr>
        <p:spPr>
          <a:xfrm>
            <a:off x="5157216" y="2029968"/>
            <a:ext cx="2633472" cy="457200"/>
          </a:xfrm>
          <a:prstGeom prst="rect">
            <a:avLst/>
          </a:prstGeom>
          <a:noFill/>
          <a:ln/>
        </p:spPr>
        <p:txBody>
          <a:bodyPr wrap="square" lIns="0" tIns="0" rIns="0" bIns="0" rtlCol="0" anchor="t"/>
          <a:lstStyle/>
          <a:p>
            <a:pPr indent="0" marL="0">
              <a:buNone/>
            </a:pPr>
            <a:r>
              <a:rPr lang="en-US" sz="1400" b="1" dirty="0">
                <a:solidFill>
                  <a:srgbClr val="121212"/>
                </a:solidFill>
                <a:latin typeface="Arial" pitchFamily="34" charset="0"/>
                <a:ea typeface="Arial" pitchFamily="34" charset="-122"/>
                <a:cs typeface="Arial" pitchFamily="34" charset="-120"/>
              </a:rPr>
              <a:t>Power Prompt Spotlight</a:t>
            </a:r>
            <a:endParaRPr lang="en-US" sz="1400" dirty="0"/>
          </a:p>
        </p:txBody>
      </p:sp>
      <p:sp>
        <p:nvSpPr>
          <p:cNvPr id="14" name="Text 10"/>
          <p:cNvSpPr/>
          <p:nvPr/>
        </p:nvSpPr>
        <p:spPr>
          <a:xfrm>
            <a:off x="4599432" y="2560320"/>
            <a:ext cx="3136392" cy="658368"/>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Spotlight series running through internal email, one high-value prompt at a time.</a:t>
            </a:r>
            <a:endParaRPr lang="en-US" sz="1150" dirty="0"/>
          </a:p>
        </p:txBody>
      </p:sp>
      <p:sp>
        <p:nvSpPr>
          <p:cNvPr id="15" name="Shape 11"/>
          <p:cNvSpPr/>
          <p:nvPr/>
        </p:nvSpPr>
        <p:spPr>
          <a:xfrm>
            <a:off x="8193024" y="1810512"/>
            <a:ext cx="3593592" cy="1481328"/>
          </a:xfrm>
          <a:prstGeom prst="roundRect">
            <a:avLst>
              <a:gd name="adj" fmla="val 5556"/>
            </a:avLst>
          </a:prstGeom>
          <a:solidFill>
            <a:srgbClr val="F3F2EF"/>
          </a:solidFill>
          <a:ln/>
        </p:spPr>
      </p:sp>
      <p:sp>
        <p:nvSpPr>
          <p:cNvPr id="16" name="Shape 12"/>
          <p:cNvSpPr/>
          <p:nvPr/>
        </p:nvSpPr>
        <p:spPr>
          <a:xfrm>
            <a:off x="8421624" y="2039112"/>
            <a:ext cx="420624" cy="420624"/>
          </a:xfrm>
          <a:prstGeom prst="ellipse">
            <a:avLst/>
          </a:prstGeom>
          <a:solidFill>
            <a:srgbClr val="CCCABC"/>
          </a:solidFill>
          <a:ln/>
        </p:spPr>
      </p:sp>
      <p:pic>
        <p:nvPicPr>
          <p:cNvPr id="17" name="Image 2" descr="preencoded.png">    </p:cNvPr>
          <p:cNvPicPr>
            <a:picLocks noChangeAspect="1"/>
          </p:cNvPicPr>
          <p:nvPr/>
        </p:nvPicPr>
        <p:blipFill>
          <a:blip r:embed="rId3"/>
          <a:stretch>
            <a:fillRect/>
          </a:stretch>
        </p:blipFill>
        <p:spPr>
          <a:xfrm>
            <a:off x="8530986" y="2148474"/>
            <a:ext cx="201900" cy="201900"/>
          </a:xfrm>
          <a:prstGeom prst="rect">
            <a:avLst/>
          </a:prstGeom>
        </p:spPr>
      </p:pic>
      <p:sp>
        <p:nvSpPr>
          <p:cNvPr id="18" name="Text 13"/>
          <p:cNvSpPr/>
          <p:nvPr/>
        </p:nvSpPr>
        <p:spPr>
          <a:xfrm>
            <a:off x="8979408" y="2029968"/>
            <a:ext cx="2633472" cy="457200"/>
          </a:xfrm>
          <a:prstGeom prst="rect">
            <a:avLst/>
          </a:prstGeom>
          <a:noFill/>
          <a:ln/>
        </p:spPr>
        <p:txBody>
          <a:bodyPr wrap="square" lIns="0" tIns="0" rIns="0" bIns="0" rtlCol="0" anchor="t"/>
          <a:lstStyle/>
          <a:p>
            <a:pPr indent="0" marL="0">
              <a:buNone/>
            </a:pPr>
            <a:r>
              <a:rPr lang="en-US" sz="1400" b="1" dirty="0">
                <a:solidFill>
                  <a:srgbClr val="121212"/>
                </a:solidFill>
                <a:latin typeface="Arial" pitchFamily="34" charset="0"/>
                <a:ea typeface="Arial" pitchFamily="34" charset="-122"/>
                <a:cs typeface="Arial" pitchFamily="34" charset="-120"/>
              </a:rPr>
              <a:t>Sentinel plan</a:t>
            </a:r>
            <a:endParaRPr lang="en-US" sz="1400" dirty="0"/>
          </a:p>
        </p:txBody>
      </p:sp>
      <p:sp>
        <p:nvSpPr>
          <p:cNvPr id="19" name="Text 14"/>
          <p:cNvSpPr/>
          <p:nvPr/>
        </p:nvSpPr>
        <p:spPr>
          <a:xfrm>
            <a:off x="8421624" y="2560320"/>
            <a:ext cx="3136392" cy="658368"/>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Walked through the plan and the high-level architecture.</a:t>
            </a:r>
            <a:endParaRPr lang="en-US" sz="1150" dirty="0"/>
          </a:p>
        </p:txBody>
      </p:sp>
      <p:sp>
        <p:nvSpPr>
          <p:cNvPr id="20" name="Text 15"/>
          <p:cNvSpPr/>
          <p:nvPr/>
        </p:nvSpPr>
        <p:spPr>
          <a:xfrm>
            <a:off x="548640" y="3584448"/>
            <a:ext cx="3657600" cy="256032"/>
          </a:xfrm>
          <a:prstGeom prst="rect">
            <a:avLst/>
          </a:prstGeom>
          <a:noFill/>
          <a:ln/>
        </p:spPr>
        <p:txBody>
          <a:bodyPr wrap="square" lIns="0" tIns="0" rIns="0" bIns="0" rtlCol="0" anchor="ctr"/>
          <a:lstStyle/>
          <a:p>
            <a:pPr indent="0" marL="0">
              <a:buNone/>
            </a:pPr>
            <a:r>
              <a:rPr lang="en-US" sz="1100" b="1" spc="250" kern="0" dirty="0">
                <a:solidFill>
                  <a:srgbClr val="706E67"/>
                </a:solidFill>
                <a:latin typeface="Arial" pitchFamily="34" charset="0"/>
                <a:ea typeface="Arial" pitchFamily="34" charset="-122"/>
                <a:cs typeface="Arial" pitchFamily="34" charset="-120"/>
              </a:rPr>
              <a:t>TODAY</a:t>
            </a:r>
            <a:endParaRPr lang="en-US" sz="1100" dirty="0"/>
          </a:p>
        </p:txBody>
      </p:sp>
      <p:sp>
        <p:nvSpPr>
          <p:cNvPr id="21" name="Shape 16"/>
          <p:cNvSpPr/>
          <p:nvPr/>
        </p:nvSpPr>
        <p:spPr>
          <a:xfrm>
            <a:off x="548640" y="3913632"/>
            <a:ext cx="3593592" cy="2286000"/>
          </a:xfrm>
          <a:prstGeom prst="roundRect">
            <a:avLst>
              <a:gd name="adj" fmla="val 3600"/>
            </a:avLst>
          </a:prstGeom>
          <a:solidFill>
            <a:srgbClr val="CCCABC"/>
          </a:solidFill>
          <a:ln/>
        </p:spPr>
      </p:sp>
      <p:sp>
        <p:nvSpPr>
          <p:cNvPr id="22" name="Shape 17"/>
          <p:cNvSpPr/>
          <p:nvPr/>
        </p:nvSpPr>
        <p:spPr>
          <a:xfrm>
            <a:off x="777240" y="4169664"/>
            <a:ext cx="457200" cy="45720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896112" y="4288536"/>
            <a:ext cx="219456" cy="219456"/>
          </a:xfrm>
          <a:prstGeom prst="rect">
            <a:avLst/>
          </a:prstGeom>
        </p:spPr>
      </p:pic>
      <p:sp>
        <p:nvSpPr>
          <p:cNvPr id="24" name="Text 18"/>
          <p:cNvSpPr/>
          <p:nvPr/>
        </p:nvSpPr>
        <p:spPr>
          <a:xfrm>
            <a:off x="777240" y="4782312"/>
            <a:ext cx="3136392" cy="50292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The Review Agent: live</a:t>
            </a:r>
            <a:endParaRPr lang="en-US" sz="1550" dirty="0"/>
          </a:p>
        </p:txBody>
      </p:sp>
      <p:sp>
        <p:nvSpPr>
          <p:cNvPr id="25" name="Text 19"/>
          <p:cNvSpPr/>
          <p:nvPr/>
        </p:nvSpPr>
        <p:spPr>
          <a:xfrm>
            <a:off x="777240" y="5285232"/>
            <a:ext cx="3136392" cy="82296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Our Copilot Studio copilot for Counterparty Credit Reviews. What it does, and how to work with it.</a:t>
            </a:r>
            <a:endParaRPr lang="en-US" sz="1200" dirty="0"/>
          </a:p>
        </p:txBody>
      </p:sp>
      <p:sp>
        <p:nvSpPr>
          <p:cNvPr id="26" name="Shape 20"/>
          <p:cNvSpPr/>
          <p:nvPr/>
        </p:nvSpPr>
        <p:spPr>
          <a:xfrm>
            <a:off x="4370832" y="3913632"/>
            <a:ext cx="3593592" cy="2286000"/>
          </a:xfrm>
          <a:prstGeom prst="roundRect">
            <a:avLst>
              <a:gd name="adj" fmla="val 3600"/>
            </a:avLst>
          </a:prstGeom>
          <a:solidFill>
            <a:srgbClr val="CCCABC"/>
          </a:solidFill>
          <a:ln/>
        </p:spPr>
      </p:sp>
      <p:sp>
        <p:nvSpPr>
          <p:cNvPr id="27" name="Shape 21"/>
          <p:cNvSpPr/>
          <p:nvPr/>
        </p:nvSpPr>
        <p:spPr>
          <a:xfrm>
            <a:off x="4599432" y="4169664"/>
            <a:ext cx="457200" cy="45720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718304" y="4288536"/>
            <a:ext cx="219456" cy="219456"/>
          </a:xfrm>
          <a:prstGeom prst="rect">
            <a:avLst/>
          </a:prstGeom>
        </p:spPr>
      </p:pic>
      <p:sp>
        <p:nvSpPr>
          <p:cNvPr id="29" name="Text 22"/>
          <p:cNvSpPr/>
          <p:nvPr/>
        </p:nvSpPr>
        <p:spPr>
          <a:xfrm>
            <a:off x="4599432" y="4782312"/>
            <a:ext cx="3136392" cy="50292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Sentinel check-in</a:t>
            </a:r>
            <a:endParaRPr lang="en-US" sz="1550" dirty="0"/>
          </a:p>
        </p:txBody>
      </p:sp>
      <p:sp>
        <p:nvSpPr>
          <p:cNvPr id="30" name="Text 23"/>
          <p:cNvSpPr/>
          <p:nvPr/>
        </p:nvSpPr>
        <p:spPr>
          <a:xfrm>
            <a:off x="4599432" y="5285232"/>
            <a:ext cx="3136392" cy="82296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The plan has moved into technical requirements. Where things stand and what comes next.</a:t>
            </a:r>
            <a:endParaRPr lang="en-US" sz="1200" dirty="0"/>
          </a:p>
        </p:txBody>
      </p:sp>
      <p:sp>
        <p:nvSpPr>
          <p:cNvPr id="31" name="Shape 24"/>
          <p:cNvSpPr/>
          <p:nvPr/>
        </p:nvSpPr>
        <p:spPr>
          <a:xfrm>
            <a:off x="8193024" y="3913632"/>
            <a:ext cx="3593592" cy="2286000"/>
          </a:xfrm>
          <a:prstGeom prst="roundRect">
            <a:avLst>
              <a:gd name="adj" fmla="val 3600"/>
            </a:avLst>
          </a:prstGeom>
          <a:solidFill>
            <a:srgbClr val="CCCABC"/>
          </a:solidFill>
          <a:ln/>
        </p:spPr>
      </p:sp>
      <p:sp>
        <p:nvSpPr>
          <p:cNvPr id="32" name="Shape 25"/>
          <p:cNvSpPr/>
          <p:nvPr/>
        </p:nvSpPr>
        <p:spPr>
          <a:xfrm>
            <a:off x="8421624" y="4169664"/>
            <a:ext cx="457200" cy="45720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540496" y="4288536"/>
            <a:ext cx="219456" cy="219456"/>
          </a:xfrm>
          <a:prstGeom prst="rect">
            <a:avLst/>
          </a:prstGeom>
        </p:spPr>
      </p:pic>
      <p:sp>
        <p:nvSpPr>
          <p:cNvPr id="34" name="Text 26"/>
          <p:cNvSpPr/>
          <p:nvPr/>
        </p:nvSpPr>
        <p:spPr>
          <a:xfrm>
            <a:off x="8421624" y="4782312"/>
            <a:ext cx="3136392" cy="50292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Could vs. should</a:t>
            </a:r>
            <a:endParaRPr lang="en-US" sz="1550" dirty="0"/>
          </a:p>
        </p:txBody>
      </p:sp>
      <p:sp>
        <p:nvSpPr>
          <p:cNvPr id="35" name="Text 27"/>
          <p:cNvSpPr/>
          <p:nvPr/>
        </p:nvSpPr>
        <p:spPr>
          <a:xfrm>
            <a:off x="8421624" y="5285232"/>
            <a:ext cx="3136392" cy="82296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Two traps these tools invite, what AI is and isn't, and two rules for working with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706E67"/>
                </a:solidFill>
                <a:latin typeface="Arial" pitchFamily="34" charset="0"/>
                <a:ea typeface="Arial" pitchFamily="34" charset="-122"/>
                <a:cs typeface="Arial" pitchFamily="34" charset="-120"/>
              </a:rPr>
              <a:t>THE REVIEW AGENT  ·  LIVE FOR THE FULL TEAM</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What it does</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A reviewer copilot for Counterparty Credit Reviews: from source evidence to workpaper-ready analysis</a:t>
            </a:r>
            <a:endParaRPr lang="en-US" sz="1500" dirty="0"/>
          </a:p>
        </p:txBody>
      </p:sp>
      <p:sp>
        <p:nvSpPr>
          <p:cNvPr id="5" name="Shape 3"/>
          <p:cNvSpPr/>
          <p:nvPr/>
        </p:nvSpPr>
        <p:spPr>
          <a:xfrm>
            <a:off x="548640" y="1627632"/>
            <a:ext cx="5349240" cy="3703320"/>
          </a:xfrm>
          <a:prstGeom prst="roundRect">
            <a:avLst>
              <a:gd name="adj" fmla="val 2469"/>
            </a:avLst>
          </a:prstGeom>
          <a:solidFill>
            <a:srgbClr val="F3F2EF"/>
          </a:solidFill>
          <a:ln/>
        </p:spPr>
      </p:sp>
      <p:sp>
        <p:nvSpPr>
          <p:cNvPr id="6" name="Text 4"/>
          <p:cNvSpPr/>
          <p:nvPr/>
        </p:nvSpPr>
        <p:spPr>
          <a:xfrm>
            <a:off x="868680" y="1828800"/>
            <a:ext cx="4709160" cy="365760"/>
          </a:xfrm>
          <a:prstGeom prst="rect">
            <a:avLst/>
          </a:prstGeom>
          <a:noFill/>
          <a:ln/>
        </p:spPr>
        <p:txBody>
          <a:bodyPr wrap="square" lIns="0" tIns="0" rIns="0" bIns="0" rtlCol="0" anchor="ctr"/>
          <a:lstStyle/>
          <a:p>
            <a:pPr indent="0" marL="0">
              <a:buNone/>
            </a:pPr>
            <a:r>
              <a:rPr lang="en-US" sz="1600" b="1" dirty="0">
                <a:solidFill>
                  <a:srgbClr val="706E67"/>
                </a:solidFill>
                <a:latin typeface="Arial" pitchFamily="34" charset="0"/>
                <a:ea typeface="Arial" pitchFamily="34" charset="-122"/>
                <a:cs typeface="Arial" pitchFamily="34" charset="-120"/>
              </a:rPr>
              <a:t>The real burden isn't the writing</a:t>
            </a:r>
            <a:endParaRPr lang="en-US" sz="1600" dirty="0"/>
          </a:p>
        </p:txBody>
      </p:sp>
      <p:sp>
        <p:nvSpPr>
          <p:cNvPr id="7" name="Shape 5"/>
          <p:cNvSpPr/>
          <p:nvPr/>
        </p:nvSpPr>
        <p:spPr>
          <a:xfrm>
            <a:off x="868680" y="2340864"/>
            <a:ext cx="274320" cy="274320"/>
          </a:xfrm>
          <a:prstGeom prst="ellipse">
            <a:avLst/>
          </a:prstGeom>
          <a:solidFill>
            <a:srgbClr val="E7E5DE"/>
          </a:solidFill>
          <a:ln/>
        </p:spPr>
      </p:sp>
      <p:pic>
        <p:nvPicPr>
          <p:cNvPr id="8" name="Image 0" descr="preencoded.png">    </p:cNvPr>
          <p:cNvPicPr>
            <a:picLocks noChangeAspect="1"/>
          </p:cNvPicPr>
          <p:nvPr/>
        </p:nvPicPr>
        <p:blipFill>
          <a:blip r:embed="rId1"/>
          <a:stretch>
            <a:fillRect/>
          </a:stretch>
        </p:blipFill>
        <p:spPr>
          <a:xfrm>
            <a:off x="940003" y="2412187"/>
            <a:ext cx="131674" cy="131674"/>
          </a:xfrm>
          <a:prstGeom prst="rect">
            <a:avLst/>
          </a:prstGeom>
        </p:spPr>
      </p:pic>
      <p:sp>
        <p:nvSpPr>
          <p:cNvPr id="9" name="Text 6"/>
          <p:cNvSpPr/>
          <p:nvPr/>
        </p:nvSpPr>
        <p:spPr>
          <a:xfrm>
            <a:off x="1280160" y="2286000"/>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Reading evidence scattered across Periodic Reviews, credit files, monitoring, ratings, and trading data</a:t>
            </a:r>
            <a:endParaRPr lang="en-US" sz="1150" dirty="0"/>
          </a:p>
        </p:txBody>
      </p:sp>
      <p:sp>
        <p:nvSpPr>
          <p:cNvPr id="10" name="Shape 7"/>
          <p:cNvSpPr/>
          <p:nvPr/>
        </p:nvSpPr>
        <p:spPr>
          <a:xfrm>
            <a:off x="868680" y="3090672"/>
            <a:ext cx="274320" cy="274320"/>
          </a:xfrm>
          <a:prstGeom prst="ellipse">
            <a:avLst/>
          </a:prstGeom>
          <a:solidFill>
            <a:srgbClr val="E7E5DE"/>
          </a:solidFill>
          <a:ln/>
        </p:spPr>
      </p:sp>
      <p:pic>
        <p:nvPicPr>
          <p:cNvPr id="11" name="Image 1" descr="preencoded.png">    </p:cNvPr>
          <p:cNvPicPr>
            <a:picLocks noChangeAspect="1"/>
          </p:cNvPicPr>
          <p:nvPr/>
        </p:nvPicPr>
        <p:blipFill>
          <a:blip r:embed="rId2"/>
          <a:stretch>
            <a:fillRect/>
          </a:stretch>
        </p:blipFill>
        <p:spPr>
          <a:xfrm>
            <a:off x="940003" y="3161995"/>
            <a:ext cx="131674" cy="131674"/>
          </a:xfrm>
          <a:prstGeom prst="rect">
            <a:avLst/>
          </a:prstGeom>
        </p:spPr>
      </p:pic>
      <p:sp>
        <p:nvSpPr>
          <p:cNvPr id="12" name="Text 8"/>
          <p:cNvSpPr/>
          <p:nvPr/>
        </p:nvSpPr>
        <p:spPr>
          <a:xfrm>
            <a:off x="1280160" y="3035808"/>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Working out where each piece belongs in the workpaper</a:t>
            </a:r>
            <a:endParaRPr lang="en-US" sz="1150" dirty="0"/>
          </a:p>
        </p:txBody>
      </p:sp>
      <p:sp>
        <p:nvSpPr>
          <p:cNvPr id="13" name="Shape 9"/>
          <p:cNvSpPr/>
          <p:nvPr/>
        </p:nvSpPr>
        <p:spPr>
          <a:xfrm>
            <a:off x="868680" y="3840480"/>
            <a:ext cx="274320" cy="274320"/>
          </a:xfrm>
          <a:prstGeom prst="ellipse">
            <a:avLst/>
          </a:prstGeom>
          <a:solidFill>
            <a:srgbClr val="E7E5DE"/>
          </a:solidFill>
          <a:ln/>
        </p:spPr>
      </p:sp>
      <p:pic>
        <p:nvPicPr>
          <p:cNvPr id="14" name="Image 2" descr="preencoded.png">    </p:cNvPr>
          <p:cNvPicPr>
            <a:picLocks noChangeAspect="1"/>
          </p:cNvPicPr>
          <p:nvPr/>
        </p:nvPicPr>
        <p:blipFill>
          <a:blip r:embed="rId3"/>
          <a:stretch>
            <a:fillRect/>
          </a:stretch>
        </p:blipFill>
        <p:spPr>
          <a:xfrm>
            <a:off x="940003" y="3911803"/>
            <a:ext cx="131674" cy="131674"/>
          </a:xfrm>
          <a:prstGeom prst="rect">
            <a:avLst/>
          </a:prstGeom>
        </p:spPr>
      </p:pic>
      <p:sp>
        <p:nvSpPr>
          <p:cNvPr id="15" name="Text 10"/>
          <p:cNvSpPr/>
          <p:nvPr/>
        </p:nvSpPr>
        <p:spPr>
          <a:xfrm>
            <a:off x="1280160" y="3785616"/>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Extracting, organizing, and tracking what's still missing</a:t>
            </a:r>
            <a:endParaRPr lang="en-US" sz="1150" dirty="0"/>
          </a:p>
        </p:txBody>
      </p:sp>
      <p:sp>
        <p:nvSpPr>
          <p:cNvPr id="16" name="Shape 11"/>
          <p:cNvSpPr/>
          <p:nvPr/>
        </p:nvSpPr>
        <p:spPr>
          <a:xfrm>
            <a:off x="868680" y="4590288"/>
            <a:ext cx="274320" cy="274320"/>
          </a:xfrm>
          <a:prstGeom prst="ellipse">
            <a:avLst/>
          </a:prstGeom>
          <a:solidFill>
            <a:srgbClr val="E7E5DE"/>
          </a:solidFill>
          <a:ln/>
        </p:spPr>
      </p:sp>
      <p:pic>
        <p:nvPicPr>
          <p:cNvPr id="17" name="Image 3" descr="preencoded.png">    </p:cNvPr>
          <p:cNvPicPr>
            <a:picLocks noChangeAspect="1"/>
          </p:cNvPicPr>
          <p:nvPr/>
        </p:nvPicPr>
        <p:blipFill>
          <a:blip r:embed="rId4"/>
          <a:stretch>
            <a:fillRect/>
          </a:stretch>
        </p:blipFill>
        <p:spPr>
          <a:xfrm>
            <a:off x="940003" y="4661611"/>
            <a:ext cx="131674" cy="131674"/>
          </a:xfrm>
          <a:prstGeom prst="rect">
            <a:avLst/>
          </a:prstGeom>
        </p:spPr>
      </p:pic>
      <p:sp>
        <p:nvSpPr>
          <p:cNvPr id="18" name="Text 12"/>
          <p:cNvSpPr/>
          <p:nvPr/>
        </p:nvSpPr>
        <p:spPr>
          <a:xfrm>
            <a:off x="1280160" y="4535424"/>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Writing narrative that actually meets the section requirements</a:t>
            </a:r>
            <a:endParaRPr lang="en-US" sz="1150" dirty="0"/>
          </a:p>
        </p:txBody>
      </p:sp>
      <p:sp>
        <p:nvSpPr>
          <p:cNvPr id="19" name="Shape 13"/>
          <p:cNvSpPr/>
          <p:nvPr/>
        </p:nvSpPr>
        <p:spPr>
          <a:xfrm>
            <a:off x="6291072" y="1627632"/>
            <a:ext cx="5349240" cy="3703320"/>
          </a:xfrm>
          <a:prstGeom prst="roundRect">
            <a:avLst>
              <a:gd name="adj" fmla="val 2469"/>
            </a:avLst>
          </a:prstGeom>
          <a:solidFill>
            <a:srgbClr val="F7F6F3"/>
          </a:solidFill>
          <a:ln/>
        </p:spPr>
      </p:sp>
      <p:sp>
        <p:nvSpPr>
          <p:cNvPr id="20" name="Text 14"/>
          <p:cNvSpPr/>
          <p:nvPr/>
        </p:nvSpPr>
        <p:spPr>
          <a:xfrm>
            <a:off x="6611112" y="1828800"/>
            <a:ext cx="4709160" cy="365760"/>
          </a:xfrm>
          <a:prstGeom prst="rect">
            <a:avLst/>
          </a:prstGeom>
          <a:noFill/>
          <a:ln/>
        </p:spPr>
        <p:txBody>
          <a:bodyPr wrap="square" lIns="0" tIns="0" rIns="0" bIns="0" rtlCol="0" anchor="ctr"/>
          <a:lstStyle/>
          <a:p>
            <a:pPr indent="0" marL="0">
              <a:buNone/>
            </a:pPr>
            <a:r>
              <a:rPr lang="en-US" sz="1600" b="1" dirty="0">
                <a:solidFill>
                  <a:srgbClr val="121212"/>
                </a:solidFill>
                <a:latin typeface="Arial" pitchFamily="34" charset="0"/>
                <a:ea typeface="Arial" pitchFamily="34" charset="-122"/>
                <a:cs typeface="Arial" pitchFamily="34" charset="-120"/>
              </a:rPr>
              <a:t>What the copilot takes on</a:t>
            </a:r>
            <a:endParaRPr lang="en-US" sz="1600" dirty="0"/>
          </a:p>
        </p:txBody>
      </p:sp>
      <p:sp>
        <p:nvSpPr>
          <p:cNvPr id="21" name="Shape 15"/>
          <p:cNvSpPr/>
          <p:nvPr/>
        </p:nvSpPr>
        <p:spPr>
          <a:xfrm>
            <a:off x="6611112" y="2340864"/>
            <a:ext cx="274320" cy="274320"/>
          </a:xfrm>
          <a:prstGeom prst="ellipse">
            <a:avLst/>
          </a:prstGeom>
          <a:solidFill>
            <a:srgbClr val="CCCABC"/>
          </a:solidFill>
          <a:ln/>
        </p:spPr>
      </p:sp>
      <p:pic>
        <p:nvPicPr>
          <p:cNvPr id="22" name="Image 4" descr="preencoded.png">    </p:cNvPr>
          <p:cNvPicPr>
            <a:picLocks noChangeAspect="1"/>
          </p:cNvPicPr>
          <p:nvPr/>
        </p:nvPicPr>
        <p:blipFill>
          <a:blip r:embed="rId5"/>
          <a:stretch>
            <a:fillRect/>
          </a:stretch>
        </p:blipFill>
        <p:spPr>
          <a:xfrm>
            <a:off x="6682435" y="2412187"/>
            <a:ext cx="131674" cy="131674"/>
          </a:xfrm>
          <a:prstGeom prst="rect">
            <a:avLst/>
          </a:prstGeom>
        </p:spPr>
      </p:pic>
      <p:sp>
        <p:nvSpPr>
          <p:cNvPr id="23" name="Text 16"/>
          <p:cNvSpPr/>
          <p:nvPr/>
        </p:nvSpPr>
        <p:spPr>
          <a:xfrm>
            <a:off x="7022592" y="2286000"/>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Ingests sources: upload a document, paste text, or answer its questions as you go</a:t>
            </a:r>
            <a:endParaRPr lang="en-US" sz="1150" dirty="0"/>
          </a:p>
        </p:txBody>
      </p:sp>
      <p:sp>
        <p:nvSpPr>
          <p:cNvPr id="24" name="Shape 17"/>
          <p:cNvSpPr/>
          <p:nvPr/>
        </p:nvSpPr>
        <p:spPr>
          <a:xfrm>
            <a:off x="6611112" y="3090672"/>
            <a:ext cx="274320" cy="274320"/>
          </a:xfrm>
          <a:prstGeom prst="ellipse">
            <a:avLst/>
          </a:prstGeom>
          <a:solidFill>
            <a:srgbClr val="CCCABC"/>
          </a:solidFill>
          <a:ln/>
        </p:spPr>
      </p:sp>
      <p:pic>
        <p:nvPicPr>
          <p:cNvPr id="25" name="Image 5" descr="preencoded.png">    </p:cNvPr>
          <p:cNvPicPr>
            <a:picLocks noChangeAspect="1"/>
          </p:cNvPicPr>
          <p:nvPr/>
        </p:nvPicPr>
        <p:blipFill>
          <a:blip r:embed="rId6"/>
          <a:stretch>
            <a:fillRect/>
          </a:stretch>
        </p:blipFill>
        <p:spPr>
          <a:xfrm>
            <a:off x="6682435" y="3161995"/>
            <a:ext cx="131674" cy="131674"/>
          </a:xfrm>
          <a:prstGeom prst="rect">
            <a:avLst/>
          </a:prstGeom>
        </p:spPr>
      </p:pic>
      <p:sp>
        <p:nvSpPr>
          <p:cNvPr id="26" name="Text 18"/>
          <p:cNvSpPr/>
          <p:nvPr/>
        </p:nvSpPr>
        <p:spPr>
          <a:xfrm>
            <a:off x="7022592" y="3035808"/>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Classifies evidence into the right CRR section, and keeps multiple Partners in a relationship straight</a:t>
            </a:r>
            <a:endParaRPr lang="en-US" sz="1150" dirty="0"/>
          </a:p>
        </p:txBody>
      </p:sp>
      <p:sp>
        <p:nvSpPr>
          <p:cNvPr id="27" name="Shape 19"/>
          <p:cNvSpPr/>
          <p:nvPr/>
        </p:nvSpPr>
        <p:spPr>
          <a:xfrm>
            <a:off x="6611112" y="3840480"/>
            <a:ext cx="274320" cy="274320"/>
          </a:xfrm>
          <a:prstGeom prst="ellipse">
            <a:avLst/>
          </a:prstGeom>
          <a:solidFill>
            <a:srgbClr val="CCCABC"/>
          </a:solidFill>
          <a:ln/>
        </p:spPr>
      </p:sp>
      <p:pic>
        <p:nvPicPr>
          <p:cNvPr id="28" name="Image 6" descr="preencoded.png">    </p:cNvPr>
          <p:cNvPicPr>
            <a:picLocks noChangeAspect="1"/>
          </p:cNvPicPr>
          <p:nvPr/>
        </p:nvPicPr>
        <p:blipFill>
          <a:blip r:embed="rId7"/>
          <a:stretch>
            <a:fillRect/>
          </a:stretch>
        </p:blipFill>
        <p:spPr>
          <a:xfrm>
            <a:off x="6682435" y="3911803"/>
            <a:ext cx="131674" cy="131674"/>
          </a:xfrm>
          <a:prstGeom prst="rect">
            <a:avLst/>
          </a:prstGeom>
        </p:spPr>
      </p:pic>
      <p:sp>
        <p:nvSpPr>
          <p:cNvPr id="29" name="Text 20"/>
          <p:cNvSpPr/>
          <p:nvPr/>
        </p:nvSpPr>
        <p:spPr>
          <a:xfrm>
            <a:off x="7022592" y="3785616"/>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Flags gaps, asks targeted follow-ups, and reminds you where screenshots belong</a:t>
            </a:r>
            <a:endParaRPr lang="en-US" sz="1150" dirty="0"/>
          </a:p>
        </p:txBody>
      </p:sp>
      <p:sp>
        <p:nvSpPr>
          <p:cNvPr id="30" name="Shape 21"/>
          <p:cNvSpPr/>
          <p:nvPr/>
        </p:nvSpPr>
        <p:spPr>
          <a:xfrm>
            <a:off x="6611112" y="4590288"/>
            <a:ext cx="274320" cy="274320"/>
          </a:xfrm>
          <a:prstGeom prst="ellipse">
            <a:avLst/>
          </a:prstGeom>
          <a:solidFill>
            <a:srgbClr val="CCCABC"/>
          </a:solidFill>
          <a:ln/>
        </p:spPr>
      </p:sp>
      <p:pic>
        <p:nvPicPr>
          <p:cNvPr id="31" name="Image 7" descr="preencoded.png">    </p:cNvPr>
          <p:cNvPicPr>
            <a:picLocks noChangeAspect="1"/>
          </p:cNvPicPr>
          <p:nvPr/>
        </p:nvPicPr>
        <p:blipFill>
          <a:blip r:embed="rId8"/>
          <a:stretch>
            <a:fillRect/>
          </a:stretch>
        </p:blipFill>
        <p:spPr>
          <a:xfrm>
            <a:off x="6682435" y="4661611"/>
            <a:ext cx="131674" cy="131674"/>
          </a:xfrm>
          <a:prstGeom prst="rect">
            <a:avLst/>
          </a:prstGeom>
        </p:spPr>
      </p:pic>
      <p:sp>
        <p:nvSpPr>
          <p:cNvPr id="32" name="Text 22"/>
          <p:cNvSpPr/>
          <p:nvPr/>
        </p:nvSpPr>
        <p:spPr>
          <a:xfrm>
            <a:off x="7022592" y="4535424"/>
            <a:ext cx="4297680" cy="713232"/>
          </a:xfrm>
          <a:prstGeom prst="rect">
            <a:avLst/>
          </a:prstGeom>
          <a:noFill/>
          <a:ln/>
        </p:spPr>
        <p:txBody>
          <a:bodyPr wrap="square" lIns="0" tIns="0" rIns="0" bIns="0" rtlCol="0" anchor="t"/>
          <a:lstStyle/>
          <a:p>
            <a:pPr indent="0" marL="0">
              <a:buNone/>
            </a:pPr>
            <a:r>
              <a:rPr lang="en-US" sz="1150" dirty="0">
                <a:solidFill>
                  <a:srgbClr val="404040"/>
                </a:solidFill>
                <a:latin typeface="Arial" pitchFamily="34" charset="0"/>
                <a:ea typeface="Arial" pitchFamily="34" charset="-122"/>
                <a:cs typeface="Arial" pitchFamily="34" charset="-120"/>
              </a:rPr>
              <a:t>Drafts workpaper-ready narrative you steer by command: “shorten this,” “regenerate,” “generate final document”</a:t>
            </a:r>
            <a:endParaRPr lang="en-US" sz="1150" dirty="0"/>
          </a:p>
        </p:txBody>
      </p:sp>
      <p:sp>
        <p:nvSpPr>
          <p:cNvPr id="33" name="Shape 23"/>
          <p:cNvSpPr/>
          <p:nvPr/>
        </p:nvSpPr>
        <p:spPr>
          <a:xfrm>
            <a:off x="548640" y="5413248"/>
            <a:ext cx="11091672" cy="777240"/>
          </a:xfrm>
          <a:prstGeom prst="roundRect">
            <a:avLst>
              <a:gd name="adj" fmla="val 11765"/>
            </a:avLst>
          </a:prstGeom>
          <a:solidFill>
            <a:srgbClr val="F3F2EF"/>
          </a:solidFill>
          <a:ln/>
        </p:spPr>
      </p:sp>
      <p:sp>
        <p:nvSpPr>
          <p:cNvPr id="34" name="Text 24"/>
          <p:cNvSpPr/>
          <p:nvPr/>
        </p:nvSpPr>
        <p:spPr>
          <a:xfrm>
            <a:off x="868680" y="5413248"/>
            <a:ext cx="10451592" cy="777240"/>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It doesn't replace reviewer judgment; it cuts the manual effort to find, organize, structure, analyze, and document the review.</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How it works</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Evidence-driven, with the reviewer in the loop at every step</a:t>
            </a:r>
            <a:endParaRPr lang="en-US" sz="1500" dirty="0"/>
          </a:p>
        </p:txBody>
      </p:sp>
      <p:sp>
        <p:nvSpPr>
          <p:cNvPr id="4" name="Shape 2"/>
          <p:cNvSpPr/>
          <p:nvPr/>
        </p:nvSpPr>
        <p:spPr>
          <a:xfrm>
            <a:off x="548640" y="1600200"/>
            <a:ext cx="2011680" cy="2880360"/>
          </a:xfrm>
          <a:prstGeom prst="roundRect">
            <a:avLst>
              <a:gd name="adj" fmla="val 4091"/>
            </a:avLst>
          </a:prstGeom>
          <a:solidFill>
            <a:srgbClr val="F7F6F3"/>
          </a:solidFill>
          <a:ln/>
        </p:spPr>
      </p:sp>
      <p:sp>
        <p:nvSpPr>
          <p:cNvPr id="5" name="Shape 3"/>
          <p:cNvSpPr/>
          <p:nvPr/>
        </p:nvSpPr>
        <p:spPr>
          <a:xfrm>
            <a:off x="731520" y="1783080"/>
            <a:ext cx="384048" cy="384048"/>
          </a:xfrm>
          <a:prstGeom prst="ellipse">
            <a:avLst/>
          </a:prstGeom>
          <a:solidFill>
            <a:srgbClr val="CCCABC"/>
          </a:solidFill>
          <a:ln/>
        </p:spPr>
      </p:sp>
      <p:sp>
        <p:nvSpPr>
          <p:cNvPr id="6" name="Text 4"/>
          <p:cNvSpPr/>
          <p:nvPr/>
        </p:nvSpPr>
        <p:spPr>
          <a:xfrm>
            <a:off x="731520" y="1783080"/>
            <a:ext cx="384048" cy="384048"/>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731520" y="2313432"/>
            <a:ext cx="1645920" cy="594360"/>
          </a:xfrm>
          <a:prstGeom prst="rect">
            <a:avLst/>
          </a:prstGeom>
          <a:noFill/>
          <a:ln/>
        </p:spPr>
        <p:txBody>
          <a:bodyPr wrap="square" lIns="0" tIns="0" rIns="0" bIns="0" rtlCol="0" anchor="t"/>
          <a:lstStyle/>
          <a:p>
            <a:pPr indent="0" marL="0">
              <a:buNone/>
            </a:pPr>
            <a:r>
              <a:rPr lang="en-US" sz="1300" b="1" dirty="0">
                <a:solidFill>
                  <a:srgbClr val="121212"/>
                </a:solidFill>
                <a:latin typeface="Arial" pitchFamily="34" charset="0"/>
                <a:ea typeface="Arial" pitchFamily="34" charset="-122"/>
                <a:cs typeface="Arial" pitchFamily="34" charset="-120"/>
              </a:rPr>
              <a:t>Source evidence</a:t>
            </a:r>
            <a:endParaRPr lang="en-US" sz="1300" dirty="0"/>
          </a:p>
        </p:txBody>
      </p:sp>
      <p:sp>
        <p:nvSpPr>
          <p:cNvPr id="8" name="Text 6"/>
          <p:cNvSpPr/>
          <p:nvPr/>
        </p:nvSpPr>
        <p:spPr>
          <a:xfrm>
            <a:off x="731520" y="2880360"/>
            <a:ext cx="1645920" cy="1463040"/>
          </a:xfrm>
          <a:prstGeom prst="rect">
            <a:avLst/>
          </a:prstGeom>
          <a:noFill/>
          <a:ln/>
        </p:spPr>
        <p:txBody>
          <a:bodyPr wrap="square" lIns="0" tIns="0" rIns="0" bIns="0" rtlCol="0" anchor="t"/>
          <a:lstStyle/>
          <a:p>
            <a:pPr indent="0" marL="0">
              <a:buNone/>
            </a:pPr>
            <a:r>
              <a:rPr lang="en-US" sz="1050" dirty="0">
                <a:solidFill>
                  <a:srgbClr val="404040"/>
                </a:solidFill>
                <a:latin typeface="Arial" pitchFamily="34" charset="0"/>
                <a:ea typeface="Arial" pitchFamily="34" charset="-122"/>
                <a:cs typeface="Arial" pitchFamily="34" charset="-120"/>
              </a:rPr>
              <a:t>Upload a Periodic Review, paste source text, or feed it details as you go.</a:t>
            </a:r>
            <a:endParaRPr lang="en-US" sz="1050" dirty="0"/>
          </a:p>
        </p:txBody>
      </p:sp>
      <p:sp>
        <p:nvSpPr>
          <p:cNvPr id="9" name="Text 7"/>
          <p:cNvSpPr/>
          <p:nvPr/>
        </p:nvSpPr>
        <p:spPr>
          <a:xfrm>
            <a:off x="2542032" y="2651760"/>
            <a:ext cx="292608" cy="411480"/>
          </a:xfrm>
          <a:prstGeom prst="rect">
            <a:avLst/>
          </a:prstGeom>
          <a:noFill/>
          <a:ln/>
        </p:spPr>
        <p:txBody>
          <a:bodyPr wrap="square" lIns="0" tIns="0" rIns="0" bIns="0" rtlCol="0" anchor="ctr"/>
          <a:lstStyle/>
          <a:p>
            <a:pPr algn="ctr" indent="0" marL="0">
              <a:buNone/>
            </a:pPr>
            <a:r>
              <a:rPr lang="en-US" sz="1500" b="1" dirty="0">
                <a:solidFill>
                  <a:srgbClr val="706E67"/>
                </a:solidFill>
                <a:latin typeface="Arial" pitchFamily="34" charset="0"/>
                <a:ea typeface="Arial" pitchFamily="34" charset="-122"/>
                <a:cs typeface="Arial" pitchFamily="34" charset="-120"/>
              </a:rPr>
              <a:t>→</a:t>
            </a:r>
            <a:endParaRPr lang="en-US" sz="1500" dirty="0"/>
          </a:p>
        </p:txBody>
      </p:sp>
      <p:sp>
        <p:nvSpPr>
          <p:cNvPr id="10" name="Shape 8"/>
          <p:cNvSpPr/>
          <p:nvPr/>
        </p:nvSpPr>
        <p:spPr>
          <a:xfrm>
            <a:off x="2816352" y="1600200"/>
            <a:ext cx="2011680" cy="2880360"/>
          </a:xfrm>
          <a:prstGeom prst="roundRect">
            <a:avLst>
              <a:gd name="adj" fmla="val 4091"/>
            </a:avLst>
          </a:prstGeom>
          <a:solidFill>
            <a:srgbClr val="CCCABC"/>
          </a:solidFill>
          <a:ln/>
        </p:spPr>
      </p:sp>
      <p:sp>
        <p:nvSpPr>
          <p:cNvPr id="11" name="Shape 9"/>
          <p:cNvSpPr/>
          <p:nvPr/>
        </p:nvSpPr>
        <p:spPr>
          <a:xfrm>
            <a:off x="2999232" y="1783080"/>
            <a:ext cx="384048" cy="384048"/>
          </a:xfrm>
          <a:prstGeom prst="ellipse">
            <a:avLst/>
          </a:prstGeom>
          <a:solidFill>
            <a:srgbClr val="B8B3A2"/>
          </a:solidFill>
          <a:ln/>
        </p:spPr>
      </p:sp>
      <p:sp>
        <p:nvSpPr>
          <p:cNvPr id="12" name="Text 10"/>
          <p:cNvSpPr/>
          <p:nvPr/>
        </p:nvSpPr>
        <p:spPr>
          <a:xfrm>
            <a:off x="2999232" y="1783080"/>
            <a:ext cx="384048" cy="384048"/>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2999232" y="2313432"/>
            <a:ext cx="1645920" cy="594360"/>
          </a:xfrm>
          <a:prstGeom prst="rect">
            <a:avLst/>
          </a:prstGeom>
          <a:noFill/>
          <a:ln/>
        </p:spPr>
        <p:txBody>
          <a:bodyPr wrap="square" lIns="0" tIns="0" rIns="0" bIns="0" rtlCol="0" anchor="t"/>
          <a:lstStyle/>
          <a:p>
            <a:pPr indent="0" marL="0">
              <a:buNone/>
            </a:pPr>
            <a:r>
              <a:rPr lang="en-US" sz="1300" b="1" dirty="0">
                <a:solidFill>
                  <a:srgbClr val="121212"/>
                </a:solidFill>
                <a:latin typeface="Arial" pitchFamily="34" charset="0"/>
                <a:ea typeface="Arial" pitchFamily="34" charset="-122"/>
                <a:cs typeface="Arial" pitchFamily="34" charset="-120"/>
              </a:rPr>
              <a:t>Classification</a:t>
            </a:r>
            <a:endParaRPr lang="en-US" sz="1300" dirty="0"/>
          </a:p>
        </p:txBody>
      </p:sp>
      <p:sp>
        <p:nvSpPr>
          <p:cNvPr id="14" name="Text 12"/>
          <p:cNvSpPr/>
          <p:nvPr/>
        </p:nvSpPr>
        <p:spPr>
          <a:xfrm>
            <a:off x="2999232" y="2880360"/>
            <a:ext cx="1645920" cy="1463040"/>
          </a:xfrm>
          <a:prstGeom prst="rect">
            <a:avLst/>
          </a:prstGeom>
          <a:noFill/>
          <a:ln/>
        </p:spPr>
        <p:txBody>
          <a:bodyPr wrap="square" lIns="0" tIns="0" rIns="0" bIns="0" rtlCol="0" anchor="t"/>
          <a:lstStyle/>
          <a:p>
            <a:pPr indent="0" marL="0">
              <a:buNone/>
            </a:pPr>
            <a:r>
              <a:rPr lang="en-US" sz="1050" dirty="0">
                <a:solidFill>
                  <a:srgbClr val="404040"/>
                </a:solidFill>
                <a:latin typeface="Arial" pitchFamily="34" charset="0"/>
                <a:ea typeface="Arial" pitchFamily="34" charset="-122"/>
                <a:cs typeface="Arial" pitchFamily="34" charset="-120"/>
              </a:rPr>
              <a:t>Every piece of evidence is mapped to the right CRR section before anything is written.</a:t>
            </a:r>
            <a:endParaRPr lang="en-US" sz="1050" dirty="0"/>
          </a:p>
        </p:txBody>
      </p:sp>
      <p:sp>
        <p:nvSpPr>
          <p:cNvPr id="15" name="Text 13"/>
          <p:cNvSpPr/>
          <p:nvPr/>
        </p:nvSpPr>
        <p:spPr>
          <a:xfrm>
            <a:off x="4809744" y="2651760"/>
            <a:ext cx="292608" cy="411480"/>
          </a:xfrm>
          <a:prstGeom prst="rect">
            <a:avLst/>
          </a:prstGeom>
          <a:noFill/>
          <a:ln/>
        </p:spPr>
        <p:txBody>
          <a:bodyPr wrap="square" lIns="0" tIns="0" rIns="0" bIns="0" rtlCol="0" anchor="ctr"/>
          <a:lstStyle/>
          <a:p>
            <a:pPr algn="ctr" indent="0" marL="0">
              <a:buNone/>
            </a:pPr>
            <a:r>
              <a:rPr lang="en-US" sz="1500" b="1" dirty="0">
                <a:solidFill>
                  <a:srgbClr val="706E67"/>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5084064" y="1600200"/>
            <a:ext cx="2011680" cy="2880360"/>
          </a:xfrm>
          <a:prstGeom prst="roundRect">
            <a:avLst>
              <a:gd name="adj" fmla="val 4091"/>
            </a:avLst>
          </a:prstGeom>
          <a:solidFill>
            <a:srgbClr val="F7F6F3"/>
          </a:solidFill>
          <a:ln/>
        </p:spPr>
      </p:sp>
      <p:sp>
        <p:nvSpPr>
          <p:cNvPr id="17" name="Shape 15"/>
          <p:cNvSpPr/>
          <p:nvPr/>
        </p:nvSpPr>
        <p:spPr>
          <a:xfrm>
            <a:off x="5266944" y="1783080"/>
            <a:ext cx="384048" cy="384048"/>
          </a:xfrm>
          <a:prstGeom prst="ellipse">
            <a:avLst/>
          </a:prstGeom>
          <a:solidFill>
            <a:srgbClr val="CCCABC"/>
          </a:solidFill>
          <a:ln/>
        </p:spPr>
      </p:sp>
      <p:sp>
        <p:nvSpPr>
          <p:cNvPr id="18" name="Text 16"/>
          <p:cNvSpPr/>
          <p:nvPr/>
        </p:nvSpPr>
        <p:spPr>
          <a:xfrm>
            <a:off x="5266944" y="1783080"/>
            <a:ext cx="384048" cy="384048"/>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5266944" y="2313432"/>
            <a:ext cx="1645920" cy="594360"/>
          </a:xfrm>
          <a:prstGeom prst="rect">
            <a:avLst/>
          </a:prstGeom>
          <a:noFill/>
          <a:ln/>
        </p:spPr>
        <p:txBody>
          <a:bodyPr wrap="square" lIns="0" tIns="0" rIns="0" bIns="0" rtlCol="0" anchor="t"/>
          <a:lstStyle/>
          <a:p>
            <a:pPr indent="0" marL="0">
              <a:buNone/>
            </a:pPr>
            <a:r>
              <a:rPr lang="en-US" sz="1300" b="1" dirty="0">
                <a:solidFill>
                  <a:srgbClr val="121212"/>
                </a:solidFill>
                <a:latin typeface="Arial" pitchFamily="34" charset="0"/>
                <a:ea typeface="Arial" pitchFamily="34" charset="-122"/>
                <a:cs typeface="Arial" pitchFamily="34" charset="-120"/>
              </a:rPr>
              <a:t>Section analysis</a:t>
            </a:r>
            <a:endParaRPr lang="en-US" sz="1300" dirty="0"/>
          </a:p>
        </p:txBody>
      </p:sp>
      <p:sp>
        <p:nvSpPr>
          <p:cNvPr id="20" name="Text 18"/>
          <p:cNvSpPr/>
          <p:nvPr/>
        </p:nvSpPr>
        <p:spPr>
          <a:xfrm>
            <a:off x="5266944" y="2880360"/>
            <a:ext cx="1645920" cy="1463040"/>
          </a:xfrm>
          <a:prstGeom prst="rect">
            <a:avLst/>
          </a:prstGeom>
          <a:noFill/>
          <a:ln/>
        </p:spPr>
        <p:txBody>
          <a:bodyPr wrap="square" lIns="0" tIns="0" rIns="0" bIns="0" rtlCol="0" anchor="t"/>
          <a:lstStyle/>
          <a:p>
            <a:pPr indent="0" marL="0">
              <a:buNone/>
            </a:pPr>
            <a:r>
              <a:rPr lang="en-US" sz="1050" dirty="0">
                <a:solidFill>
                  <a:srgbClr val="404040"/>
                </a:solidFill>
                <a:latin typeface="Arial" pitchFamily="34" charset="0"/>
                <a:ea typeface="Arial" pitchFamily="34" charset="-122"/>
                <a:cs typeface="Arial" pitchFamily="34" charset="-120"/>
              </a:rPr>
              <a:t>Each section's skill applies its own analytical question to the evidence it owns.</a:t>
            </a:r>
            <a:endParaRPr lang="en-US" sz="1050" dirty="0"/>
          </a:p>
        </p:txBody>
      </p:sp>
      <p:sp>
        <p:nvSpPr>
          <p:cNvPr id="21" name="Text 19"/>
          <p:cNvSpPr/>
          <p:nvPr/>
        </p:nvSpPr>
        <p:spPr>
          <a:xfrm>
            <a:off x="7077456" y="2651760"/>
            <a:ext cx="292608" cy="411480"/>
          </a:xfrm>
          <a:prstGeom prst="rect">
            <a:avLst/>
          </a:prstGeom>
          <a:noFill/>
          <a:ln/>
        </p:spPr>
        <p:txBody>
          <a:bodyPr wrap="square" lIns="0" tIns="0" rIns="0" bIns="0" rtlCol="0" anchor="ctr"/>
          <a:lstStyle/>
          <a:p>
            <a:pPr algn="ctr" indent="0" marL="0">
              <a:buNone/>
            </a:pPr>
            <a:r>
              <a:rPr lang="en-US" sz="1500" b="1" dirty="0">
                <a:solidFill>
                  <a:srgbClr val="706E67"/>
                </a:solidFill>
                <a:latin typeface="Arial" pitchFamily="34" charset="0"/>
                <a:ea typeface="Arial" pitchFamily="34" charset="-122"/>
                <a:cs typeface="Arial" pitchFamily="34" charset="-120"/>
              </a:rPr>
              <a:t>→</a:t>
            </a:r>
            <a:endParaRPr lang="en-US" sz="1500" dirty="0"/>
          </a:p>
        </p:txBody>
      </p:sp>
      <p:sp>
        <p:nvSpPr>
          <p:cNvPr id="22" name="Shape 20"/>
          <p:cNvSpPr/>
          <p:nvPr/>
        </p:nvSpPr>
        <p:spPr>
          <a:xfrm>
            <a:off x="7351776" y="1600200"/>
            <a:ext cx="2011680" cy="2880360"/>
          </a:xfrm>
          <a:prstGeom prst="roundRect">
            <a:avLst>
              <a:gd name="adj" fmla="val 4091"/>
            </a:avLst>
          </a:prstGeom>
          <a:solidFill>
            <a:srgbClr val="F7F6F3"/>
          </a:solidFill>
          <a:ln/>
        </p:spPr>
      </p:sp>
      <p:sp>
        <p:nvSpPr>
          <p:cNvPr id="23" name="Shape 21"/>
          <p:cNvSpPr/>
          <p:nvPr/>
        </p:nvSpPr>
        <p:spPr>
          <a:xfrm>
            <a:off x="7534656" y="1783080"/>
            <a:ext cx="384048" cy="384048"/>
          </a:xfrm>
          <a:prstGeom prst="ellipse">
            <a:avLst/>
          </a:prstGeom>
          <a:solidFill>
            <a:srgbClr val="CCCABC"/>
          </a:solidFill>
          <a:ln/>
        </p:spPr>
      </p:sp>
      <p:sp>
        <p:nvSpPr>
          <p:cNvPr id="24" name="Text 22"/>
          <p:cNvSpPr/>
          <p:nvPr/>
        </p:nvSpPr>
        <p:spPr>
          <a:xfrm>
            <a:off x="7534656" y="1783080"/>
            <a:ext cx="384048" cy="384048"/>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7534656" y="2313432"/>
            <a:ext cx="1645920" cy="594360"/>
          </a:xfrm>
          <a:prstGeom prst="rect">
            <a:avLst/>
          </a:prstGeom>
          <a:noFill/>
          <a:ln/>
        </p:spPr>
        <p:txBody>
          <a:bodyPr wrap="square" lIns="0" tIns="0" rIns="0" bIns="0" rtlCol="0" anchor="t"/>
          <a:lstStyle/>
          <a:p>
            <a:pPr indent="0" marL="0">
              <a:buNone/>
            </a:pPr>
            <a:r>
              <a:rPr lang="en-US" sz="1300" b="1" dirty="0">
                <a:solidFill>
                  <a:srgbClr val="121212"/>
                </a:solidFill>
                <a:latin typeface="Arial" pitchFamily="34" charset="0"/>
                <a:ea typeface="Arial" pitchFamily="34" charset="-122"/>
                <a:cs typeface="Arial" pitchFamily="34" charset="-120"/>
              </a:rPr>
              <a:t>Gap resolution</a:t>
            </a:r>
            <a:endParaRPr lang="en-US" sz="1300" dirty="0"/>
          </a:p>
        </p:txBody>
      </p:sp>
      <p:sp>
        <p:nvSpPr>
          <p:cNvPr id="26" name="Text 24"/>
          <p:cNvSpPr/>
          <p:nvPr/>
        </p:nvSpPr>
        <p:spPr>
          <a:xfrm>
            <a:off x="7534656" y="2880360"/>
            <a:ext cx="1645920" cy="1463040"/>
          </a:xfrm>
          <a:prstGeom prst="rect">
            <a:avLst/>
          </a:prstGeom>
          <a:noFill/>
          <a:ln/>
        </p:spPr>
        <p:txBody>
          <a:bodyPr wrap="square" lIns="0" tIns="0" rIns="0" bIns="0" rtlCol="0" anchor="t"/>
          <a:lstStyle/>
          <a:p>
            <a:pPr indent="0" marL="0">
              <a:buNone/>
            </a:pPr>
            <a:r>
              <a:rPr lang="en-US" sz="1050" dirty="0">
                <a:solidFill>
                  <a:srgbClr val="404040"/>
                </a:solidFill>
                <a:latin typeface="Arial" pitchFamily="34" charset="0"/>
                <a:ea typeface="Arial" pitchFamily="34" charset="-122"/>
                <a:cs typeface="Arial" pitchFamily="34" charset="-120"/>
              </a:rPr>
              <a:t>Targeted follow-ups for what's missing, plus reminders where screenshots go.</a:t>
            </a:r>
            <a:endParaRPr lang="en-US" sz="1050" dirty="0"/>
          </a:p>
        </p:txBody>
      </p:sp>
      <p:sp>
        <p:nvSpPr>
          <p:cNvPr id="27" name="Text 25"/>
          <p:cNvSpPr/>
          <p:nvPr/>
        </p:nvSpPr>
        <p:spPr>
          <a:xfrm>
            <a:off x="9345168" y="2651760"/>
            <a:ext cx="292608" cy="411480"/>
          </a:xfrm>
          <a:prstGeom prst="rect">
            <a:avLst/>
          </a:prstGeom>
          <a:noFill/>
          <a:ln/>
        </p:spPr>
        <p:txBody>
          <a:bodyPr wrap="square" lIns="0" tIns="0" rIns="0" bIns="0" rtlCol="0" anchor="ctr"/>
          <a:lstStyle/>
          <a:p>
            <a:pPr algn="ctr" indent="0" marL="0">
              <a:buNone/>
            </a:pPr>
            <a:r>
              <a:rPr lang="en-US" sz="1500" b="1" dirty="0">
                <a:solidFill>
                  <a:srgbClr val="706E67"/>
                </a:solidFill>
                <a:latin typeface="Arial" pitchFamily="34" charset="0"/>
                <a:ea typeface="Arial" pitchFamily="34" charset="-122"/>
                <a:cs typeface="Arial" pitchFamily="34" charset="-120"/>
              </a:rPr>
              <a:t>→</a:t>
            </a:r>
            <a:endParaRPr lang="en-US" sz="1500" dirty="0"/>
          </a:p>
        </p:txBody>
      </p:sp>
      <p:sp>
        <p:nvSpPr>
          <p:cNvPr id="28" name="Shape 26"/>
          <p:cNvSpPr/>
          <p:nvPr/>
        </p:nvSpPr>
        <p:spPr>
          <a:xfrm>
            <a:off x="9619488" y="1600200"/>
            <a:ext cx="2011680" cy="2880360"/>
          </a:xfrm>
          <a:prstGeom prst="roundRect">
            <a:avLst>
              <a:gd name="adj" fmla="val 4091"/>
            </a:avLst>
          </a:prstGeom>
          <a:solidFill>
            <a:srgbClr val="F7F6F3"/>
          </a:solidFill>
          <a:ln/>
        </p:spPr>
      </p:sp>
      <p:sp>
        <p:nvSpPr>
          <p:cNvPr id="29" name="Shape 27"/>
          <p:cNvSpPr/>
          <p:nvPr/>
        </p:nvSpPr>
        <p:spPr>
          <a:xfrm>
            <a:off x="9802368" y="1783080"/>
            <a:ext cx="384048" cy="384048"/>
          </a:xfrm>
          <a:prstGeom prst="ellipse">
            <a:avLst/>
          </a:prstGeom>
          <a:solidFill>
            <a:srgbClr val="CCCABC"/>
          </a:solidFill>
          <a:ln/>
        </p:spPr>
      </p:sp>
      <p:sp>
        <p:nvSpPr>
          <p:cNvPr id="30" name="Text 28"/>
          <p:cNvSpPr/>
          <p:nvPr/>
        </p:nvSpPr>
        <p:spPr>
          <a:xfrm>
            <a:off x="9802368" y="1783080"/>
            <a:ext cx="384048" cy="384048"/>
          </a:xfrm>
          <a:prstGeom prst="rect">
            <a:avLst/>
          </a:prstGeom>
          <a:noFill/>
          <a:ln/>
        </p:spPr>
        <p:txBody>
          <a:bodyPr wrap="square" lIns="0" tIns="0" rIns="0" bIns="0" rtlCol="0" anchor="ctr"/>
          <a:lstStyle/>
          <a:p>
            <a:pPr algn="ctr" indent="0" marL="0">
              <a:buNone/>
            </a:pPr>
            <a:r>
              <a:rPr lang="en-US" sz="1400" b="1" dirty="0">
                <a:solidFill>
                  <a:srgbClr val="121212"/>
                </a:solidFill>
                <a:latin typeface="Arial" pitchFamily="34" charset="0"/>
                <a:ea typeface="Arial" pitchFamily="34" charset="-122"/>
                <a:cs typeface="Arial" pitchFamily="34" charset="-120"/>
              </a:rPr>
              <a:t>5</a:t>
            </a:r>
            <a:endParaRPr lang="en-US" sz="1400" dirty="0"/>
          </a:p>
        </p:txBody>
      </p:sp>
      <p:sp>
        <p:nvSpPr>
          <p:cNvPr id="31" name="Text 29"/>
          <p:cNvSpPr/>
          <p:nvPr/>
        </p:nvSpPr>
        <p:spPr>
          <a:xfrm>
            <a:off x="9802368" y="2313432"/>
            <a:ext cx="1645920" cy="594360"/>
          </a:xfrm>
          <a:prstGeom prst="rect">
            <a:avLst/>
          </a:prstGeom>
          <a:noFill/>
          <a:ln/>
        </p:spPr>
        <p:txBody>
          <a:bodyPr wrap="square" lIns="0" tIns="0" rIns="0" bIns="0" rtlCol="0" anchor="t"/>
          <a:lstStyle/>
          <a:p>
            <a:pPr indent="0" marL="0">
              <a:buNone/>
            </a:pPr>
            <a:r>
              <a:rPr lang="en-US" sz="1300" b="1" dirty="0">
                <a:solidFill>
                  <a:srgbClr val="121212"/>
                </a:solidFill>
                <a:latin typeface="Arial" pitchFamily="34" charset="0"/>
                <a:ea typeface="Arial" pitchFamily="34" charset="-122"/>
                <a:cs typeface="Arial" pitchFamily="34" charset="-120"/>
              </a:rPr>
              <a:t>Workpaper output</a:t>
            </a:r>
            <a:endParaRPr lang="en-US" sz="1300" dirty="0"/>
          </a:p>
        </p:txBody>
      </p:sp>
      <p:sp>
        <p:nvSpPr>
          <p:cNvPr id="32" name="Text 30"/>
          <p:cNvSpPr/>
          <p:nvPr/>
        </p:nvSpPr>
        <p:spPr>
          <a:xfrm>
            <a:off x="9802368" y="2880360"/>
            <a:ext cx="1645920" cy="1463040"/>
          </a:xfrm>
          <a:prstGeom prst="rect">
            <a:avLst/>
          </a:prstGeom>
          <a:noFill/>
          <a:ln/>
        </p:spPr>
        <p:txBody>
          <a:bodyPr wrap="square" lIns="0" tIns="0" rIns="0" bIns="0" rtlCol="0" anchor="t"/>
          <a:lstStyle/>
          <a:p>
            <a:pPr indent="0" marL="0">
              <a:buNone/>
            </a:pPr>
            <a:r>
              <a:rPr lang="en-US" sz="1050" dirty="0">
                <a:solidFill>
                  <a:srgbClr val="404040"/>
                </a:solidFill>
                <a:latin typeface="Arial" pitchFamily="34" charset="0"/>
                <a:ea typeface="Arial" pitchFamily="34" charset="-122"/>
                <a:cs typeface="Arial" pitchFamily="34" charset="-120"/>
              </a:rPr>
              <a:t>Narrative ready to drop into the Word workpaper. “Generate final document” at any point.</a:t>
            </a:r>
            <a:endParaRPr lang="en-US" sz="1050" dirty="0"/>
          </a:p>
        </p:txBody>
      </p:sp>
      <p:sp>
        <p:nvSpPr>
          <p:cNvPr id="33" name="Text 31"/>
          <p:cNvSpPr/>
          <p:nvPr/>
        </p:nvSpPr>
        <p:spPr>
          <a:xfrm>
            <a:off x="548640" y="4617720"/>
            <a:ext cx="11091672" cy="320040"/>
          </a:xfrm>
          <a:prstGeom prst="rect">
            <a:avLst/>
          </a:prstGeom>
          <a:noFill/>
          <a:ln/>
        </p:spPr>
        <p:txBody>
          <a:bodyPr wrap="square" lIns="0" tIns="0" rIns="0" bIns="0" rtlCol="0" anchor="ctr"/>
          <a:lstStyle/>
          <a:p>
            <a:pPr algn="ctr" indent="0" marL="0">
              <a:buNone/>
            </a:pPr>
            <a:r>
              <a:rPr lang="en-US" sz="1400" b="1" i="1" dirty="0">
                <a:solidFill>
                  <a:srgbClr val="706E67"/>
                </a:solidFill>
                <a:latin typeface="Arial" pitchFamily="34" charset="0"/>
                <a:ea typeface="Arial" pitchFamily="34" charset="-122"/>
                <a:cs typeface="Arial" pitchFamily="34" charset="-120"/>
              </a:rPr>
              <a:t>Classify first. Draft second.</a:t>
            </a:r>
            <a:endParaRPr lang="en-US" sz="1400" dirty="0"/>
          </a:p>
        </p:txBody>
      </p:sp>
      <p:sp>
        <p:nvSpPr>
          <p:cNvPr id="34" name="Text 32"/>
          <p:cNvSpPr/>
          <p:nvPr/>
        </p:nvSpPr>
        <p:spPr>
          <a:xfrm>
            <a:off x="640080" y="4956048"/>
            <a:ext cx="10908792" cy="320040"/>
          </a:xfrm>
          <a:prstGeom prst="rect">
            <a:avLst/>
          </a:prstGeom>
          <a:noFill/>
          <a:ln/>
        </p:spPr>
        <p:txBody>
          <a:bodyPr wrap="square" lIns="0" tIns="0" rIns="0" bIns="0" rtlCol="0" anchor="ctr"/>
          <a:lstStyle/>
          <a:p>
            <a:pPr algn="ctr" indent="0" marL="0">
              <a:buNone/>
            </a:pPr>
            <a:r>
              <a:rPr lang="en-US" sz="1050" dirty="0">
                <a:solidFill>
                  <a:srgbClr val="706E67"/>
                </a:solidFill>
                <a:latin typeface="Arial" pitchFamily="34" charset="0"/>
                <a:ea typeface="Arial" pitchFamily="34" charset="-122"/>
                <a:cs typeface="Arial" pitchFamily="34" charset="-120"/>
              </a:rPr>
              <a:t>Built around the six CRR sections: Overview  ·  Financials  ·  Underwriting &amp; Documentation  ·  Portfolio Management  ·  Risk Rating Accuracy  ·  Trading Activity &amp; Exposure</a:t>
            </a:r>
            <a:endParaRPr lang="en-US" sz="1050" dirty="0"/>
          </a:p>
        </p:txBody>
      </p:sp>
      <p:sp>
        <p:nvSpPr>
          <p:cNvPr id="35" name="Shape 33"/>
          <p:cNvSpPr/>
          <p:nvPr/>
        </p:nvSpPr>
        <p:spPr>
          <a:xfrm>
            <a:off x="2194560" y="5413248"/>
            <a:ext cx="7799832" cy="777240"/>
          </a:xfrm>
          <a:prstGeom prst="roundRect">
            <a:avLst>
              <a:gd name="adj" fmla="val 11765"/>
            </a:avLst>
          </a:prstGeom>
          <a:solidFill>
            <a:srgbClr val="F3F2EF"/>
          </a:solidFill>
          <a:ln/>
        </p:spPr>
      </p:sp>
      <p:sp>
        <p:nvSpPr>
          <p:cNvPr id="36" name="Text 34"/>
          <p:cNvSpPr/>
          <p:nvPr/>
        </p:nvSpPr>
        <p:spPr>
          <a:xfrm>
            <a:off x="2194560" y="5413248"/>
            <a:ext cx="7799832" cy="777240"/>
          </a:xfrm>
          <a:prstGeom prst="rect">
            <a:avLst/>
          </a:prstGeom>
          <a:noFill/>
          <a:ln/>
        </p:spPr>
        <p:txBody>
          <a:bodyPr wrap="square" lIns="0" tIns="0" rIns="0" bIns="0" rtlCol="0" anchor="ctr"/>
          <a:lstStyle/>
          <a:p>
            <a:pPr algn="ctr" indent="0" marL="0">
              <a:buNone/>
            </a:pPr>
            <a:r>
              <a:rPr lang="en-US" sz="1650" b="1" dirty="0">
                <a:solidFill>
                  <a:srgbClr val="121212"/>
                </a:solidFill>
                <a:latin typeface="Arial" pitchFamily="34" charset="0"/>
                <a:ea typeface="Arial" pitchFamily="34" charset="-122"/>
                <a:cs typeface="Arial" pitchFamily="34" charset="-120"/>
              </a:rPr>
              <a:t>The agent does the assembly. The reviewer does the judgment.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How it was built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Not one giant prompt: an orchestrator, a classification taxonomy, and modular skill files</a:t>
            </a:r>
            <a:endParaRPr lang="en-US" sz="1500" dirty="0"/>
          </a:p>
        </p:txBody>
      </p:sp>
      <p:sp>
        <p:nvSpPr>
          <p:cNvPr id="4" name="Shape 2"/>
          <p:cNvSpPr/>
          <p:nvPr/>
        </p:nvSpPr>
        <p:spPr>
          <a:xfrm>
            <a:off x="548640" y="1554480"/>
            <a:ext cx="5989320" cy="3886200"/>
          </a:xfrm>
          <a:prstGeom prst="roundRect">
            <a:avLst>
              <a:gd name="adj" fmla="val 2353"/>
            </a:avLst>
          </a:prstGeom>
          <a:solidFill>
            <a:srgbClr val="F3F2EF"/>
          </a:solidFill>
          <a:ln w="19050">
            <a:solidFill>
              <a:srgbClr val="B8B3A2"/>
            </a:solidFill>
            <a:prstDash val="dash"/>
          </a:ln>
        </p:spPr>
      </p:sp>
      <p:pic>
        <p:nvPicPr>
          <p:cNvPr id="5" name="Image 0" descr="preencoded.png">    </p:cNvPr>
          <p:cNvPicPr>
            <a:picLocks noChangeAspect="1"/>
          </p:cNvPicPr>
          <p:nvPr/>
        </p:nvPicPr>
        <p:blipFill>
          <a:blip r:embed="rId1"/>
          <a:stretch>
            <a:fillRect/>
          </a:stretch>
        </p:blipFill>
        <p:spPr>
          <a:xfrm>
            <a:off x="3223260" y="2811780"/>
            <a:ext cx="640080" cy="640080"/>
          </a:xfrm>
          <a:prstGeom prst="rect">
            <a:avLst/>
          </a:prstGeom>
        </p:spPr>
      </p:pic>
      <p:sp>
        <p:nvSpPr>
          <p:cNvPr id="6" name="Text 3"/>
          <p:cNvSpPr/>
          <p:nvPr/>
        </p:nvSpPr>
        <p:spPr>
          <a:xfrm>
            <a:off x="1005840" y="3589020"/>
            <a:ext cx="5074920" cy="365760"/>
          </a:xfrm>
          <a:prstGeom prst="rect">
            <a:avLst/>
          </a:prstGeom>
          <a:noFill/>
          <a:ln/>
        </p:spPr>
        <p:txBody>
          <a:bodyPr wrap="square" lIns="0" tIns="0" rIns="0" bIns="0" rtlCol="0" anchor="ctr"/>
          <a:lstStyle/>
          <a:p>
            <a:pPr algn="ctr" indent="0" marL="0">
              <a:buNone/>
            </a:pPr>
            <a:r>
              <a:rPr lang="en-US" sz="1400" b="1" dirty="0">
                <a:solidFill>
                  <a:srgbClr val="706E67"/>
                </a:solidFill>
                <a:latin typeface="Arial" pitchFamily="34" charset="0"/>
                <a:ea typeface="Arial" pitchFamily="34" charset="-122"/>
                <a:cs typeface="Arial" pitchFamily="34" charset="-120"/>
              </a:rPr>
              <a:t>Screenshot: the agent in Copilot Studio</a:t>
            </a:r>
            <a:endParaRPr lang="en-US" sz="1400" dirty="0"/>
          </a:p>
        </p:txBody>
      </p:sp>
      <p:sp>
        <p:nvSpPr>
          <p:cNvPr id="7" name="Text 4"/>
          <p:cNvSpPr/>
          <p:nvPr/>
        </p:nvSpPr>
        <p:spPr>
          <a:xfrm>
            <a:off x="1005840" y="3954780"/>
            <a:ext cx="5074920" cy="320040"/>
          </a:xfrm>
          <a:prstGeom prst="rect">
            <a:avLst/>
          </a:prstGeom>
          <a:noFill/>
          <a:ln/>
        </p:spPr>
        <p:txBody>
          <a:bodyPr wrap="square" lIns="0" tIns="0" rIns="0" bIns="0" rtlCol="0" anchor="ctr"/>
          <a:lstStyle/>
          <a:p>
            <a:pPr algn="ctr" indent="0" marL="0">
              <a:buNone/>
            </a:pPr>
            <a:r>
              <a:rPr lang="en-US" sz="1150" i="1" dirty="0">
                <a:solidFill>
                  <a:srgbClr val="706E67"/>
                </a:solidFill>
                <a:latin typeface="Arial" pitchFamily="34" charset="0"/>
                <a:ea typeface="Arial" pitchFamily="34" charset="-122"/>
                <a:cs typeface="Arial" pitchFamily="34" charset="-120"/>
              </a:rPr>
              <a:t>(replace this box with your interface capture)</a:t>
            </a:r>
            <a:endParaRPr lang="en-US" sz="1150" dirty="0"/>
          </a:p>
        </p:txBody>
      </p:sp>
      <p:sp>
        <p:nvSpPr>
          <p:cNvPr id="8" name="Shape 5"/>
          <p:cNvSpPr/>
          <p:nvPr/>
        </p:nvSpPr>
        <p:spPr>
          <a:xfrm>
            <a:off x="6858000" y="1554480"/>
            <a:ext cx="4800600" cy="905256"/>
          </a:xfrm>
          <a:prstGeom prst="roundRect">
            <a:avLst>
              <a:gd name="adj" fmla="val 8081"/>
            </a:avLst>
          </a:prstGeom>
          <a:solidFill>
            <a:srgbClr val="F7F6F3"/>
          </a:solidFill>
          <a:ln/>
        </p:spPr>
      </p:sp>
      <p:sp>
        <p:nvSpPr>
          <p:cNvPr id="9" name="Shape 6"/>
          <p:cNvSpPr/>
          <p:nvPr/>
        </p:nvSpPr>
        <p:spPr>
          <a:xfrm>
            <a:off x="7040880" y="1737360"/>
            <a:ext cx="365760" cy="365760"/>
          </a:xfrm>
          <a:prstGeom prst="ellipse">
            <a:avLst/>
          </a:prstGeom>
          <a:solidFill>
            <a:srgbClr val="CCCABC"/>
          </a:solidFill>
          <a:ln/>
        </p:spPr>
      </p:sp>
      <p:pic>
        <p:nvPicPr>
          <p:cNvPr id="10" name="Image 1" descr="preencoded.png">    </p:cNvPr>
          <p:cNvPicPr>
            <a:picLocks noChangeAspect="1"/>
          </p:cNvPicPr>
          <p:nvPr/>
        </p:nvPicPr>
        <p:blipFill>
          <a:blip r:embed="rId2"/>
          <a:stretch>
            <a:fillRect/>
          </a:stretch>
        </p:blipFill>
        <p:spPr>
          <a:xfrm>
            <a:off x="7135978" y="1832458"/>
            <a:ext cx="175565" cy="175565"/>
          </a:xfrm>
          <a:prstGeom prst="rect">
            <a:avLst/>
          </a:prstGeom>
        </p:spPr>
      </p:pic>
      <p:sp>
        <p:nvSpPr>
          <p:cNvPr id="11" name="Text 7"/>
          <p:cNvSpPr/>
          <p:nvPr/>
        </p:nvSpPr>
        <p:spPr>
          <a:xfrm>
            <a:off x="7543800" y="1664208"/>
            <a:ext cx="3931920" cy="292608"/>
          </a:xfrm>
          <a:prstGeom prst="rect">
            <a:avLst/>
          </a:prstGeom>
          <a:noFill/>
          <a:ln/>
        </p:spPr>
        <p:txBody>
          <a:bodyPr wrap="square" lIns="0" tIns="0" rIns="0" bIns="0" rtlCol="0" anchor="t"/>
          <a:lstStyle/>
          <a:p>
            <a:pPr indent="0" marL="0">
              <a:buNone/>
            </a:pPr>
            <a:r>
              <a:rPr lang="en-US" sz="1250" b="1" dirty="0">
                <a:solidFill>
                  <a:srgbClr val="121212"/>
                </a:solidFill>
                <a:latin typeface="Arial" pitchFamily="34" charset="0"/>
                <a:ea typeface="Arial" pitchFamily="34" charset="-122"/>
                <a:cs typeface="Arial" pitchFamily="34" charset="-120"/>
              </a:rPr>
              <a:t>Main orchestrator</a:t>
            </a:r>
            <a:endParaRPr lang="en-US" sz="1250" dirty="0"/>
          </a:p>
        </p:txBody>
      </p:sp>
      <p:sp>
        <p:nvSpPr>
          <p:cNvPr id="12" name="Text 8"/>
          <p:cNvSpPr/>
          <p:nvPr/>
        </p:nvSpPr>
        <p:spPr>
          <a:xfrm>
            <a:off x="7543800" y="1956816"/>
            <a:ext cx="3931920" cy="475488"/>
          </a:xfrm>
          <a:prstGeom prst="rect">
            <a:avLst/>
          </a:prstGeom>
          <a:noFill/>
          <a:ln/>
        </p:spPr>
        <p:txBody>
          <a:bodyPr wrap="square" lIns="0" tIns="0" rIns="0" bIns="0" rtlCol="0" anchor="t"/>
          <a:lstStyle/>
          <a:p>
            <a:pPr indent="0" marL="0">
              <a:buNone/>
            </a:pPr>
            <a:r>
              <a:rPr lang="en-US" sz="1000" dirty="0">
                <a:solidFill>
                  <a:srgbClr val="404040"/>
                </a:solidFill>
                <a:latin typeface="Arial" pitchFamily="34" charset="0"/>
                <a:ea typeface="Arial" pitchFamily="34" charset="-122"/>
                <a:cs typeface="Arial" pitchFamily="34" charset="-120"/>
              </a:rPr>
              <a:t>Runs the review: scope and Partners, context, which skill to call when.</a:t>
            </a:r>
            <a:endParaRPr lang="en-US" sz="1000" dirty="0"/>
          </a:p>
        </p:txBody>
      </p:sp>
      <p:sp>
        <p:nvSpPr>
          <p:cNvPr id="13" name="Shape 9"/>
          <p:cNvSpPr/>
          <p:nvPr/>
        </p:nvSpPr>
        <p:spPr>
          <a:xfrm>
            <a:off x="6858000" y="2551176"/>
            <a:ext cx="4800600" cy="905256"/>
          </a:xfrm>
          <a:prstGeom prst="roundRect">
            <a:avLst>
              <a:gd name="adj" fmla="val 8081"/>
            </a:avLst>
          </a:prstGeom>
          <a:solidFill>
            <a:srgbClr val="CCCABC"/>
          </a:solidFill>
          <a:ln/>
        </p:spPr>
      </p:sp>
      <p:sp>
        <p:nvSpPr>
          <p:cNvPr id="14" name="Shape 10"/>
          <p:cNvSpPr/>
          <p:nvPr/>
        </p:nvSpPr>
        <p:spPr>
          <a:xfrm>
            <a:off x="7040880" y="2734056"/>
            <a:ext cx="365760" cy="365760"/>
          </a:xfrm>
          <a:prstGeom prst="ellipse">
            <a:avLst/>
          </a:prstGeom>
          <a:solidFill>
            <a:srgbClr val="B8B3A2"/>
          </a:solidFill>
          <a:ln/>
        </p:spPr>
      </p:sp>
      <p:pic>
        <p:nvPicPr>
          <p:cNvPr id="15" name="Image 2" descr="preencoded.png">    </p:cNvPr>
          <p:cNvPicPr>
            <a:picLocks noChangeAspect="1"/>
          </p:cNvPicPr>
          <p:nvPr/>
        </p:nvPicPr>
        <p:blipFill>
          <a:blip r:embed="rId3"/>
          <a:stretch>
            <a:fillRect/>
          </a:stretch>
        </p:blipFill>
        <p:spPr>
          <a:xfrm>
            <a:off x="7135978" y="2829154"/>
            <a:ext cx="175565" cy="175565"/>
          </a:xfrm>
          <a:prstGeom prst="rect">
            <a:avLst/>
          </a:prstGeom>
        </p:spPr>
      </p:pic>
      <p:sp>
        <p:nvSpPr>
          <p:cNvPr id="16" name="Text 11"/>
          <p:cNvSpPr/>
          <p:nvPr/>
        </p:nvSpPr>
        <p:spPr>
          <a:xfrm>
            <a:off x="7543800" y="2660904"/>
            <a:ext cx="3931920" cy="292608"/>
          </a:xfrm>
          <a:prstGeom prst="rect">
            <a:avLst/>
          </a:prstGeom>
          <a:noFill/>
          <a:ln/>
        </p:spPr>
        <p:txBody>
          <a:bodyPr wrap="square" lIns="0" tIns="0" rIns="0" bIns="0" rtlCol="0" anchor="t"/>
          <a:lstStyle/>
          <a:p>
            <a:pPr indent="0" marL="0">
              <a:buNone/>
            </a:pPr>
            <a:r>
              <a:rPr lang="en-US" sz="1250" b="1" dirty="0">
                <a:solidFill>
                  <a:srgbClr val="121212"/>
                </a:solidFill>
                <a:latin typeface="Arial" pitchFamily="34" charset="0"/>
                <a:ea typeface="Arial" pitchFamily="34" charset="-122"/>
                <a:cs typeface="Arial" pitchFamily="34" charset="-120"/>
              </a:rPr>
              <a:t>Section Ownership Taxonomy</a:t>
            </a:r>
            <a:endParaRPr lang="en-US" sz="1250" dirty="0"/>
          </a:p>
        </p:txBody>
      </p:sp>
      <p:sp>
        <p:nvSpPr>
          <p:cNvPr id="17" name="Text 12"/>
          <p:cNvSpPr/>
          <p:nvPr/>
        </p:nvSpPr>
        <p:spPr>
          <a:xfrm>
            <a:off x="7543800" y="2953512"/>
            <a:ext cx="3931920" cy="475488"/>
          </a:xfrm>
          <a:prstGeom prst="rect">
            <a:avLst/>
          </a:prstGeom>
          <a:noFill/>
          <a:ln/>
        </p:spPr>
        <p:txBody>
          <a:bodyPr wrap="square" lIns="0" tIns="0" rIns="0" bIns="0" rtlCol="0" anchor="t"/>
          <a:lstStyle/>
          <a:p>
            <a:pPr indent="0" marL="0">
              <a:buNone/>
            </a:pPr>
            <a:r>
              <a:rPr lang="en-US" sz="1000" dirty="0">
                <a:solidFill>
                  <a:srgbClr val="404040"/>
                </a:solidFill>
                <a:latin typeface="Arial" pitchFamily="34" charset="0"/>
                <a:ea typeface="Arial" pitchFamily="34" charset="-122"/>
                <a:cs typeface="Arial" pitchFamily="34" charset="-120"/>
              </a:rPr>
              <a:t>The classification layer; it decides WHERE evidence belongs. SME-reviewed rules for all six sections.</a:t>
            </a:r>
            <a:endParaRPr lang="en-US" sz="1000" dirty="0"/>
          </a:p>
        </p:txBody>
      </p:sp>
      <p:sp>
        <p:nvSpPr>
          <p:cNvPr id="18" name="Shape 13"/>
          <p:cNvSpPr/>
          <p:nvPr/>
        </p:nvSpPr>
        <p:spPr>
          <a:xfrm>
            <a:off x="6858000" y="3547872"/>
            <a:ext cx="4800600" cy="905256"/>
          </a:xfrm>
          <a:prstGeom prst="roundRect">
            <a:avLst>
              <a:gd name="adj" fmla="val 8081"/>
            </a:avLst>
          </a:prstGeom>
          <a:solidFill>
            <a:srgbClr val="F7F6F3"/>
          </a:solidFill>
          <a:ln/>
        </p:spPr>
      </p:sp>
      <p:sp>
        <p:nvSpPr>
          <p:cNvPr id="19" name="Shape 14"/>
          <p:cNvSpPr/>
          <p:nvPr/>
        </p:nvSpPr>
        <p:spPr>
          <a:xfrm>
            <a:off x="7040880" y="3730752"/>
            <a:ext cx="365760" cy="365760"/>
          </a:xfrm>
          <a:prstGeom prst="ellipse">
            <a:avLst/>
          </a:prstGeom>
          <a:solidFill>
            <a:srgbClr val="CCCABC"/>
          </a:solidFill>
          <a:ln/>
        </p:spPr>
      </p:sp>
      <p:pic>
        <p:nvPicPr>
          <p:cNvPr id="20" name="Image 3" descr="preencoded.png">    </p:cNvPr>
          <p:cNvPicPr>
            <a:picLocks noChangeAspect="1"/>
          </p:cNvPicPr>
          <p:nvPr/>
        </p:nvPicPr>
        <p:blipFill>
          <a:blip r:embed="rId4"/>
          <a:stretch>
            <a:fillRect/>
          </a:stretch>
        </p:blipFill>
        <p:spPr>
          <a:xfrm>
            <a:off x="7135978" y="3825850"/>
            <a:ext cx="175565" cy="175565"/>
          </a:xfrm>
          <a:prstGeom prst="rect">
            <a:avLst/>
          </a:prstGeom>
        </p:spPr>
      </p:pic>
      <p:sp>
        <p:nvSpPr>
          <p:cNvPr id="21" name="Text 15"/>
          <p:cNvSpPr/>
          <p:nvPr/>
        </p:nvSpPr>
        <p:spPr>
          <a:xfrm>
            <a:off x="7543800" y="3657600"/>
            <a:ext cx="3931920" cy="292608"/>
          </a:xfrm>
          <a:prstGeom prst="rect">
            <a:avLst/>
          </a:prstGeom>
          <a:noFill/>
          <a:ln/>
        </p:spPr>
        <p:txBody>
          <a:bodyPr wrap="square" lIns="0" tIns="0" rIns="0" bIns="0" rtlCol="0" anchor="t"/>
          <a:lstStyle/>
          <a:p>
            <a:pPr indent="0" marL="0">
              <a:buNone/>
            </a:pPr>
            <a:r>
              <a:rPr lang="en-US" sz="1250" b="1" dirty="0">
                <a:solidFill>
                  <a:srgbClr val="121212"/>
                </a:solidFill>
                <a:latin typeface="Arial" pitchFamily="34" charset="0"/>
                <a:ea typeface="Arial" pitchFamily="34" charset="-122"/>
                <a:cs typeface="Arial" pitchFamily="34" charset="-120"/>
              </a:rPr>
              <a:t>Section skills</a:t>
            </a:r>
            <a:endParaRPr lang="en-US" sz="1250" dirty="0"/>
          </a:p>
        </p:txBody>
      </p:sp>
      <p:sp>
        <p:nvSpPr>
          <p:cNvPr id="22" name="Text 16"/>
          <p:cNvSpPr/>
          <p:nvPr/>
        </p:nvSpPr>
        <p:spPr>
          <a:xfrm>
            <a:off x="7543800" y="3950208"/>
            <a:ext cx="3931920" cy="475488"/>
          </a:xfrm>
          <a:prstGeom prst="rect">
            <a:avLst/>
          </a:prstGeom>
          <a:noFill/>
          <a:ln/>
        </p:spPr>
        <p:txBody>
          <a:bodyPr wrap="square" lIns="0" tIns="0" rIns="0" bIns="0" rtlCol="0" anchor="t"/>
          <a:lstStyle/>
          <a:p>
            <a:pPr indent="0" marL="0">
              <a:buNone/>
            </a:pPr>
            <a:r>
              <a:rPr lang="en-US" sz="1000" dirty="0">
                <a:solidFill>
                  <a:srgbClr val="404040"/>
                </a:solidFill>
                <a:latin typeface="Arial" pitchFamily="34" charset="0"/>
                <a:ea typeface="Arial" pitchFamily="34" charset="-122"/>
                <a:cs typeface="Arial" pitchFamily="34" charset="-120"/>
              </a:rPr>
              <a:t>One per workpaper section; each decides HOW its evidence is analyzed and written.</a:t>
            </a:r>
            <a:endParaRPr lang="en-US" sz="1000" dirty="0"/>
          </a:p>
        </p:txBody>
      </p:sp>
      <p:sp>
        <p:nvSpPr>
          <p:cNvPr id="23" name="Shape 17"/>
          <p:cNvSpPr/>
          <p:nvPr/>
        </p:nvSpPr>
        <p:spPr>
          <a:xfrm>
            <a:off x="6858000" y="4544568"/>
            <a:ext cx="4800600" cy="905256"/>
          </a:xfrm>
          <a:prstGeom prst="roundRect">
            <a:avLst>
              <a:gd name="adj" fmla="val 8081"/>
            </a:avLst>
          </a:prstGeom>
          <a:solidFill>
            <a:srgbClr val="F7F6F3"/>
          </a:solidFill>
          <a:ln/>
        </p:spPr>
      </p:sp>
      <p:sp>
        <p:nvSpPr>
          <p:cNvPr id="24" name="Shape 18"/>
          <p:cNvSpPr/>
          <p:nvPr/>
        </p:nvSpPr>
        <p:spPr>
          <a:xfrm>
            <a:off x="7040880" y="4727448"/>
            <a:ext cx="365760" cy="365760"/>
          </a:xfrm>
          <a:prstGeom prst="ellipse">
            <a:avLst/>
          </a:prstGeom>
          <a:solidFill>
            <a:srgbClr val="CCCABC"/>
          </a:solidFill>
          <a:ln/>
        </p:spPr>
      </p:sp>
      <p:pic>
        <p:nvPicPr>
          <p:cNvPr id="25" name="Image 4" descr="preencoded.png">    </p:cNvPr>
          <p:cNvPicPr>
            <a:picLocks noChangeAspect="1"/>
          </p:cNvPicPr>
          <p:nvPr/>
        </p:nvPicPr>
        <p:blipFill>
          <a:blip r:embed="rId5"/>
          <a:stretch>
            <a:fillRect/>
          </a:stretch>
        </p:blipFill>
        <p:spPr>
          <a:xfrm>
            <a:off x="7135978" y="4822546"/>
            <a:ext cx="175565" cy="175565"/>
          </a:xfrm>
          <a:prstGeom prst="rect">
            <a:avLst/>
          </a:prstGeom>
        </p:spPr>
      </p:pic>
      <p:sp>
        <p:nvSpPr>
          <p:cNvPr id="26" name="Text 19"/>
          <p:cNvSpPr/>
          <p:nvPr/>
        </p:nvSpPr>
        <p:spPr>
          <a:xfrm>
            <a:off x="7543800" y="4654296"/>
            <a:ext cx="3931920" cy="292608"/>
          </a:xfrm>
          <a:prstGeom prst="rect">
            <a:avLst/>
          </a:prstGeom>
          <a:noFill/>
          <a:ln/>
        </p:spPr>
        <p:txBody>
          <a:bodyPr wrap="square" lIns="0" tIns="0" rIns="0" bIns="0" rtlCol="0" anchor="t"/>
          <a:lstStyle/>
          <a:p>
            <a:pPr indent="0" marL="0">
              <a:buNone/>
            </a:pPr>
            <a:r>
              <a:rPr lang="en-US" sz="1250" b="1" dirty="0">
                <a:solidFill>
                  <a:srgbClr val="121212"/>
                </a:solidFill>
                <a:latin typeface="Arial" pitchFamily="34" charset="0"/>
                <a:ea typeface="Arial" pitchFamily="34" charset="-122"/>
                <a:cs typeface="Arial" pitchFamily="34" charset="-120"/>
              </a:rPr>
              <a:t>Supporting skills</a:t>
            </a:r>
            <a:endParaRPr lang="en-US" sz="1250" dirty="0"/>
          </a:p>
        </p:txBody>
      </p:sp>
      <p:sp>
        <p:nvSpPr>
          <p:cNvPr id="27" name="Text 20"/>
          <p:cNvSpPr/>
          <p:nvPr/>
        </p:nvSpPr>
        <p:spPr>
          <a:xfrm>
            <a:off x="7543800" y="4946904"/>
            <a:ext cx="3931920" cy="475488"/>
          </a:xfrm>
          <a:prstGeom prst="rect">
            <a:avLst/>
          </a:prstGeom>
          <a:noFill/>
          <a:ln/>
        </p:spPr>
        <p:txBody>
          <a:bodyPr wrap="square" lIns="0" tIns="0" rIns="0" bIns="0" rtlCol="0" anchor="t"/>
          <a:lstStyle/>
          <a:p>
            <a:pPr indent="0" marL="0">
              <a:buNone/>
            </a:pPr>
            <a:r>
              <a:rPr lang="en-US" sz="1000" dirty="0">
                <a:solidFill>
                  <a:srgbClr val="404040"/>
                </a:solidFill>
                <a:latin typeface="Arial" pitchFamily="34" charset="0"/>
                <a:ea typeface="Arial" pitchFamily="34" charset="-122"/>
                <a:cs typeface="Arial" pitchFamily="34" charset="-120"/>
              </a:rPr>
              <a:t>Product &amp; trading intelligence, editing commands, reviewer help.</a:t>
            </a:r>
            <a:endParaRPr lang="en-US" sz="1000" dirty="0"/>
          </a:p>
        </p:txBody>
      </p:sp>
      <p:sp>
        <p:nvSpPr>
          <p:cNvPr id="28" name="Text 21"/>
          <p:cNvSpPr/>
          <p:nvPr/>
        </p:nvSpPr>
        <p:spPr>
          <a:xfrm>
            <a:off x="6858000" y="5596128"/>
            <a:ext cx="4800600" cy="274320"/>
          </a:xfrm>
          <a:prstGeom prst="rect">
            <a:avLst/>
          </a:prstGeom>
          <a:noFill/>
          <a:ln/>
        </p:spPr>
        <p:txBody>
          <a:bodyPr wrap="square" lIns="0" tIns="0" rIns="0" bIns="0" rtlCol="0" anchor="ctr"/>
          <a:lstStyle/>
          <a:p>
            <a:pPr algn="ctr" indent="0" marL="0">
              <a:buNone/>
            </a:pPr>
            <a:r>
              <a:rPr lang="en-US" sz="1150" b="1" i="1" dirty="0">
                <a:solidFill>
                  <a:srgbClr val="706E67"/>
                </a:solidFill>
                <a:latin typeface="Arial" pitchFamily="34" charset="0"/>
                <a:ea typeface="Arial" pitchFamily="34" charset="-122"/>
                <a:cs typeface="Arial" pitchFamily="34" charset="-120"/>
              </a:rPr>
              <a:t>Taxonomy decides where. Section skills decide how.</a:t>
            </a:r>
            <a:endParaRPr lang="en-US" sz="1150" dirty="0"/>
          </a:p>
        </p:txBody>
      </p:sp>
      <p:sp>
        <p:nvSpPr>
          <p:cNvPr id="29" name="Shape 22"/>
          <p:cNvSpPr/>
          <p:nvPr/>
        </p:nvSpPr>
        <p:spPr>
          <a:xfrm>
            <a:off x="548640" y="5989320"/>
            <a:ext cx="2697480" cy="658368"/>
          </a:xfrm>
          <a:prstGeom prst="roundRect">
            <a:avLst>
              <a:gd name="adj" fmla="val 11111"/>
            </a:avLst>
          </a:prstGeom>
          <a:solidFill>
            <a:srgbClr val="F7F6F3"/>
          </a:solidFill>
          <a:ln/>
        </p:spPr>
      </p:sp>
      <p:sp>
        <p:nvSpPr>
          <p:cNvPr id="30" name="Text 23"/>
          <p:cNvSpPr/>
          <p:nvPr/>
        </p:nvSpPr>
        <p:spPr>
          <a:xfrm>
            <a:off x="694944" y="6062472"/>
            <a:ext cx="2404872" cy="237744"/>
          </a:xfrm>
          <a:prstGeom prst="rect">
            <a:avLst/>
          </a:prstGeom>
          <a:noFill/>
          <a:ln/>
        </p:spPr>
        <p:txBody>
          <a:bodyPr wrap="square" lIns="0" tIns="0" rIns="0" bIns="0" rtlCol="0" anchor="t"/>
          <a:lstStyle/>
          <a:p>
            <a:pPr indent="0" marL="0">
              <a:buNone/>
            </a:pPr>
            <a:r>
              <a:rPr lang="en-US" sz="1100" b="1" dirty="0">
                <a:solidFill>
                  <a:srgbClr val="121212"/>
                </a:solidFill>
                <a:latin typeface="Arial" pitchFamily="34" charset="0"/>
                <a:ea typeface="Arial" pitchFamily="34" charset="-122"/>
                <a:cs typeface="Arial" pitchFamily="34" charset="-120"/>
              </a:rPr>
              <a:t>Maintainable</a:t>
            </a:r>
            <a:endParaRPr lang="en-US" sz="1100" dirty="0"/>
          </a:p>
        </p:txBody>
      </p:sp>
      <p:sp>
        <p:nvSpPr>
          <p:cNvPr id="31" name="Text 24"/>
          <p:cNvSpPr/>
          <p:nvPr/>
        </p:nvSpPr>
        <p:spPr>
          <a:xfrm>
            <a:off x="694944" y="6300216"/>
            <a:ext cx="2404872" cy="310896"/>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Update one skill, not the whole agent</a:t>
            </a:r>
            <a:endParaRPr lang="en-US" sz="900" dirty="0"/>
          </a:p>
        </p:txBody>
      </p:sp>
      <p:sp>
        <p:nvSpPr>
          <p:cNvPr id="32" name="Shape 25"/>
          <p:cNvSpPr/>
          <p:nvPr/>
        </p:nvSpPr>
        <p:spPr>
          <a:xfrm>
            <a:off x="3346704" y="5989320"/>
            <a:ext cx="2697480" cy="658368"/>
          </a:xfrm>
          <a:prstGeom prst="roundRect">
            <a:avLst>
              <a:gd name="adj" fmla="val 11111"/>
            </a:avLst>
          </a:prstGeom>
          <a:solidFill>
            <a:srgbClr val="F7F6F3"/>
          </a:solidFill>
          <a:ln/>
        </p:spPr>
      </p:sp>
      <p:sp>
        <p:nvSpPr>
          <p:cNvPr id="33" name="Text 26"/>
          <p:cNvSpPr/>
          <p:nvPr/>
        </p:nvSpPr>
        <p:spPr>
          <a:xfrm>
            <a:off x="3493008" y="6062472"/>
            <a:ext cx="2404872" cy="237744"/>
          </a:xfrm>
          <a:prstGeom prst="rect">
            <a:avLst/>
          </a:prstGeom>
          <a:noFill/>
          <a:ln/>
        </p:spPr>
        <p:txBody>
          <a:bodyPr wrap="square" lIns="0" tIns="0" rIns="0" bIns="0" rtlCol="0" anchor="t"/>
          <a:lstStyle/>
          <a:p>
            <a:pPr indent="0" marL="0">
              <a:buNone/>
            </a:pPr>
            <a:r>
              <a:rPr lang="en-US" sz="1100" b="1" dirty="0">
                <a:solidFill>
                  <a:srgbClr val="121212"/>
                </a:solidFill>
                <a:latin typeface="Arial" pitchFamily="34" charset="0"/>
                <a:ea typeface="Arial" pitchFamily="34" charset="-122"/>
                <a:cs typeface="Arial" pitchFamily="34" charset="-120"/>
              </a:rPr>
              <a:t>Consistent</a:t>
            </a:r>
            <a:endParaRPr lang="en-US" sz="1100" dirty="0"/>
          </a:p>
        </p:txBody>
      </p:sp>
      <p:sp>
        <p:nvSpPr>
          <p:cNvPr id="34" name="Text 27"/>
          <p:cNvSpPr/>
          <p:nvPr/>
        </p:nvSpPr>
        <p:spPr>
          <a:xfrm>
            <a:off x="3493008" y="6300216"/>
            <a:ext cx="2404872" cy="310896"/>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One authoritative map of where things belong</a:t>
            </a:r>
            <a:endParaRPr lang="en-US" sz="900" dirty="0"/>
          </a:p>
        </p:txBody>
      </p:sp>
      <p:sp>
        <p:nvSpPr>
          <p:cNvPr id="35" name="Shape 28"/>
          <p:cNvSpPr/>
          <p:nvPr/>
        </p:nvSpPr>
        <p:spPr>
          <a:xfrm>
            <a:off x="6144768" y="5989320"/>
            <a:ext cx="2697480" cy="658368"/>
          </a:xfrm>
          <a:prstGeom prst="roundRect">
            <a:avLst>
              <a:gd name="adj" fmla="val 11111"/>
            </a:avLst>
          </a:prstGeom>
          <a:solidFill>
            <a:srgbClr val="F7F6F3"/>
          </a:solidFill>
          <a:ln/>
        </p:spPr>
      </p:sp>
      <p:sp>
        <p:nvSpPr>
          <p:cNvPr id="36" name="Text 29"/>
          <p:cNvSpPr/>
          <p:nvPr/>
        </p:nvSpPr>
        <p:spPr>
          <a:xfrm>
            <a:off x="6291072" y="6062472"/>
            <a:ext cx="2404872" cy="237744"/>
          </a:xfrm>
          <a:prstGeom prst="rect">
            <a:avLst/>
          </a:prstGeom>
          <a:noFill/>
          <a:ln/>
        </p:spPr>
        <p:txBody>
          <a:bodyPr wrap="square" lIns="0" tIns="0" rIns="0" bIns="0" rtlCol="0" anchor="t"/>
          <a:lstStyle/>
          <a:p>
            <a:pPr indent="0" marL="0">
              <a:buNone/>
            </a:pPr>
            <a:r>
              <a:rPr lang="en-US" sz="1100" b="1" dirty="0">
                <a:solidFill>
                  <a:srgbClr val="121212"/>
                </a:solidFill>
                <a:latin typeface="Arial" pitchFamily="34" charset="0"/>
                <a:ea typeface="Arial" pitchFamily="34" charset="-122"/>
                <a:cs typeface="Arial" pitchFamily="34" charset="-120"/>
              </a:rPr>
              <a:t>Extensible</a:t>
            </a:r>
            <a:endParaRPr lang="en-US" sz="1100" dirty="0"/>
          </a:p>
        </p:txBody>
      </p:sp>
      <p:sp>
        <p:nvSpPr>
          <p:cNvPr id="37" name="Text 30"/>
          <p:cNvSpPr/>
          <p:nvPr/>
        </p:nvSpPr>
        <p:spPr>
          <a:xfrm>
            <a:off x="6291072" y="6300216"/>
            <a:ext cx="2404872" cy="310896"/>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New skills bolt on; policy checks next?</a:t>
            </a:r>
            <a:endParaRPr lang="en-US" sz="900" dirty="0"/>
          </a:p>
        </p:txBody>
      </p:sp>
      <p:sp>
        <p:nvSpPr>
          <p:cNvPr id="38" name="Shape 31"/>
          <p:cNvSpPr/>
          <p:nvPr/>
        </p:nvSpPr>
        <p:spPr>
          <a:xfrm>
            <a:off x="8942832" y="5989320"/>
            <a:ext cx="2697480" cy="658368"/>
          </a:xfrm>
          <a:prstGeom prst="roundRect">
            <a:avLst>
              <a:gd name="adj" fmla="val 11111"/>
            </a:avLst>
          </a:prstGeom>
          <a:solidFill>
            <a:srgbClr val="F7F6F3"/>
          </a:solidFill>
          <a:ln/>
        </p:spPr>
      </p:sp>
      <p:sp>
        <p:nvSpPr>
          <p:cNvPr id="39" name="Text 32"/>
          <p:cNvSpPr/>
          <p:nvPr/>
        </p:nvSpPr>
        <p:spPr>
          <a:xfrm>
            <a:off x="9089136" y="6062472"/>
            <a:ext cx="2404872" cy="237744"/>
          </a:xfrm>
          <a:prstGeom prst="rect">
            <a:avLst/>
          </a:prstGeom>
          <a:noFill/>
          <a:ln/>
        </p:spPr>
        <p:txBody>
          <a:bodyPr wrap="square" lIns="0" tIns="0" rIns="0" bIns="0" rtlCol="0" anchor="t"/>
          <a:lstStyle/>
          <a:p>
            <a:pPr indent="0" marL="0">
              <a:buNone/>
            </a:pPr>
            <a:r>
              <a:rPr lang="en-US" sz="1100" b="1" dirty="0">
                <a:solidFill>
                  <a:srgbClr val="121212"/>
                </a:solidFill>
                <a:latin typeface="Arial" pitchFamily="34" charset="0"/>
                <a:ea typeface="Arial" pitchFamily="34" charset="-122"/>
                <a:cs typeface="Arial" pitchFamily="34" charset="-120"/>
              </a:rPr>
              <a:t>Transparent</a:t>
            </a:r>
            <a:endParaRPr lang="en-US" sz="1100" dirty="0"/>
          </a:p>
        </p:txBody>
      </p:sp>
      <p:sp>
        <p:nvSpPr>
          <p:cNvPr id="40" name="Text 33"/>
          <p:cNvSpPr/>
          <p:nvPr/>
        </p:nvSpPr>
        <p:spPr>
          <a:xfrm>
            <a:off x="9089136" y="6300216"/>
            <a:ext cx="2404872" cy="310896"/>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Easy to see why it did what it did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Where Copilot Studio fits</a:t>
            </a:r>
            <a:endParaRPr lang="en-US" sz="3200" dirty="0"/>
          </a:p>
        </p:txBody>
      </p:sp>
      <p:sp>
        <p:nvSpPr>
          <p:cNvPr id="3" name="Text 1"/>
          <p:cNvSpPr/>
          <p:nvPr/>
        </p:nvSpPr>
        <p:spPr>
          <a:xfrm>
            <a:off x="548640" y="896112"/>
            <a:ext cx="11091672" cy="27432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One Microsoft AI ecosystem: three levels of customization, automation, and governance</a:t>
            </a:r>
            <a:endParaRPr lang="en-US" sz="1500" dirty="0"/>
          </a:p>
        </p:txBody>
      </p:sp>
      <p:sp>
        <p:nvSpPr>
          <p:cNvPr id="4" name="Shape 2"/>
          <p:cNvSpPr/>
          <p:nvPr/>
        </p:nvSpPr>
        <p:spPr>
          <a:xfrm>
            <a:off x="548640" y="1298448"/>
            <a:ext cx="3593592" cy="4041648"/>
          </a:xfrm>
          <a:prstGeom prst="roundRect">
            <a:avLst>
              <a:gd name="adj" fmla="val 2290"/>
            </a:avLst>
          </a:prstGeom>
          <a:solidFill>
            <a:srgbClr val="F3F2EF"/>
          </a:solidFill>
          <a:ln/>
        </p:spPr>
      </p:sp>
      <p:sp>
        <p:nvSpPr>
          <p:cNvPr id="5" name="Shape 3"/>
          <p:cNvSpPr/>
          <p:nvPr/>
        </p:nvSpPr>
        <p:spPr>
          <a:xfrm>
            <a:off x="749808" y="1463040"/>
            <a:ext cx="1783080" cy="274320"/>
          </a:xfrm>
          <a:prstGeom prst="roundRect">
            <a:avLst>
              <a:gd name="adj" fmla="val 50000"/>
            </a:avLst>
          </a:prstGeom>
          <a:solidFill>
            <a:srgbClr val="E7E5DE"/>
          </a:solidFill>
          <a:ln/>
        </p:spPr>
      </p:sp>
      <p:sp>
        <p:nvSpPr>
          <p:cNvPr id="6" name="Text 4"/>
          <p:cNvSpPr/>
          <p:nvPr/>
        </p:nvSpPr>
        <p:spPr>
          <a:xfrm>
            <a:off x="749808"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706E67"/>
                </a:solidFill>
                <a:latin typeface="Arial" pitchFamily="34" charset="0"/>
                <a:ea typeface="Arial" pitchFamily="34" charset="-122"/>
                <a:cs typeface="Arial" pitchFamily="34" charset="-120"/>
              </a:rPr>
              <a:t>01 · ASSIST</a:t>
            </a:r>
            <a:endParaRPr lang="en-US" sz="850" dirty="0"/>
          </a:p>
        </p:txBody>
      </p:sp>
      <p:sp>
        <p:nvSpPr>
          <p:cNvPr id="7" name="Text 5"/>
          <p:cNvSpPr/>
          <p:nvPr/>
        </p:nvSpPr>
        <p:spPr>
          <a:xfrm>
            <a:off x="749808" y="1810512"/>
            <a:ext cx="3191256" cy="292608"/>
          </a:xfrm>
          <a:prstGeom prst="rect">
            <a:avLst/>
          </a:prstGeom>
          <a:noFill/>
          <a:ln/>
        </p:spPr>
        <p:txBody>
          <a:bodyPr wrap="square" lIns="0" tIns="0" rIns="0" bIns="0" rtlCol="0" anchor="t"/>
          <a:lstStyle/>
          <a:p>
            <a:pPr indent="0" marL="0">
              <a:buNone/>
            </a:pPr>
            <a:r>
              <a:rPr lang="en-US" sz="1500" b="1" dirty="0">
                <a:solidFill>
                  <a:srgbClr val="121212"/>
                </a:solidFill>
                <a:latin typeface="Arial" pitchFamily="34" charset="0"/>
                <a:ea typeface="Arial" pitchFamily="34" charset="-122"/>
                <a:cs typeface="Arial" pitchFamily="34" charset="-120"/>
              </a:rPr>
              <a:t>Microsoft 365 Copilot</a:t>
            </a:r>
            <a:endParaRPr lang="en-US" sz="1500" dirty="0"/>
          </a:p>
        </p:txBody>
      </p:sp>
      <p:sp>
        <p:nvSpPr>
          <p:cNvPr id="8" name="Text 6"/>
          <p:cNvSpPr/>
          <p:nvPr/>
        </p:nvSpPr>
        <p:spPr>
          <a:xfrm>
            <a:off x="749808" y="2103120"/>
            <a:ext cx="3191256" cy="237744"/>
          </a:xfrm>
          <a:prstGeom prst="rect">
            <a:avLst/>
          </a:prstGeom>
          <a:noFill/>
          <a:ln/>
        </p:spPr>
        <p:txBody>
          <a:bodyPr wrap="square" lIns="0" tIns="0" rIns="0" bIns="0" rtlCol="0" anchor="t"/>
          <a:lstStyle/>
          <a:p>
            <a:pPr indent="0" marL="0">
              <a:buNone/>
            </a:pPr>
            <a:r>
              <a:rPr lang="en-US" sz="900" i="1" dirty="0">
                <a:solidFill>
                  <a:srgbClr val="706E67"/>
                </a:solidFill>
                <a:latin typeface="Arial" pitchFamily="34" charset="0"/>
                <a:ea typeface="Arial" pitchFamily="34" charset="-122"/>
                <a:cs typeface="Arial" pitchFamily="34" charset="-120"/>
              </a:rPr>
              <a:t>AI assistant for everyday work</a:t>
            </a:r>
            <a:endParaRPr lang="en-US" sz="900" dirty="0"/>
          </a:p>
        </p:txBody>
      </p:sp>
      <p:sp>
        <p:nvSpPr>
          <p:cNvPr id="9" name="Text 7"/>
          <p:cNvSpPr/>
          <p:nvPr/>
        </p:nvSpPr>
        <p:spPr>
          <a:xfrm>
            <a:off x="749808" y="2359152"/>
            <a:ext cx="3191256" cy="640080"/>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A general-purpose AI assistant embedded in Microsoft 365. It searches, summarizes, drafts, analyzes, and works with permitted content through natural-language prompts.</a:t>
            </a:r>
            <a:endParaRPr lang="en-US" sz="900" dirty="0"/>
          </a:p>
        </p:txBody>
      </p:sp>
      <p:sp>
        <p:nvSpPr>
          <p:cNvPr id="10" name="Text 8"/>
          <p:cNvSpPr/>
          <p:nvPr/>
        </p:nvSpPr>
        <p:spPr>
          <a:xfrm>
            <a:off x="749808" y="3035808"/>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USE WHEN</a:t>
            </a:r>
            <a:endParaRPr lang="en-US" sz="850" dirty="0"/>
          </a:p>
        </p:txBody>
      </p:sp>
      <p:sp>
        <p:nvSpPr>
          <p:cNvPr id="11" name="Text 9"/>
          <p:cNvSpPr/>
          <p:nvPr/>
        </p:nvSpPr>
        <p:spPr>
          <a:xfrm>
            <a:off x="749808"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Ad hoc, user-directed work</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Search, summarize, draft, analyze, or brainstorm</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User initiates and reviews every interaction</a:t>
            </a:r>
            <a:endParaRPr lang="en-US" sz="900" dirty="0"/>
          </a:p>
        </p:txBody>
      </p:sp>
      <p:sp>
        <p:nvSpPr>
          <p:cNvPr id="12" name="Text 10"/>
          <p:cNvSpPr/>
          <p:nvPr/>
        </p:nvSpPr>
        <p:spPr>
          <a:xfrm>
            <a:off x="749808" y="4169664"/>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WHAT MAKES IT DISTINCT</a:t>
            </a:r>
            <a:endParaRPr lang="en-US" sz="850" dirty="0"/>
          </a:p>
        </p:txBody>
      </p:sp>
      <p:sp>
        <p:nvSpPr>
          <p:cNvPr id="13" name="Text 11"/>
          <p:cNvSpPr/>
          <p:nvPr/>
        </p:nvSpPr>
        <p:spPr>
          <a:xfrm>
            <a:off x="749808"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Broad and flexible, prompted task by task</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Uses your context and permissions; not a purpose-built business application</a:t>
            </a:r>
            <a:endParaRPr lang="en-US" sz="900" dirty="0"/>
          </a:p>
        </p:txBody>
      </p:sp>
      <p:sp>
        <p:nvSpPr>
          <p:cNvPr id="14" name="Text 12"/>
          <p:cNvSpPr/>
          <p:nvPr/>
        </p:nvSpPr>
        <p:spPr>
          <a:xfrm>
            <a:off x="749808" y="4937760"/>
            <a:ext cx="3191256" cy="347472"/>
          </a:xfrm>
          <a:prstGeom prst="rect">
            <a:avLst/>
          </a:prstGeom>
          <a:noFill/>
          <a:ln/>
        </p:spPr>
        <p:txBody>
          <a:bodyPr wrap="square" lIns="0" tIns="0" rIns="0" bIns="0" rtlCol="0" anchor="b"/>
          <a:lstStyle/>
          <a:p>
            <a:pPr indent="0" marL="0">
              <a:buNone/>
            </a:pPr>
            <a:r>
              <a:rPr lang="en-US" sz="900" b="1" i="1" dirty="0">
                <a:solidFill>
                  <a:srgbClr val="121212"/>
                </a:solidFill>
                <a:latin typeface="Arial" pitchFamily="34" charset="0"/>
                <a:ea typeface="Arial" pitchFamily="34" charset="-122"/>
                <a:cs typeface="Arial" pitchFamily="34" charset="-120"/>
              </a:rPr>
              <a:t>“An AI assistant that helps me do my work.”</a:t>
            </a:r>
            <a:endParaRPr lang="en-US" sz="900" dirty="0"/>
          </a:p>
        </p:txBody>
      </p:sp>
      <p:sp>
        <p:nvSpPr>
          <p:cNvPr id="15" name="Shape 13"/>
          <p:cNvSpPr/>
          <p:nvPr/>
        </p:nvSpPr>
        <p:spPr>
          <a:xfrm>
            <a:off x="4370832" y="1298448"/>
            <a:ext cx="3593592" cy="4041648"/>
          </a:xfrm>
          <a:prstGeom prst="roundRect">
            <a:avLst>
              <a:gd name="adj" fmla="val 2290"/>
            </a:avLst>
          </a:prstGeom>
          <a:solidFill>
            <a:srgbClr val="F7F6F3"/>
          </a:solidFill>
          <a:ln/>
        </p:spPr>
      </p:sp>
      <p:sp>
        <p:nvSpPr>
          <p:cNvPr id="16" name="Shape 14"/>
          <p:cNvSpPr/>
          <p:nvPr/>
        </p:nvSpPr>
        <p:spPr>
          <a:xfrm>
            <a:off x="4572000" y="1463040"/>
            <a:ext cx="1783080" cy="274320"/>
          </a:xfrm>
          <a:prstGeom prst="roundRect">
            <a:avLst>
              <a:gd name="adj" fmla="val 50000"/>
            </a:avLst>
          </a:prstGeom>
          <a:solidFill>
            <a:srgbClr val="E7E5DE"/>
          </a:solidFill>
          <a:ln/>
        </p:spPr>
      </p:sp>
      <p:sp>
        <p:nvSpPr>
          <p:cNvPr id="17" name="Text 15"/>
          <p:cNvSpPr/>
          <p:nvPr/>
        </p:nvSpPr>
        <p:spPr>
          <a:xfrm>
            <a:off x="4572000"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121212"/>
                </a:solidFill>
                <a:latin typeface="Arial" pitchFamily="34" charset="0"/>
                <a:ea typeface="Arial" pitchFamily="34" charset="-122"/>
                <a:cs typeface="Arial" pitchFamily="34" charset="-120"/>
              </a:rPr>
              <a:t>02 · SPECIALIZE</a:t>
            </a:r>
            <a:endParaRPr lang="en-US" sz="850" dirty="0"/>
          </a:p>
        </p:txBody>
      </p:sp>
      <p:sp>
        <p:nvSpPr>
          <p:cNvPr id="18" name="Text 16"/>
          <p:cNvSpPr/>
          <p:nvPr/>
        </p:nvSpPr>
        <p:spPr>
          <a:xfrm>
            <a:off x="4572000" y="1810512"/>
            <a:ext cx="3191256" cy="292608"/>
          </a:xfrm>
          <a:prstGeom prst="rect">
            <a:avLst/>
          </a:prstGeom>
          <a:noFill/>
          <a:ln/>
        </p:spPr>
        <p:txBody>
          <a:bodyPr wrap="square" lIns="0" tIns="0" rIns="0" bIns="0" rtlCol="0" anchor="t"/>
          <a:lstStyle/>
          <a:p>
            <a:pPr indent="0" marL="0">
              <a:buNone/>
            </a:pPr>
            <a:r>
              <a:rPr lang="en-US" sz="1500" b="1" dirty="0">
                <a:solidFill>
                  <a:srgbClr val="121212"/>
                </a:solidFill>
                <a:latin typeface="Arial" pitchFamily="34" charset="0"/>
                <a:ea typeface="Arial" pitchFamily="34" charset="-122"/>
                <a:cs typeface="Arial" pitchFamily="34" charset="-120"/>
              </a:rPr>
              <a:t>Agent Builder</a:t>
            </a:r>
            <a:endParaRPr lang="en-US" sz="1500" dirty="0"/>
          </a:p>
        </p:txBody>
      </p:sp>
      <p:sp>
        <p:nvSpPr>
          <p:cNvPr id="19" name="Text 17"/>
          <p:cNvSpPr/>
          <p:nvPr/>
        </p:nvSpPr>
        <p:spPr>
          <a:xfrm>
            <a:off x="4572000" y="2103120"/>
            <a:ext cx="3191256" cy="237744"/>
          </a:xfrm>
          <a:prstGeom prst="rect">
            <a:avLst/>
          </a:prstGeom>
          <a:noFill/>
          <a:ln/>
        </p:spPr>
        <p:txBody>
          <a:bodyPr wrap="square" lIns="0" tIns="0" rIns="0" bIns="0" rtlCol="0" anchor="t"/>
          <a:lstStyle/>
          <a:p>
            <a:pPr indent="0" marL="0">
              <a:buNone/>
            </a:pPr>
            <a:r>
              <a:rPr lang="en-US" sz="900" i="1" dirty="0">
                <a:solidFill>
                  <a:srgbClr val="706E67"/>
                </a:solidFill>
                <a:latin typeface="Arial" pitchFamily="34" charset="0"/>
                <a:ea typeface="Arial" pitchFamily="34" charset="-122"/>
                <a:cs typeface="Arial" pitchFamily="34" charset="-120"/>
              </a:rPr>
              <a:t>No-code specialization inside Copilot</a:t>
            </a:r>
            <a:endParaRPr lang="en-US" sz="900" dirty="0"/>
          </a:p>
        </p:txBody>
      </p:sp>
      <p:sp>
        <p:nvSpPr>
          <p:cNvPr id="20" name="Text 18"/>
          <p:cNvSpPr/>
          <p:nvPr/>
        </p:nvSpPr>
        <p:spPr>
          <a:xfrm>
            <a:off x="4572000" y="2359152"/>
            <a:ext cx="3191256" cy="640080"/>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A simple authoring experience inside Microsoft 365 Copilot. Business users create focused, reusable agents with natural-language instructions, selected knowledge, and suggested prompts.</a:t>
            </a:r>
            <a:endParaRPr lang="en-US" sz="900" dirty="0"/>
          </a:p>
        </p:txBody>
      </p:sp>
      <p:sp>
        <p:nvSpPr>
          <p:cNvPr id="21" name="Text 19"/>
          <p:cNvSpPr/>
          <p:nvPr/>
        </p:nvSpPr>
        <p:spPr>
          <a:xfrm>
            <a:off x="4572000" y="3035808"/>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USE WHEN</a:t>
            </a:r>
            <a:endParaRPr lang="en-US" sz="850" dirty="0"/>
          </a:p>
        </p:txBody>
      </p:sp>
      <p:sp>
        <p:nvSpPr>
          <p:cNvPr id="22" name="Text 20"/>
          <p:cNvSpPr/>
          <p:nvPr/>
        </p:nvSpPr>
        <p:spPr>
          <a:xfrm>
            <a:off x="4572000"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A repeatable personal or small-team task</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Q&amp;A over approved documents or SharePoint</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Reusable instructions, templates, checklists, or review criteria</a:t>
            </a:r>
            <a:endParaRPr lang="en-US" sz="900" dirty="0"/>
          </a:p>
        </p:txBody>
      </p:sp>
      <p:sp>
        <p:nvSpPr>
          <p:cNvPr id="23" name="Text 21"/>
          <p:cNvSpPr/>
          <p:nvPr/>
        </p:nvSpPr>
        <p:spPr>
          <a:xfrm>
            <a:off x="4572000" y="4169664"/>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WHAT MAKES IT DISTINCT</a:t>
            </a:r>
            <a:endParaRPr lang="en-US" sz="850" dirty="0"/>
          </a:p>
        </p:txBody>
      </p:sp>
      <p:sp>
        <p:nvSpPr>
          <p:cNvPr id="24" name="Text 22"/>
          <p:cNvSpPr/>
          <p:nvPr/>
        </p:nvSpPr>
        <p:spPr>
          <a:xfrm>
            <a:off x="4572000"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Inside Copilot: simple configuration, curated knowledge, user permissions</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Less logic, integration, deployment, and lifecycle control than Copilot Studio</a:t>
            </a:r>
            <a:endParaRPr lang="en-US" sz="900" dirty="0"/>
          </a:p>
        </p:txBody>
      </p:sp>
      <p:sp>
        <p:nvSpPr>
          <p:cNvPr id="25" name="Text 23"/>
          <p:cNvSpPr/>
          <p:nvPr/>
        </p:nvSpPr>
        <p:spPr>
          <a:xfrm>
            <a:off x="4572000" y="4937760"/>
            <a:ext cx="3191256" cy="347472"/>
          </a:xfrm>
          <a:prstGeom prst="rect">
            <a:avLst/>
          </a:prstGeom>
          <a:noFill/>
          <a:ln/>
        </p:spPr>
        <p:txBody>
          <a:bodyPr wrap="square" lIns="0" tIns="0" rIns="0" bIns="0" rtlCol="0" anchor="b"/>
          <a:lstStyle/>
          <a:p>
            <a:pPr indent="0" marL="0">
              <a:buNone/>
            </a:pPr>
            <a:r>
              <a:rPr lang="en-US" sz="900" b="1" i="1" dirty="0">
                <a:solidFill>
                  <a:srgbClr val="121212"/>
                </a:solidFill>
                <a:latin typeface="Arial" pitchFamily="34" charset="0"/>
                <a:ea typeface="Arial" pitchFamily="34" charset="-122"/>
                <a:cs typeface="Arial" pitchFamily="34" charset="-120"/>
              </a:rPr>
              <a:t>“Copilot with a reusable job description and curated knowledge.”</a:t>
            </a:r>
            <a:endParaRPr lang="en-US" sz="900" dirty="0"/>
          </a:p>
        </p:txBody>
      </p:sp>
      <p:sp>
        <p:nvSpPr>
          <p:cNvPr id="26" name="Shape 24"/>
          <p:cNvSpPr/>
          <p:nvPr/>
        </p:nvSpPr>
        <p:spPr>
          <a:xfrm>
            <a:off x="8193024" y="1298448"/>
            <a:ext cx="3593592" cy="4041648"/>
          </a:xfrm>
          <a:prstGeom prst="roundRect">
            <a:avLst>
              <a:gd name="adj" fmla="val 2290"/>
            </a:avLst>
          </a:prstGeom>
          <a:solidFill>
            <a:srgbClr val="CCCABC"/>
          </a:solidFill>
          <a:ln/>
        </p:spPr>
      </p:sp>
      <p:sp>
        <p:nvSpPr>
          <p:cNvPr id="27" name="Shape 25"/>
          <p:cNvSpPr/>
          <p:nvPr/>
        </p:nvSpPr>
        <p:spPr>
          <a:xfrm>
            <a:off x="8394192" y="1463040"/>
            <a:ext cx="1783080" cy="274320"/>
          </a:xfrm>
          <a:prstGeom prst="roundRect">
            <a:avLst>
              <a:gd name="adj" fmla="val 50000"/>
            </a:avLst>
          </a:prstGeom>
          <a:solidFill>
            <a:srgbClr val="B8B3A2"/>
          </a:solidFill>
          <a:ln/>
        </p:spPr>
      </p:sp>
      <p:sp>
        <p:nvSpPr>
          <p:cNvPr id="28" name="Text 26"/>
          <p:cNvSpPr/>
          <p:nvPr/>
        </p:nvSpPr>
        <p:spPr>
          <a:xfrm>
            <a:off x="8394192" y="1463040"/>
            <a:ext cx="1783080" cy="274320"/>
          </a:xfrm>
          <a:prstGeom prst="rect">
            <a:avLst/>
          </a:prstGeom>
          <a:noFill/>
          <a:ln/>
        </p:spPr>
        <p:txBody>
          <a:bodyPr wrap="square" lIns="0" tIns="0" rIns="0" bIns="0" rtlCol="0" anchor="ctr"/>
          <a:lstStyle/>
          <a:p>
            <a:pPr algn="ctr" indent="0" marL="0">
              <a:buNone/>
            </a:pPr>
            <a:r>
              <a:rPr lang="en-US" sz="850" b="1" spc="120" kern="0" dirty="0">
                <a:solidFill>
                  <a:srgbClr val="121212"/>
                </a:solidFill>
                <a:latin typeface="Arial" pitchFamily="34" charset="0"/>
                <a:ea typeface="Arial" pitchFamily="34" charset="-122"/>
                <a:cs typeface="Arial" pitchFamily="34" charset="-120"/>
              </a:rPr>
              <a:t>03 · OPERATIONALIZE</a:t>
            </a:r>
            <a:endParaRPr lang="en-US" sz="850" dirty="0"/>
          </a:p>
        </p:txBody>
      </p:sp>
      <p:sp>
        <p:nvSpPr>
          <p:cNvPr id="29" name="Text 27"/>
          <p:cNvSpPr/>
          <p:nvPr/>
        </p:nvSpPr>
        <p:spPr>
          <a:xfrm>
            <a:off x="8394192" y="1810512"/>
            <a:ext cx="3191256" cy="292608"/>
          </a:xfrm>
          <a:prstGeom prst="rect">
            <a:avLst/>
          </a:prstGeom>
          <a:noFill/>
          <a:ln/>
        </p:spPr>
        <p:txBody>
          <a:bodyPr wrap="square" lIns="0" tIns="0" rIns="0" bIns="0" rtlCol="0" anchor="t"/>
          <a:lstStyle/>
          <a:p>
            <a:pPr indent="0" marL="0">
              <a:buNone/>
            </a:pPr>
            <a:r>
              <a:rPr lang="en-US" sz="1500" b="1" dirty="0">
                <a:solidFill>
                  <a:srgbClr val="121212"/>
                </a:solidFill>
                <a:latin typeface="Arial" pitchFamily="34" charset="0"/>
                <a:ea typeface="Arial" pitchFamily="34" charset="-122"/>
                <a:cs typeface="Arial" pitchFamily="34" charset="-120"/>
              </a:rPr>
              <a:t>Copilot Studio</a:t>
            </a:r>
            <a:endParaRPr lang="en-US" sz="1500" dirty="0"/>
          </a:p>
        </p:txBody>
      </p:sp>
      <p:sp>
        <p:nvSpPr>
          <p:cNvPr id="30" name="Text 28"/>
          <p:cNvSpPr/>
          <p:nvPr/>
        </p:nvSpPr>
        <p:spPr>
          <a:xfrm>
            <a:off x="8394192" y="2103120"/>
            <a:ext cx="3191256" cy="237744"/>
          </a:xfrm>
          <a:prstGeom prst="rect">
            <a:avLst/>
          </a:prstGeom>
          <a:noFill/>
          <a:ln/>
        </p:spPr>
        <p:txBody>
          <a:bodyPr wrap="square" lIns="0" tIns="0" rIns="0" bIns="0" rtlCol="0" anchor="t"/>
          <a:lstStyle/>
          <a:p>
            <a:pPr indent="0" marL="0">
              <a:buNone/>
            </a:pPr>
            <a:r>
              <a:rPr lang="en-US" sz="900" i="1" dirty="0">
                <a:solidFill>
                  <a:srgbClr val="706E67"/>
                </a:solidFill>
                <a:latin typeface="Arial" pitchFamily="34" charset="0"/>
                <a:ea typeface="Arial" pitchFamily="34" charset="-122"/>
                <a:cs typeface="Arial" pitchFamily="34" charset="-120"/>
              </a:rPr>
              <a:t>Low-code platform for enterprise agents and workflows</a:t>
            </a:r>
            <a:endParaRPr lang="en-US" sz="900" dirty="0"/>
          </a:p>
        </p:txBody>
      </p:sp>
      <p:sp>
        <p:nvSpPr>
          <p:cNvPr id="31" name="Text 29"/>
          <p:cNvSpPr/>
          <p:nvPr/>
        </p:nvSpPr>
        <p:spPr>
          <a:xfrm>
            <a:off x="8394192" y="2359152"/>
            <a:ext cx="3191256" cy="640080"/>
          </a:xfrm>
          <a:prstGeom prst="rect">
            <a:avLst/>
          </a:prstGeom>
          <a:noFill/>
          <a:ln/>
        </p:spPr>
        <p:txBody>
          <a:bodyPr wrap="square" lIns="0" tIns="0" rIns="0" bIns="0" rtlCol="0" anchor="t"/>
          <a:lstStyle/>
          <a:p>
            <a:pPr indent="0" marL="0">
              <a:buNone/>
            </a:pPr>
            <a:r>
              <a:rPr lang="en-US" sz="900" dirty="0">
                <a:solidFill>
                  <a:srgbClr val="404040"/>
                </a:solidFill>
                <a:latin typeface="Arial" pitchFamily="34" charset="0"/>
                <a:ea typeface="Arial" pitchFamily="34" charset="-122"/>
                <a:cs typeface="Arial" pitchFamily="34" charset="-120"/>
              </a:rPr>
              <a:t>A graphical, low-code platform for designing, building, testing, publishing, managing, and improving AI-powered agents and workflows.</a:t>
            </a:r>
            <a:endParaRPr lang="en-US" sz="900" dirty="0"/>
          </a:p>
        </p:txBody>
      </p:sp>
      <p:sp>
        <p:nvSpPr>
          <p:cNvPr id="32" name="Text 30"/>
          <p:cNvSpPr/>
          <p:nvPr/>
        </p:nvSpPr>
        <p:spPr>
          <a:xfrm>
            <a:off x="8394192" y="3035808"/>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USE WHEN</a:t>
            </a:r>
            <a:endParaRPr lang="en-US" sz="850" dirty="0"/>
          </a:p>
        </p:txBody>
      </p:sp>
      <p:sp>
        <p:nvSpPr>
          <p:cNvPr id="33" name="Text 31"/>
          <p:cNvSpPr/>
          <p:nvPr/>
        </p:nvSpPr>
        <p:spPr>
          <a:xfrm>
            <a:off x="8394192" y="3218688"/>
            <a:ext cx="3191256" cy="9144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Departmental, enterprise, or external solutions</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Multi-step processes that retrieve information and take actions</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Approved integrations, branching, escalation, human review, controlled deployment</a:t>
            </a:r>
            <a:endParaRPr lang="en-US" sz="900" dirty="0"/>
          </a:p>
        </p:txBody>
      </p:sp>
      <p:sp>
        <p:nvSpPr>
          <p:cNvPr id="34" name="Text 32"/>
          <p:cNvSpPr/>
          <p:nvPr/>
        </p:nvSpPr>
        <p:spPr>
          <a:xfrm>
            <a:off x="8394192" y="4169664"/>
            <a:ext cx="3191256" cy="182880"/>
          </a:xfrm>
          <a:prstGeom prst="rect">
            <a:avLst/>
          </a:prstGeom>
          <a:noFill/>
          <a:ln/>
        </p:spPr>
        <p:txBody>
          <a:bodyPr wrap="square" lIns="0" tIns="0" rIns="0" bIns="0" rtlCol="0" anchor="ctr"/>
          <a:lstStyle/>
          <a:p>
            <a:pPr indent="0" marL="0">
              <a:buNone/>
            </a:pPr>
            <a:r>
              <a:rPr lang="en-US" sz="850" b="1" spc="150" kern="0" dirty="0">
                <a:solidFill>
                  <a:srgbClr val="706E67"/>
                </a:solidFill>
                <a:latin typeface="Arial" pitchFamily="34" charset="0"/>
                <a:ea typeface="Arial" pitchFamily="34" charset="-122"/>
                <a:cs typeface="Arial" pitchFamily="34" charset="-120"/>
              </a:rPr>
              <a:t>BUILDING BLOCKS &amp; TRADE-OFF</a:t>
            </a:r>
            <a:endParaRPr lang="en-US" sz="850" dirty="0"/>
          </a:p>
        </p:txBody>
      </p:sp>
      <p:sp>
        <p:nvSpPr>
          <p:cNvPr id="35" name="Text 33"/>
          <p:cNvSpPr/>
          <p:nvPr/>
        </p:nvSpPr>
        <p:spPr>
          <a:xfrm>
            <a:off x="8394192" y="4352544"/>
            <a:ext cx="3191256" cy="585216"/>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Instructions + approved knowledge + tools/actions + logic/workflows + channels</a:t>
            </a:r>
            <a:endParaRPr lang="en-US" sz="900" dirty="0"/>
          </a:p>
          <a:p>
            <a:pPr marL="342900" indent="-342900">
              <a:spcAft>
                <a:spcPts val="300"/>
              </a:spcAft>
              <a:buSzPct val="100000"/>
              <a:buChar char="•"/>
            </a:pPr>
            <a:r>
              <a:rPr lang="en-US" sz="900" dirty="0">
                <a:solidFill>
                  <a:srgbClr val="404040"/>
                </a:solidFill>
                <a:latin typeface="Arial" pitchFamily="34" charset="0"/>
                <a:ea typeface="Arial" pitchFamily="34" charset="-122"/>
                <a:cs typeface="Arial" pitchFamily="34" charset="-120"/>
              </a:rPr>
              <a:t>More capability, control, and scale, with more ownership, testing, governance, and monitoring</a:t>
            </a:r>
            <a:endParaRPr lang="en-US" sz="900" dirty="0"/>
          </a:p>
        </p:txBody>
      </p:sp>
      <p:sp>
        <p:nvSpPr>
          <p:cNvPr id="36" name="Text 34"/>
          <p:cNvSpPr/>
          <p:nvPr/>
        </p:nvSpPr>
        <p:spPr>
          <a:xfrm>
            <a:off x="8394192" y="4937760"/>
            <a:ext cx="3191256" cy="347472"/>
          </a:xfrm>
          <a:prstGeom prst="rect">
            <a:avLst/>
          </a:prstGeom>
          <a:noFill/>
          <a:ln/>
        </p:spPr>
        <p:txBody>
          <a:bodyPr wrap="square" lIns="0" tIns="0" rIns="0" bIns="0" rtlCol="0" anchor="b"/>
          <a:lstStyle/>
          <a:p>
            <a:pPr indent="0" marL="0">
              <a:buNone/>
            </a:pPr>
            <a:r>
              <a:rPr lang="en-US" sz="900" b="1" i="1" dirty="0">
                <a:solidFill>
                  <a:srgbClr val="121212"/>
                </a:solidFill>
                <a:latin typeface="Arial" pitchFamily="34" charset="0"/>
                <a:ea typeface="Arial" pitchFamily="34" charset="-122"/>
                <a:cs typeface="Arial" pitchFamily="34" charset="-120"/>
              </a:rPr>
              <a:t>“A low-code development and management platform for AI-enabled business solutions.”</a:t>
            </a:r>
            <a:endParaRPr lang="en-US" sz="900" dirty="0"/>
          </a:p>
        </p:txBody>
      </p:sp>
      <p:sp>
        <p:nvSpPr>
          <p:cNvPr id="37" name="Shape 35"/>
          <p:cNvSpPr/>
          <p:nvPr/>
        </p:nvSpPr>
        <p:spPr>
          <a:xfrm>
            <a:off x="9317736" y="1152144"/>
            <a:ext cx="2286000" cy="292608"/>
          </a:xfrm>
          <a:prstGeom prst="roundRect">
            <a:avLst>
              <a:gd name="adj" fmla="val 50000"/>
            </a:avLst>
          </a:prstGeom>
          <a:solidFill>
            <a:srgbClr val="B8B3A2"/>
          </a:solidFill>
          <a:ln/>
        </p:spPr>
      </p:sp>
      <p:sp>
        <p:nvSpPr>
          <p:cNvPr id="38" name="Text 36"/>
          <p:cNvSpPr/>
          <p:nvPr/>
        </p:nvSpPr>
        <p:spPr>
          <a:xfrm>
            <a:off x="9317736" y="1152144"/>
            <a:ext cx="2286000" cy="292608"/>
          </a:xfrm>
          <a:prstGeom prst="rect">
            <a:avLst/>
          </a:prstGeom>
          <a:noFill/>
          <a:ln/>
        </p:spPr>
        <p:txBody>
          <a:bodyPr wrap="square" lIns="0" tIns="0" rIns="0" bIns="0" rtlCol="0" anchor="ctr"/>
          <a:lstStyle/>
          <a:p>
            <a:pPr algn="ctr" indent="0" marL="0">
              <a:buNone/>
            </a:pPr>
            <a:r>
              <a:rPr lang="en-US" sz="800" b="1" spc="100" kern="0" dirty="0">
                <a:solidFill>
                  <a:srgbClr val="121212"/>
                </a:solidFill>
                <a:latin typeface="Arial" pitchFamily="34" charset="0"/>
                <a:ea typeface="Arial" pitchFamily="34" charset="-122"/>
                <a:cs typeface="Arial" pitchFamily="34" charset="-120"/>
              </a:rPr>
              <a:t>THE REVIEW AGENT LIVES HERE</a:t>
            </a:r>
            <a:endParaRPr lang="en-US" sz="800" dirty="0"/>
          </a:p>
        </p:txBody>
      </p:sp>
      <p:sp>
        <p:nvSpPr>
          <p:cNvPr id="39" name="Shape 37"/>
          <p:cNvSpPr/>
          <p:nvPr/>
        </p:nvSpPr>
        <p:spPr>
          <a:xfrm>
            <a:off x="548640" y="5449824"/>
            <a:ext cx="11091672" cy="713232"/>
          </a:xfrm>
          <a:prstGeom prst="roundRect">
            <a:avLst>
              <a:gd name="adj" fmla="val 12821"/>
            </a:avLst>
          </a:prstGeom>
          <a:solidFill>
            <a:srgbClr val="F3F2EF"/>
          </a:solidFill>
          <a:ln/>
        </p:spPr>
      </p:sp>
      <p:sp>
        <p:nvSpPr>
          <p:cNvPr id="40" name="Text 38"/>
          <p:cNvSpPr/>
          <p:nvPr/>
        </p:nvSpPr>
        <p:spPr>
          <a:xfrm>
            <a:off x="822960" y="5504688"/>
            <a:ext cx="10543032" cy="274320"/>
          </a:xfrm>
          <a:prstGeom prst="rect">
            <a:avLst/>
          </a:prstGeom>
          <a:noFill/>
          <a:ln/>
        </p:spPr>
        <p:txBody>
          <a:bodyPr wrap="square" lIns="0" tIns="0" rIns="0" bIns="0" rtlCol="0" anchor="ctr"/>
          <a:lstStyle/>
          <a:p>
            <a:pPr algn="ctr" indent="0" marL="0">
              <a:buNone/>
            </a:pPr>
            <a:r>
              <a:rPr lang="en-US" sz="1100" b="1" dirty="0">
                <a:solidFill>
                  <a:srgbClr val="121212"/>
                </a:solidFill>
                <a:latin typeface="Arial" pitchFamily="34" charset="0"/>
                <a:ea typeface="Arial" pitchFamily="34" charset="-122"/>
                <a:cs typeface="Arial" pitchFamily="34" charset="-120"/>
              </a:rPr>
              <a:t>WHICH SHOULD I USE?   Copilot: do the task with AI   ·   Agent Builder: package the task for reuse   ·   Copilot Studio: operationalize it as a governed solution</a:t>
            </a:r>
            <a:endParaRPr lang="en-US" sz="1100" dirty="0"/>
          </a:p>
        </p:txBody>
      </p:sp>
      <p:sp>
        <p:nvSpPr>
          <p:cNvPr id="41" name="Text 39"/>
          <p:cNvSpPr/>
          <p:nvPr/>
        </p:nvSpPr>
        <p:spPr>
          <a:xfrm>
            <a:off x="822960" y="5797296"/>
            <a:ext cx="10543032" cy="329184"/>
          </a:xfrm>
          <a:prstGeom prst="rect">
            <a:avLst/>
          </a:prstGeom>
          <a:noFill/>
          <a:ln/>
        </p:spPr>
        <p:txBody>
          <a:bodyPr wrap="square" lIns="0" tIns="0" rIns="0" bIns="0" rtlCol="0" anchor="ctr"/>
          <a:lstStyle/>
          <a:p>
            <a:pPr algn="ctr" indent="0" marL="0">
              <a:buNone/>
            </a:pPr>
            <a:r>
              <a:rPr lang="en-US" sz="950" dirty="0">
                <a:solidFill>
                  <a:srgbClr val="706E67"/>
                </a:solidFill>
                <a:latin typeface="Arial" pitchFamily="34" charset="0"/>
                <a:ea typeface="Arial" pitchFamily="34" charset="-122"/>
                <a:cs typeface="Arial" pitchFamily="34" charset="-120"/>
              </a:rPr>
              <a:t>Start with Copilot for an ad hoc need. Use Agent Builder when instructions, knowledge, or output patterns will be reused. Move to Copilot Studio when the capability becomes integrated, automated, broadly deployed, and governed.</a:t>
            </a:r>
            <a:endParaRPr lang="en-US" sz="950" dirty="0"/>
          </a:p>
        </p:txBody>
      </p:sp>
      <p:sp>
        <p:nvSpPr>
          <p:cNvPr id="42" name="Shape 40"/>
          <p:cNvSpPr/>
          <p:nvPr/>
        </p:nvSpPr>
        <p:spPr>
          <a:xfrm>
            <a:off x="548640" y="6272784"/>
            <a:ext cx="11091672" cy="512064"/>
          </a:xfrm>
          <a:prstGeom prst="roundRect">
            <a:avLst>
              <a:gd name="adj" fmla="val 14286"/>
            </a:avLst>
          </a:prstGeom>
          <a:solidFill>
            <a:srgbClr val="F3F2EF"/>
          </a:solidFill>
          <a:ln/>
        </p:spPr>
      </p:sp>
      <p:sp>
        <p:nvSpPr>
          <p:cNvPr id="43" name="Text 41"/>
          <p:cNvSpPr/>
          <p:nvPr/>
        </p:nvSpPr>
        <p:spPr>
          <a:xfrm>
            <a:off x="777240" y="6272784"/>
            <a:ext cx="10634472" cy="512064"/>
          </a:xfrm>
          <a:prstGeom prst="rect">
            <a:avLst/>
          </a:prstGeom>
          <a:noFill/>
          <a:ln/>
        </p:spPr>
        <p:txBody>
          <a:bodyPr wrap="square" lIns="0" tIns="0" rIns="0" bIns="0" rtlCol="0" anchor="ctr"/>
          <a:lstStyle/>
          <a:p>
            <a:pPr indent="0" marL="0">
              <a:buNone/>
            </a:pPr>
            <a:r>
              <a:rPr lang="en-US" sz="850" b="1" dirty="0">
                <a:solidFill>
                  <a:srgbClr val="706E67"/>
                </a:solidFill>
                <a:latin typeface="Arial" pitchFamily="34" charset="0"/>
                <a:ea typeface="Arial" pitchFamily="34" charset="-122"/>
                <a:cs typeface="Arial" pitchFamily="34" charset="-120"/>
              </a:rPr>
              <a:t>IMPORTANT IN OUR ENVIRONMENT   </a:t>
            </a:r>
            <a:pPr indent="0" marL="0">
              <a:buNone/>
            </a:pPr>
            <a:r>
              <a:rPr lang="en-US" sz="850" dirty="0">
                <a:solidFill>
                  <a:srgbClr val="404040"/>
                </a:solidFill>
                <a:latin typeface="Arial" pitchFamily="34" charset="0"/>
                <a:ea typeface="Arial" pitchFamily="34" charset="-122"/>
                <a:cs typeface="Arial" pitchFamily="34" charset="-120"/>
              </a:rPr>
              <a:t>For most personal or team knowledge scenarios, begin with Agent Builder. Consider Copilot Studio for process automation, approved system integrations, broader business use, or stronger governance. Capabilities depend on policy, approved connectors and environments, data requirements, and governance approvals; published or shared agents may require affirmation and OCTO registration or approval.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Using it well</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Four habits that make the agent worth your time</a:t>
            </a:r>
            <a:endParaRPr lang="en-US" sz="1500" dirty="0"/>
          </a:p>
        </p:txBody>
      </p:sp>
      <p:sp>
        <p:nvSpPr>
          <p:cNvPr id="4" name="Shape 2"/>
          <p:cNvSpPr/>
          <p:nvPr/>
        </p:nvSpPr>
        <p:spPr>
          <a:xfrm>
            <a:off x="548640" y="1600200"/>
            <a:ext cx="5349240" cy="2011680"/>
          </a:xfrm>
          <a:prstGeom prst="roundRect">
            <a:avLst>
              <a:gd name="adj" fmla="val 4545"/>
            </a:avLst>
          </a:prstGeom>
          <a:solidFill>
            <a:srgbClr val="F7F6F3"/>
          </a:solidFill>
          <a:ln/>
        </p:spPr>
      </p:sp>
      <p:sp>
        <p:nvSpPr>
          <p:cNvPr id="5" name="Shape 3"/>
          <p:cNvSpPr/>
          <p:nvPr/>
        </p:nvSpPr>
        <p:spPr>
          <a:xfrm>
            <a:off x="822960" y="1874520"/>
            <a:ext cx="457200" cy="457200"/>
          </a:xfrm>
          <a:prstGeom prst="ellipse">
            <a:avLst/>
          </a:prstGeom>
          <a:solidFill>
            <a:srgbClr val="CCCABC"/>
          </a:solidFill>
          <a:ln/>
        </p:spPr>
      </p:sp>
      <p:pic>
        <p:nvPicPr>
          <p:cNvPr id="6" name="Image 0" descr="preencoded.png">    </p:cNvPr>
          <p:cNvPicPr>
            <a:picLocks noChangeAspect="1"/>
          </p:cNvPicPr>
          <p:nvPr/>
        </p:nvPicPr>
        <p:blipFill>
          <a:blip r:embed="rId1"/>
          <a:stretch>
            <a:fillRect/>
          </a:stretch>
        </p:blipFill>
        <p:spPr>
          <a:xfrm>
            <a:off x="941832" y="1993392"/>
            <a:ext cx="219456" cy="219456"/>
          </a:xfrm>
          <a:prstGeom prst="rect">
            <a:avLst/>
          </a:prstGeom>
        </p:spPr>
      </p:pic>
      <p:sp>
        <p:nvSpPr>
          <p:cNvPr id="7" name="Text 4"/>
          <p:cNvSpPr/>
          <p:nvPr/>
        </p:nvSpPr>
        <p:spPr>
          <a:xfrm>
            <a:off x="1444752" y="1874520"/>
            <a:ext cx="4206240" cy="45720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Make it step one</a:t>
            </a:r>
            <a:endParaRPr lang="en-US" sz="1550" dirty="0"/>
          </a:p>
        </p:txBody>
      </p:sp>
      <p:sp>
        <p:nvSpPr>
          <p:cNvPr id="8" name="Text 5"/>
          <p:cNvSpPr/>
          <p:nvPr/>
        </p:nvSpPr>
        <p:spPr>
          <a:xfrm>
            <a:off x="1444752" y="2350008"/>
            <a:ext cx="4206240" cy="11430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Start every review by handing the agent your source documents; that's where it saves the most time.</a:t>
            </a:r>
            <a:endParaRPr lang="en-US" sz="1250" dirty="0"/>
          </a:p>
        </p:txBody>
      </p:sp>
      <p:sp>
        <p:nvSpPr>
          <p:cNvPr id="9" name="Shape 6"/>
          <p:cNvSpPr/>
          <p:nvPr/>
        </p:nvSpPr>
        <p:spPr>
          <a:xfrm>
            <a:off x="6291072" y="1600200"/>
            <a:ext cx="5349240" cy="2011680"/>
          </a:xfrm>
          <a:prstGeom prst="roundRect">
            <a:avLst>
              <a:gd name="adj" fmla="val 4545"/>
            </a:avLst>
          </a:prstGeom>
          <a:solidFill>
            <a:srgbClr val="F7F6F3"/>
          </a:solidFill>
          <a:ln/>
        </p:spPr>
      </p:sp>
      <p:sp>
        <p:nvSpPr>
          <p:cNvPr id="10" name="Shape 7"/>
          <p:cNvSpPr/>
          <p:nvPr/>
        </p:nvSpPr>
        <p:spPr>
          <a:xfrm>
            <a:off x="6565392" y="1874520"/>
            <a:ext cx="457200" cy="457200"/>
          </a:xfrm>
          <a:prstGeom prst="ellipse">
            <a:avLst/>
          </a:prstGeom>
          <a:solidFill>
            <a:srgbClr val="CCCABC"/>
          </a:solidFill>
          <a:ln/>
        </p:spPr>
      </p:sp>
      <p:pic>
        <p:nvPicPr>
          <p:cNvPr id="11" name="Image 1" descr="preencoded.png">    </p:cNvPr>
          <p:cNvPicPr>
            <a:picLocks noChangeAspect="1"/>
          </p:cNvPicPr>
          <p:nvPr/>
        </p:nvPicPr>
        <p:blipFill>
          <a:blip r:embed="rId2"/>
          <a:stretch>
            <a:fillRect/>
          </a:stretch>
        </p:blipFill>
        <p:spPr>
          <a:xfrm>
            <a:off x="6684264" y="1993392"/>
            <a:ext cx="219456" cy="219456"/>
          </a:xfrm>
          <a:prstGeom prst="rect">
            <a:avLst/>
          </a:prstGeom>
        </p:spPr>
      </p:pic>
      <p:sp>
        <p:nvSpPr>
          <p:cNvPr id="12" name="Text 8"/>
          <p:cNvSpPr/>
          <p:nvPr/>
        </p:nvSpPr>
        <p:spPr>
          <a:xfrm>
            <a:off x="7187184" y="1874520"/>
            <a:ext cx="4206240" cy="45720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Verify against source</a:t>
            </a:r>
            <a:endParaRPr lang="en-US" sz="1550" dirty="0"/>
          </a:p>
        </p:txBody>
      </p:sp>
      <p:sp>
        <p:nvSpPr>
          <p:cNvPr id="13" name="Text 9"/>
          <p:cNvSpPr/>
          <p:nvPr/>
        </p:nvSpPr>
        <p:spPr>
          <a:xfrm>
            <a:off x="7187184" y="2350008"/>
            <a:ext cx="4206240" cy="11430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Treat the drafted workpaper like a first pass from a junior analyst: confirm each item against the underlying documents.</a:t>
            </a:r>
            <a:endParaRPr lang="en-US" sz="1250" dirty="0"/>
          </a:p>
        </p:txBody>
      </p:sp>
      <p:sp>
        <p:nvSpPr>
          <p:cNvPr id="14" name="Shape 10"/>
          <p:cNvSpPr/>
          <p:nvPr/>
        </p:nvSpPr>
        <p:spPr>
          <a:xfrm>
            <a:off x="548640" y="3840480"/>
            <a:ext cx="5349240" cy="2011680"/>
          </a:xfrm>
          <a:prstGeom prst="roundRect">
            <a:avLst>
              <a:gd name="adj" fmla="val 4545"/>
            </a:avLst>
          </a:prstGeom>
          <a:solidFill>
            <a:srgbClr val="F3F2EF"/>
          </a:solidFill>
          <a:ln/>
        </p:spPr>
      </p:sp>
      <p:sp>
        <p:nvSpPr>
          <p:cNvPr id="15" name="Shape 11"/>
          <p:cNvSpPr/>
          <p:nvPr/>
        </p:nvSpPr>
        <p:spPr>
          <a:xfrm>
            <a:off x="822960" y="4114800"/>
            <a:ext cx="457200" cy="457200"/>
          </a:xfrm>
          <a:prstGeom prst="ellipse">
            <a:avLst/>
          </a:prstGeom>
          <a:solidFill>
            <a:srgbClr val="CCCABC"/>
          </a:solidFill>
          <a:ln/>
        </p:spPr>
      </p:sp>
      <p:pic>
        <p:nvPicPr>
          <p:cNvPr id="16" name="Image 2" descr="preencoded.png">    </p:cNvPr>
          <p:cNvPicPr>
            <a:picLocks noChangeAspect="1"/>
          </p:cNvPicPr>
          <p:nvPr/>
        </p:nvPicPr>
        <p:blipFill>
          <a:blip r:embed="rId3"/>
          <a:stretch>
            <a:fillRect/>
          </a:stretch>
        </p:blipFill>
        <p:spPr>
          <a:xfrm>
            <a:off x="941832" y="4233672"/>
            <a:ext cx="219456" cy="219456"/>
          </a:xfrm>
          <a:prstGeom prst="rect">
            <a:avLst/>
          </a:prstGeom>
        </p:spPr>
      </p:pic>
      <p:sp>
        <p:nvSpPr>
          <p:cNvPr id="17" name="Text 12"/>
          <p:cNvSpPr/>
          <p:nvPr/>
        </p:nvSpPr>
        <p:spPr>
          <a:xfrm>
            <a:off x="1444752" y="4114800"/>
            <a:ext cx="4206240" cy="45720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Judgment stays yours</a:t>
            </a:r>
            <a:endParaRPr lang="en-US" sz="1550" dirty="0"/>
          </a:p>
        </p:txBody>
      </p:sp>
      <p:sp>
        <p:nvSpPr>
          <p:cNvPr id="18" name="Text 13"/>
          <p:cNvSpPr/>
          <p:nvPr/>
        </p:nvSpPr>
        <p:spPr>
          <a:xfrm>
            <a:off x="1444752" y="4590288"/>
            <a:ext cx="4206240" cy="11430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The agent assembles and suggests. Findings, ratings, and conclusions remain the reviewer's call, always.</a:t>
            </a:r>
            <a:endParaRPr lang="en-US" sz="1250" dirty="0"/>
          </a:p>
        </p:txBody>
      </p:sp>
      <p:sp>
        <p:nvSpPr>
          <p:cNvPr id="19" name="Shape 14"/>
          <p:cNvSpPr/>
          <p:nvPr/>
        </p:nvSpPr>
        <p:spPr>
          <a:xfrm>
            <a:off x="6291072" y="3840480"/>
            <a:ext cx="5349240" cy="2011680"/>
          </a:xfrm>
          <a:prstGeom prst="roundRect">
            <a:avLst>
              <a:gd name="adj" fmla="val 4545"/>
            </a:avLst>
          </a:prstGeom>
          <a:solidFill>
            <a:srgbClr val="F3F2EF"/>
          </a:solidFill>
          <a:ln/>
        </p:spPr>
      </p:sp>
      <p:sp>
        <p:nvSpPr>
          <p:cNvPr id="20" name="Shape 15"/>
          <p:cNvSpPr/>
          <p:nvPr/>
        </p:nvSpPr>
        <p:spPr>
          <a:xfrm>
            <a:off x="6565392" y="4114800"/>
            <a:ext cx="457200" cy="457200"/>
          </a:xfrm>
          <a:prstGeom prst="ellipse">
            <a:avLst/>
          </a:prstGeom>
          <a:solidFill>
            <a:srgbClr val="CCCABC"/>
          </a:solidFill>
          <a:ln/>
        </p:spPr>
      </p:sp>
      <p:pic>
        <p:nvPicPr>
          <p:cNvPr id="21" name="Image 3" descr="preencoded.png">    </p:cNvPr>
          <p:cNvPicPr>
            <a:picLocks noChangeAspect="1"/>
          </p:cNvPicPr>
          <p:nvPr/>
        </p:nvPicPr>
        <p:blipFill>
          <a:blip r:embed="rId4"/>
          <a:stretch>
            <a:fillRect/>
          </a:stretch>
        </p:blipFill>
        <p:spPr>
          <a:xfrm>
            <a:off x="6684264" y="4233672"/>
            <a:ext cx="219456" cy="219456"/>
          </a:xfrm>
          <a:prstGeom prst="rect">
            <a:avLst/>
          </a:prstGeom>
        </p:spPr>
      </p:pic>
      <p:sp>
        <p:nvSpPr>
          <p:cNvPr id="22" name="Text 16"/>
          <p:cNvSpPr/>
          <p:nvPr/>
        </p:nvSpPr>
        <p:spPr>
          <a:xfrm>
            <a:off x="7187184" y="4114800"/>
            <a:ext cx="4206240" cy="457200"/>
          </a:xfrm>
          <a:prstGeom prst="rect">
            <a:avLst/>
          </a:prstGeom>
          <a:noFill/>
          <a:ln/>
        </p:spPr>
        <p:txBody>
          <a:bodyPr wrap="square" lIns="0" tIns="0" rIns="0" bIns="0" rtlCol="0" anchor="t"/>
          <a:lstStyle/>
          <a:p>
            <a:pPr indent="0" marL="0">
              <a:buNone/>
            </a:pPr>
            <a:r>
              <a:rPr lang="en-US" sz="1550" b="1" dirty="0">
                <a:solidFill>
                  <a:srgbClr val="121212"/>
                </a:solidFill>
                <a:latin typeface="Arial" pitchFamily="34" charset="0"/>
                <a:ea typeface="Arial" pitchFamily="34" charset="-122"/>
                <a:cs typeface="Arial" pitchFamily="34" charset="-120"/>
              </a:rPr>
              <a:t>Report what's off</a:t>
            </a:r>
            <a:endParaRPr lang="en-US" sz="1550" dirty="0"/>
          </a:p>
        </p:txBody>
      </p:sp>
      <p:sp>
        <p:nvSpPr>
          <p:cNvPr id="23" name="Text 17"/>
          <p:cNvSpPr/>
          <p:nvPr/>
        </p:nvSpPr>
        <p:spPr>
          <a:xfrm>
            <a:off x="7187184" y="4590288"/>
            <a:ext cx="4206240" cy="11430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When it misses or misreads something, tell me. Fixes ship to the whole team at once; your feedback compounds.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706E67"/>
                </a:solidFill>
                <a:latin typeface="Arial" pitchFamily="34" charset="0"/>
                <a:ea typeface="Arial" pitchFamily="34" charset="-122"/>
                <a:cs typeface="Arial" pitchFamily="34" charset="-120"/>
              </a:rPr>
              <a:t>SENTINEL</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Where we stand</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From plan to technical requirements</a:t>
            </a:r>
            <a:endParaRPr lang="en-US" sz="1500" dirty="0"/>
          </a:p>
        </p:txBody>
      </p:sp>
      <p:sp>
        <p:nvSpPr>
          <p:cNvPr id="5" name="Shape 3"/>
          <p:cNvSpPr/>
          <p:nvPr/>
        </p:nvSpPr>
        <p:spPr>
          <a:xfrm>
            <a:off x="548640" y="1783080"/>
            <a:ext cx="3383280" cy="1783080"/>
          </a:xfrm>
          <a:prstGeom prst="roundRect">
            <a:avLst>
              <a:gd name="adj" fmla="val 5128"/>
            </a:avLst>
          </a:prstGeom>
          <a:solidFill>
            <a:srgbClr val="F7F6F3"/>
          </a:solidFill>
          <a:ln/>
        </p:spPr>
      </p:sp>
      <p:sp>
        <p:nvSpPr>
          <p:cNvPr id="6" name="Shape 4"/>
          <p:cNvSpPr/>
          <p:nvPr/>
        </p:nvSpPr>
        <p:spPr>
          <a:xfrm>
            <a:off x="804672" y="2039112"/>
            <a:ext cx="1417320" cy="347472"/>
          </a:xfrm>
          <a:prstGeom prst="roundRect">
            <a:avLst>
              <a:gd name="adj" fmla="val 50000"/>
            </a:avLst>
          </a:prstGeom>
          <a:solidFill>
            <a:srgbClr val="B8B3A2"/>
          </a:solidFill>
          <a:ln/>
        </p:spPr>
      </p:sp>
      <p:sp>
        <p:nvSpPr>
          <p:cNvPr id="7" name="Text 5"/>
          <p:cNvSpPr/>
          <p:nvPr/>
        </p:nvSpPr>
        <p:spPr>
          <a:xfrm>
            <a:off x="80467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121212"/>
                </a:solidFill>
                <a:latin typeface="Arial" pitchFamily="34" charset="0"/>
                <a:ea typeface="Arial" pitchFamily="34" charset="-122"/>
                <a:cs typeface="Arial" pitchFamily="34" charset="-120"/>
              </a:rPr>
              <a:t>DONE</a:t>
            </a:r>
            <a:endParaRPr lang="en-US" sz="1000" dirty="0"/>
          </a:p>
        </p:txBody>
      </p:sp>
      <p:sp>
        <p:nvSpPr>
          <p:cNvPr id="8" name="Text 6"/>
          <p:cNvSpPr/>
          <p:nvPr/>
        </p:nvSpPr>
        <p:spPr>
          <a:xfrm>
            <a:off x="804672" y="2532888"/>
            <a:ext cx="2871216" cy="50292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Plan &amp; architecture</a:t>
            </a:r>
            <a:endParaRPr lang="en-US" sz="1650" dirty="0"/>
          </a:p>
        </p:txBody>
      </p:sp>
      <p:sp>
        <p:nvSpPr>
          <p:cNvPr id="9" name="Text 7"/>
          <p:cNvSpPr/>
          <p:nvPr/>
        </p:nvSpPr>
        <p:spPr>
          <a:xfrm>
            <a:off x="804672" y="3026664"/>
            <a:ext cx="2871216" cy="45720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Shared with this group on August 6</a:t>
            </a:r>
            <a:endParaRPr lang="en-US" sz="1200" dirty="0"/>
          </a:p>
        </p:txBody>
      </p:sp>
      <p:sp>
        <p:nvSpPr>
          <p:cNvPr id="10" name="Text 8"/>
          <p:cNvSpPr/>
          <p:nvPr/>
        </p:nvSpPr>
        <p:spPr>
          <a:xfrm>
            <a:off x="3950208" y="2423160"/>
            <a:ext cx="384048" cy="457200"/>
          </a:xfrm>
          <a:prstGeom prst="rect">
            <a:avLst/>
          </a:prstGeom>
          <a:noFill/>
          <a:ln/>
        </p:spPr>
        <p:txBody>
          <a:bodyPr wrap="square" lIns="0" tIns="0" rIns="0" bIns="0" rtlCol="0" anchor="ctr"/>
          <a:lstStyle/>
          <a:p>
            <a:pPr algn="ctr" indent="0" marL="0">
              <a:buNone/>
            </a:pPr>
            <a:r>
              <a:rPr lang="en-US" sz="2200" b="1" dirty="0">
                <a:solidFill>
                  <a:srgbClr val="706E67"/>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43400" y="1783080"/>
            <a:ext cx="3383280" cy="1783080"/>
          </a:xfrm>
          <a:prstGeom prst="roundRect">
            <a:avLst>
              <a:gd name="adj" fmla="val 5128"/>
            </a:avLst>
          </a:prstGeom>
          <a:solidFill>
            <a:srgbClr val="F7F6F3"/>
          </a:solidFill>
          <a:ln w="25400">
            <a:solidFill>
              <a:srgbClr val="B8B3A2"/>
            </a:solidFill>
            <a:prstDash val="solid"/>
          </a:ln>
        </p:spPr>
      </p:sp>
      <p:sp>
        <p:nvSpPr>
          <p:cNvPr id="12" name="Shape 10"/>
          <p:cNvSpPr/>
          <p:nvPr/>
        </p:nvSpPr>
        <p:spPr>
          <a:xfrm>
            <a:off x="4599432" y="2039112"/>
            <a:ext cx="1417320" cy="347472"/>
          </a:xfrm>
          <a:prstGeom prst="roundRect">
            <a:avLst>
              <a:gd name="adj" fmla="val 50000"/>
            </a:avLst>
          </a:prstGeom>
          <a:solidFill>
            <a:srgbClr val="CCCABC"/>
          </a:solidFill>
          <a:ln/>
        </p:spPr>
      </p:sp>
      <p:sp>
        <p:nvSpPr>
          <p:cNvPr id="13" name="Text 11"/>
          <p:cNvSpPr/>
          <p:nvPr/>
        </p:nvSpPr>
        <p:spPr>
          <a:xfrm>
            <a:off x="459943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121212"/>
                </a:solidFill>
                <a:latin typeface="Arial" pitchFamily="34" charset="0"/>
                <a:ea typeface="Arial" pitchFamily="34" charset="-122"/>
                <a:cs typeface="Arial" pitchFamily="34" charset="-120"/>
              </a:rPr>
              <a:t>IN PROGRESS</a:t>
            </a:r>
            <a:endParaRPr lang="en-US" sz="1000" dirty="0"/>
          </a:p>
        </p:txBody>
      </p:sp>
      <p:sp>
        <p:nvSpPr>
          <p:cNvPr id="14" name="Text 12"/>
          <p:cNvSpPr/>
          <p:nvPr/>
        </p:nvSpPr>
        <p:spPr>
          <a:xfrm>
            <a:off x="4599432" y="2532888"/>
            <a:ext cx="2871216" cy="50292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Technical requirements</a:t>
            </a:r>
            <a:endParaRPr lang="en-US" sz="1650" dirty="0"/>
          </a:p>
        </p:txBody>
      </p:sp>
      <p:sp>
        <p:nvSpPr>
          <p:cNvPr id="15" name="Text 13"/>
          <p:cNvSpPr/>
          <p:nvPr/>
        </p:nvSpPr>
        <p:spPr>
          <a:xfrm>
            <a:off x="4599432" y="3026664"/>
            <a:ext cx="2871216" cy="45720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Working sessions under way now</a:t>
            </a:r>
            <a:endParaRPr lang="en-US" sz="1200" dirty="0"/>
          </a:p>
        </p:txBody>
      </p:sp>
      <p:sp>
        <p:nvSpPr>
          <p:cNvPr id="16" name="Text 14"/>
          <p:cNvSpPr/>
          <p:nvPr/>
        </p:nvSpPr>
        <p:spPr>
          <a:xfrm>
            <a:off x="7744968" y="2423160"/>
            <a:ext cx="384048" cy="457200"/>
          </a:xfrm>
          <a:prstGeom prst="rect">
            <a:avLst/>
          </a:prstGeom>
          <a:noFill/>
          <a:ln/>
        </p:spPr>
        <p:txBody>
          <a:bodyPr wrap="square" lIns="0" tIns="0" rIns="0" bIns="0" rtlCol="0" anchor="ctr"/>
          <a:lstStyle/>
          <a:p>
            <a:pPr algn="ctr" indent="0" marL="0">
              <a:buNone/>
            </a:pPr>
            <a:r>
              <a:rPr lang="en-US" sz="2200" b="1" dirty="0">
                <a:solidFill>
                  <a:srgbClr val="706E67"/>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8138160" y="1783080"/>
            <a:ext cx="3383280" cy="1783080"/>
          </a:xfrm>
          <a:prstGeom prst="roundRect">
            <a:avLst>
              <a:gd name="adj" fmla="val 5128"/>
            </a:avLst>
          </a:prstGeom>
          <a:solidFill>
            <a:srgbClr val="F3F2EF"/>
          </a:solidFill>
          <a:ln/>
        </p:spPr>
      </p:sp>
      <p:sp>
        <p:nvSpPr>
          <p:cNvPr id="18" name="Shape 16"/>
          <p:cNvSpPr/>
          <p:nvPr/>
        </p:nvSpPr>
        <p:spPr>
          <a:xfrm>
            <a:off x="8394192" y="2039112"/>
            <a:ext cx="1417320" cy="347472"/>
          </a:xfrm>
          <a:prstGeom prst="roundRect">
            <a:avLst>
              <a:gd name="adj" fmla="val 50000"/>
            </a:avLst>
          </a:prstGeom>
          <a:solidFill>
            <a:srgbClr val="E7E5DE"/>
          </a:solidFill>
          <a:ln/>
        </p:spPr>
      </p:sp>
      <p:sp>
        <p:nvSpPr>
          <p:cNvPr id="19" name="Text 17"/>
          <p:cNvSpPr/>
          <p:nvPr/>
        </p:nvSpPr>
        <p:spPr>
          <a:xfrm>
            <a:off x="8394192" y="2039112"/>
            <a:ext cx="1417320" cy="347472"/>
          </a:xfrm>
          <a:prstGeom prst="rect">
            <a:avLst/>
          </a:prstGeom>
          <a:noFill/>
          <a:ln/>
        </p:spPr>
        <p:txBody>
          <a:bodyPr wrap="square" lIns="0" tIns="0" rIns="0" bIns="0" rtlCol="0" anchor="ctr"/>
          <a:lstStyle/>
          <a:p>
            <a:pPr algn="ctr" indent="0" marL="0">
              <a:buNone/>
            </a:pPr>
            <a:r>
              <a:rPr lang="en-US" sz="1000" b="1" spc="150" kern="0" dirty="0">
                <a:solidFill>
                  <a:srgbClr val="706E67"/>
                </a:solidFill>
                <a:latin typeface="Arial" pitchFamily="34" charset="0"/>
                <a:ea typeface="Arial" pitchFamily="34" charset="-122"/>
                <a:cs typeface="Arial" pitchFamily="34" charset="-120"/>
              </a:rPr>
              <a:t>NEXT</a:t>
            </a:r>
            <a:endParaRPr lang="en-US" sz="1000" dirty="0"/>
          </a:p>
        </p:txBody>
      </p:sp>
      <p:sp>
        <p:nvSpPr>
          <p:cNvPr id="20" name="Text 18"/>
          <p:cNvSpPr/>
          <p:nvPr/>
        </p:nvSpPr>
        <p:spPr>
          <a:xfrm>
            <a:off x="8394192" y="2532888"/>
            <a:ext cx="2871216" cy="50292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Build plan &amp; timeline</a:t>
            </a:r>
            <a:endParaRPr lang="en-US" sz="1650" dirty="0"/>
          </a:p>
        </p:txBody>
      </p:sp>
      <p:sp>
        <p:nvSpPr>
          <p:cNvPr id="21" name="Text 19"/>
          <p:cNvSpPr/>
          <p:nvPr/>
        </p:nvSpPr>
        <p:spPr>
          <a:xfrm>
            <a:off x="8394192" y="3026664"/>
            <a:ext cx="2871216" cy="45720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Firms up once requirements settle</a:t>
            </a:r>
            <a:endParaRPr lang="en-US" sz="1200" dirty="0"/>
          </a:p>
        </p:txBody>
      </p:sp>
      <p:sp>
        <p:nvSpPr>
          <p:cNvPr id="22" name="Shape 20"/>
          <p:cNvSpPr/>
          <p:nvPr/>
        </p:nvSpPr>
        <p:spPr>
          <a:xfrm>
            <a:off x="548640" y="3886200"/>
            <a:ext cx="11091672" cy="1828800"/>
          </a:xfrm>
          <a:prstGeom prst="roundRect">
            <a:avLst>
              <a:gd name="adj" fmla="val 5000"/>
            </a:avLst>
          </a:prstGeom>
          <a:solidFill>
            <a:srgbClr val="F3F2EF"/>
          </a:solidFill>
          <a:ln/>
        </p:spPr>
      </p:sp>
      <p:sp>
        <p:nvSpPr>
          <p:cNvPr id="23" name="Text 21"/>
          <p:cNvSpPr/>
          <p:nvPr/>
        </p:nvSpPr>
        <p:spPr>
          <a:xfrm>
            <a:off x="868680" y="4096512"/>
            <a:ext cx="5486400" cy="365760"/>
          </a:xfrm>
          <a:prstGeom prst="rect">
            <a:avLst/>
          </a:prstGeom>
          <a:noFill/>
          <a:ln/>
        </p:spPr>
        <p:txBody>
          <a:bodyPr wrap="square" lIns="0" tIns="0" rIns="0" bIns="0" rtlCol="0" anchor="ctr"/>
          <a:lstStyle/>
          <a:p>
            <a:pPr indent="0" marL="0">
              <a:buNone/>
            </a:pPr>
            <a:r>
              <a:rPr lang="en-US" sz="1450" b="1" dirty="0">
                <a:solidFill>
                  <a:srgbClr val="121212"/>
                </a:solidFill>
                <a:latin typeface="Arial" pitchFamily="34" charset="0"/>
                <a:ea typeface="Arial" pitchFamily="34" charset="-122"/>
                <a:cs typeface="Arial" pitchFamily="34" charset="-120"/>
              </a:rPr>
              <a:t>What we're working through</a:t>
            </a:r>
            <a:endParaRPr lang="en-US" sz="1450" dirty="0"/>
          </a:p>
        </p:txBody>
      </p:sp>
      <p:sp>
        <p:nvSpPr>
          <p:cNvPr id="24" name="Text 22"/>
          <p:cNvSpPr/>
          <p:nvPr/>
        </p:nvSpPr>
        <p:spPr>
          <a:xfrm>
            <a:off x="868680" y="4526280"/>
            <a:ext cx="10451592"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04040"/>
                </a:solidFill>
                <a:latin typeface="Arial" pitchFamily="34" charset="0"/>
                <a:ea typeface="Arial" pitchFamily="34" charset="-122"/>
                <a:cs typeface="Arial" pitchFamily="34" charset="-120"/>
              </a:rPr>
              <a:t>Technical requirements discussions have started with the right stakeholders</a:t>
            </a:r>
            <a:endParaRPr lang="en-US" sz="1300" dirty="0"/>
          </a:p>
          <a:p>
            <a:pPr marL="342900" indent="-342900">
              <a:spcAft>
                <a:spcPts val="600"/>
              </a:spcAft>
              <a:buSzPct val="100000"/>
              <a:buChar char="•"/>
            </a:pPr>
            <a:r>
              <a:rPr lang="en-US" sz="1300" dirty="0">
                <a:solidFill>
                  <a:srgbClr val="404040"/>
                </a:solidFill>
                <a:latin typeface="Arial" pitchFamily="34" charset="0"/>
                <a:ea typeface="Arial" pitchFamily="34" charset="-122"/>
                <a:cs typeface="Arial" pitchFamily="34" charset="-120"/>
              </a:rPr>
              <a:t>Those decisions drive the build approach, and the dates that come with it</a:t>
            </a:r>
            <a:endParaRPr lang="en-US" sz="1300" dirty="0"/>
          </a:p>
          <a:p>
            <a:pPr marL="342900" indent="-342900">
              <a:buSzPct val="100000"/>
              <a:buChar char="•"/>
            </a:pPr>
            <a:r>
              <a:rPr lang="en-US" sz="1300" dirty="0">
                <a:solidFill>
                  <a:srgbClr val="404040"/>
                </a:solidFill>
                <a:latin typeface="Arial" pitchFamily="34" charset="0"/>
                <a:ea typeface="Arial" pitchFamily="34" charset="-122"/>
                <a:cs typeface="Arial" pitchFamily="34" charset="-120"/>
              </a:rPr>
              <a:t>A concrete timeline comes back to this group once requirements are settled</a:t>
            </a:r>
            <a:endParaRPr lang="en-US" sz="1300" dirty="0"/>
          </a:p>
        </p:txBody>
      </p:sp>
      <p:sp>
        <p:nvSpPr>
          <p:cNvPr id="25" name="Text 23"/>
          <p:cNvSpPr/>
          <p:nvPr/>
        </p:nvSpPr>
        <p:spPr>
          <a:xfrm>
            <a:off x="548640" y="5943600"/>
            <a:ext cx="11091672" cy="320040"/>
          </a:xfrm>
          <a:prstGeom prst="rect">
            <a:avLst/>
          </a:prstGeom>
          <a:noFill/>
          <a:ln/>
        </p:spPr>
        <p:txBody>
          <a:bodyPr wrap="square" lIns="0" tIns="0" rIns="0" bIns="0" rtlCol="0" anchor="ctr"/>
          <a:lstStyle/>
          <a:p>
            <a:pPr algn="ctr" indent="0" marL="0">
              <a:buNone/>
            </a:pPr>
            <a:r>
              <a:rPr lang="en-US" sz="1250" i="1" dirty="0">
                <a:solidFill>
                  <a:srgbClr val="706E67"/>
                </a:solidFill>
                <a:latin typeface="Arial" pitchFamily="34" charset="0"/>
                <a:ea typeface="Arial" pitchFamily="34" charset="-122"/>
                <a:cs typeface="Arial" pitchFamily="34" charset="-120"/>
              </a:rPr>
              <a:t>No new dates today; better a timeline that holds than one that moves.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706E67"/>
                </a:solidFill>
                <a:latin typeface="Arial" pitchFamily="34" charset="0"/>
                <a:ea typeface="Arial" pitchFamily="34" charset="-122"/>
                <a:cs typeface="Arial" pitchFamily="34" charset="-120"/>
              </a:rPr>
              <a:t>SENTINEL</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Where it's heading</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From requirements and architecture definition into governance approval and implementation planning</a:t>
            </a:r>
            <a:endParaRPr lang="en-US" sz="1500" dirty="0"/>
          </a:p>
        </p:txBody>
      </p:sp>
      <p:sp>
        <p:nvSpPr>
          <p:cNvPr id="5" name="Shape 3"/>
          <p:cNvSpPr/>
          <p:nvPr/>
        </p:nvSpPr>
        <p:spPr>
          <a:xfrm>
            <a:off x="548640" y="1554480"/>
            <a:ext cx="5349240" cy="4069080"/>
          </a:xfrm>
          <a:prstGeom prst="roundRect">
            <a:avLst>
              <a:gd name="adj" fmla="val 2247"/>
            </a:avLst>
          </a:prstGeom>
          <a:solidFill>
            <a:srgbClr val="F7F6F3"/>
          </a:solidFill>
          <a:ln/>
        </p:spPr>
      </p:sp>
      <p:sp>
        <p:nvSpPr>
          <p:cNvPr id="6" name="Text 4"/>
          <p:cNvSpPr/>
          <p:nvPr/>
        </p:nvSpPr>
        <p:spPr>
          <a:xfrm>
            <a:off x="822960" y="1773936"/>
            <a:ext cx="4800600" cy="219456"/>
          </a:xfrm>
          <a:prstGeom prst="rect">
            <a:avLst/>
          </a:prstGeom>
          <a:noFill/>
          <a:ln/>
        </p:spPr>
        <p:txBody>
          <a:bodyPr wrap="square" lIns="0" tIns="0" rIns="0" bIns="0" rtlCol="0" anchor="ctr"/>
          <a:lstStyle/>
          <a:p>
            <a:pPr indent="0" marL="0">
              <a:buNone/>
            </a:pPr>
            <a:r>
              <a:rPr lang="en-US" sz="1050" b="1" spc="200" kern="0" dirty="0">
                <a:solidFill>
                  <a:srgbClr val="706E67"/>
                </a:solidFill>
                <a:latin typeface="Arial" pitchFamily="34" charset="0"/>
                <a:ea typeface="Arial" pitchFamily="34" charset="-122"/>
                <a:cs typeface="Arial" pitchFamily="34" charset="-120"/>
              </a:rPr>
              <a:t>TARGET MODEL</a:t>
            </a:r>
            <a:endParaRPr lang="en-US" sz="1050" dirty="0"/>
          </a:p>
        </p:txBody>
      </p:sp>
      <p:sp>
        <p:nvSpPr>
          <p:cNvPr id="7" name="Text 5"/>
          <p:cNvSpPr/>
          <p:nvPr/>
        </p:nvSpPr>
        <p:spPr>
          <a:xfrm>
            <a:off x="822960" y="2011680"/>
            <a:ext cx="4800600" cy="320040"/>
          </a:xfrm>
          <a:prstGeom prst="rect">
            <a:avLst/>
          </a:prstGeom>
          <a:noFill/>
          <a:ln/>
        </p:spPr>
        <p:txBody>
          <a:bodyPr wrap="square" lIns="0" tIns="0" rIns="0" bIns="0" rtlCol="0" anchor="t"/>
          <a:lstStyle/>
          <a:p>
            <a:pPr indent="0" marL="0">
              <a:buNone/>
            </a:pPr>
            <a:r>
              <a:rPr lang="en-US" sz="1500" b="1" dirty="0">
                <a:solidFill>
                  <a:srgbClr val="121212"/>
                </a:solidFill>
                <a:latin typeface="Arial" pitchFamily="34" charset="0"/>
                <a:ea typeface="Arial" pitchFamily="34" charset="-122"/>
                <a:cs typeface="Arial" pitchFamily="34" charset="-120"/>
              </a:rPr>
              <a:t>A shared platform, applications on top</a:t>
            </a:r>
            <a:endParaRPr lang="en-US" sz="1500" dirty="0"/>
          </a:p>
        </p:txBody>
      </p:sp>
      <p:sp>
        <p:nvSpPr>
          <p:cNvPr id="8" name="Text 6"/>
          <p:cNvSpPr/>
          <p:nvPr/>
        </p:nvSpPr>
        <p:spPr>
          <a:xfrm>
            <a:off x="822960" y="2450592"/>
            <a:ext cx="4800600" cy="3063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04040"/>
                </a:solidFill>
                <a:latin typeface="Arial" pitchFamily="34" charset="0"/>
                <a:ea typeface="Arial" pitchFamily="34" charset="-122"/>
                <a:cs typeface="Arial" pitchFamily="34" charset="-120"/>
              </a:rPr>
              <a:t>One platform provides the reusable capabilities: document ingestion and extraction, evidence citations, retrieval, knowledge bases, monitoring, security, and audit controls</a:t>
            </a:r>
            <a:endParaRPr lang="en-US" sz="1100" dirty="0"/>
          </a:p>
          <a:p>
            <a:pPr marL="342900" indent="-342900">
              <a:spcAft>
                <a:spcPts val="600"/>
              </a:spcAft>
              <a:buSzPct val="100000"/>
              <a:buChar char="•"/>
            </a:pPr>
            <a:r>
              <a:rPr lang="en-US" sz="1100" dirty="0">
                <a:solidFill>
                  <a:srgbClr val="404040"/>
                </a:solidFill>
                <a:latin typeface="Arial" pitchFamily="34" charset="0"/>
                <a:ea typeface="Arial" pitchFamily="34" charset="-122"/>
                <a:cs typeface="Arial" pitchFamily="34" charset="-120"/>
              </a:rPr>
              <a:t>Group-owned applications are built on top of those shared services</a:t>
            </a:r>
            <a:endParaRPr lang="en-US" sz="1100" dirty="0"/>
          </a:p>
          <a:p>
            <a:pPr marL="342900" indent="-342900">
              <a:spcAft>
                <a:spcPts val="600"/>
              </a:spcAft>
              <a:buSzPct val="100000"/>
              <a:buChar char="•"/>
            </a:pPr>
            <a:r>
              <a:rPr lang="en-US" sz="1100" dirty="0">
                <a:solidFill>
                  <a:srgbClr val="404040"/>
                </a:solidFill>
                <a:latin typeface="Arial" pitchFamily="34" charset="0"/>
                <a:ea typeface="Arial" pitchFamily="34" charset="-122"/>
                <a:cs typeface="Arial" pitchFamily="34" charset="-120"/>
              </a:rPr>
              <a:t>CRR is the first application: evidence-cited workpaper assembly and an advocate/challenge assessment process with human adjudication</a:t>
            </a:r>
            <a:endParaRPr lang="en-US" sz="1100" dirty="0"/>
          </a:p>
          <a:p>
            <a:pPr marL="342900" indent="-342900">
              <a:spcAft>
                <a:spcPts val="600"/>
              </a:spcAft>
              <a:buSzPct val="100000"/>
              <a:buChar char="•"/>
            </a:pPr>
            <a:r>
              <a:rPr lang="en-US" sz="1100" dirty="0">
                <a:solidFill>
                  <a:srgbClr val="404040"/>
                </a:solidFill>
                <a:latin typeface="Arial" pitchFamily="34" charset="0"/>
                <a:ea typeface="Arial" pitchFamily="34" charset="-122"/>
                <a:cs typeface="Arial" pitchFamily="34" charset="-120"/>
              </a:rPr>
              <a:t>Commercial Lending/ERM and P&amp;C are planned as additional use cases</a:t>
            </a:r>
            <a:endParaRPr lang="en-US" sz="1100" dirty="0"/>
          </a:p>
        </p:txBody>
      </p:sp>
      <p:sp>
        <p:nvSpPr>
          <p:cNvPr id="9" name="Shape 7"/>
          <p:cNvSpPr/>
          <p:nvPr/>
        </p:nvSpPr>
        <p:spPr>
          <a:xfrm>
            <a:off x="6291072" y="1554480"/>
            <a:ext cx="5349240" cy="2240280"/>
          </a:xfrm>
          <a:prstGeom prst="roundRect">
            <a:avLst>
              <a:gd name="adj" fmla="val 4082"/>
            </a:avLst>
          </a:prstGeom>
          <a:solidFill>
            <a:srgbClr val="F3F2EF"/>
          </a:solidFill>
          <a:ln/>
        </p:spPr>
      </p:sp>
      <p:sp>
        <p:nvSpPr>
          <p:cNvPr id="10" name="Text 8"/>
          <p:cNvSpPr/>
          <p:nvPr/>
        </p:nvSpPr>
        <p:spPr>
          <a:xfrm>
            <a:off x="6565392" y="1773936"/>
            <a:ext cx="4800600" cy="219456"/>
          </a:xfrm>
          <a:prstGeom prst="rect">
            <a:avLst/>
          </a:prstGeom>
          <a:noFill/>
          <a:ln/>
        </p:spPr>
        <p:txBody>
          <a:bodyPr wrap="square" lIns="0" tIns="0" rIns="0" bIns="0" rtlCol="0" anchor="ctr"/>
          <a:lstStyle/>
          <a:p>
            <a:pPr indent="0" marL="0">
              <a:buNone/>
            </a:pPr>
            <a:r>
              <a:rPr lang="en-US" sz="1050" b="1" spc="200" kern="0" dirty="0">
                <a:solidFill>
                  <a:srgbClr val="706E67"/>
                </a:solidFill>
                <a:latin typeface="Arial" pitchFamily="34" charset="0"/>
                <a:ea typeface="Arial" pitchFamily="34" charset="-122"/>
                <a:cs typeface="Arial" pitchFamily="34" charset="-120"/>
              </a:rPr>
              <a:t>PROGRESS</a:t>
            </a:r>
            <a:endParaRPr lang="en-US" sz="1050" dirty="0"/>
          </a:p>
        </p:txBody>
      </p:sp>
      <p:sp>
        <p:nvSpPr>
          <p:cNvPr id="11" name="Text 9"/>
          <p:cNvSpPr/>
          <p:nvPr/>
        </p:nvSpPr>
        <p:spPr>
          <a:xfrm>
            <a:off x="6565392" y="2048256"/>
            <a:ext cx="4800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Stakeholder reviews of the business requirements largely complete; remaining comments and scope clarifications being incorporated</a:t>
            </a:r>
            <a:endParaRPr lang="en-US" sz="1050" dirty="0"/>
          </a:p>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CRR analyst journey handed to IT to translate requirements into release and sprint planning</a:t>
            </a:r>
            <a:endParaRPr lang="en-US" sz="1050" dirty="0"/>
          </a:p>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Design workshops under way: central document storage and intelligence, upstream connectivity, solution tuning, and the split between shared platform services and app-specific functionality</a:t>
            </a:r>
            <a:endParaRPr lang="en-US" sz="1050" dirty="0"/>
          </a:p>
        </p:txBody>
      </p:sp>
      <p:sp>
        <p:nvSpPr>
          <p:cNvPr id="12" name="Shape 10"/>
          <p:cNvSpPr/>
          <p:nvPr/>
        </p:nvSpPr>
        <p:spPr>
          <a:xfrm>
            <a:off x="6291072" y="3913632"/>
            <a:ext cx="5349240" cy="1709928"/>
          </a:xfrm>
          <a:prstGeom prst="roundRect">
            <a:avLst>
              <a:gd name="adj" fmla="val 5348"/>
            </a:avLst>
          </a:prstGeom>
          <a:solidFill>
            <a:srgbClr val="F3F2EF"/>
          </a:solidFill>
          <a:ln/>
        </p:spPr>
      </p:sp>
      <p:sp>
        <p:nvSpPr>
          <p:cNvPr id="13" name="Text 11"/>
          <p:cNvSpPr/>
          <p:nvPr/>
        </p:nvSpPr>
        <p:spPr>
          <a:xfrm>
            <a:off x="6565392" y="4114800"/>
            <a:ext cx="4800600" cy="219456"/>
          </a:xfrm>
          <a:prstGeom prst="rect">
            <a:avLst/>
          </a:prstGeom>
          <a:noFill/>
          <a:ln/>
        </p:spPr>
        <p:txBody>
          <a:bodyPr wrap="square" lIns="0" tIns="0" rIns="0" bIns="0" rtlCol="0" anchor="ctr"/>
          <a:lstStyle/>
          <a:p>
            <a:pPr indent="0" marL="0">
              <a:buNone/>
            </a:pPr>
            <a:r>
              <a:rPr lang="en-US" sz="1050" b="1" spc="200" kern="0" dirty="0">
                <a:solidFill>
                  <a:srgbClr val="706E67"/>
                </a:solidFill>
                <a:latin typeface="Arial" pitchFamily="34" charset="0"/>
                <a:ea typeface="Arial" pitchFamily="34" charset="-122"/>
                <a:cs typeface="Arial" pitchFamily="34" charset="-120"/>
              </a:rPr>
              <a:t>NEXT</a:t>
            </a:r>
            <a:endParaRPr lang="en-US" sz="1050" dirty="0"/>
          </a:p>
        </p:txBody>
      </p:sp>
      <p:sp>
        <p:nvSpPr>
          <p:cNvPr id="14" name="Text 12"/>
          <p:cNvSpPr/>
          <p:nvPr/>
        </p:nvSpPr>
        <p:spPr>
          <a:xfrm>
            <a:off x="6565392" y="4389120"/>
            <a:ext cx="4800600" cy="11887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Finalize requirements and MVP scope; complete AI governance and related approvals</a:t>
            </a:r>
            <a:endParaRPr lang="en-US" sz="1050" dirty="0"/>
          </a:p>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Resolve technology and architecture choices; produce the high-level IT roadmap and estimates</a:t>
            </a:r>
            <a:endParaRPr lang="en-US" sz="1050" dirty="0"/>
          </a:p>
          <a:p>
            <a:pPr marL="342900" indent="-342900">
              <a:spcAft>
                <a:spcPts val="600"/>
              </a:spcAft>
              <a:buSzPct val="100000"/>
              <a:buChar char="•"/>
            </a:pPr>
            <a:r>
              <a:rPr lang="en-US" sz="1050" dirty="0">
                <a:solidFill>
                  <a:srgbClr val="404040"/>
                </a:solidFill>
                <a:latin typeface="Arial" pitchFamily="34" charset="0"/>
                <a:ea typeface="Arial" pitchFamily="34" charset="-122"/>
                <a:cs typeface="Arial" pitchFamily="34" charset="-120"/>
              </a:rPr>
              <a:t>Plan the build, testing, rollout, and adoption</a:t>
            </a:r>
            <a:endParaRPr lang="en-US" sz="1050" dirty="0"/>
          </a:p>
        </p:txBody>
      </p:sp>
      <p:sp>
        <p:nvSpPr>
          <p:cNvPr id="15" name="Shape 13"/>
          <p:cNvSpPr/>
          <p:nvPr/>
        </p:nvSpPr>
        <p:spPr>
          <a:xfrm>
            <a:off x="548640" y="5779008"/>
            <a:ext cx="11091672" cy="566928"/>
          </a:xfrm>
          <a:prstGeom prst="roundRect">
            <a:avLst>
              <a:gd name="adj" fmla="val 12903"/>
            </a:avLst>
          </a:prstGeom>
          <a:solidFill>
            <a:srgbClr val="F3F2EF"/>
          </a:solidFill>
          <a:ln/>
        </p:spPr>
      </p:sp>
      <p:sp>
        <p:nvSpPr>
          <p:cNvPr id="16" name="Text 14"/>
          <p:cNvSpPr/>
          <p:nvPr/>
        </p:nvSpPr>
        <p:spPr>
          <a:xfrm>
            <a:off x="822960" y="5779008"/>
            <a:ext cx="10543032" cy="566928"/>
          </a:xfrm>
          <a:prstGeom prst="rect">
            <a:avLst/>
          </a:prstGeom>
          <a:noFill/>
          <a:ln/>
        </p:spPr>
        <p:txBody>
          <a:bodyPr wrap="square" lIns="0" tIns="0" rIns="0" bIns="0" rtlCol="0" anchor="ctr"/>
          <a:lstStyle/>
          <a:p>
            <a:pPr indent="0" marL="0">
              <a:buNone/>
            </a:pPr>
            <a:r>
              <a:rPr lang="en-US" sz="1000" b="1" dirty="0">
                <a:solidFill>
                  <a:srgbClr val="706E67"/>
                </a:solidFill>
                <a:latin typeface="Arial" pitchFamily="34" charset="0"/>
                <a:ea typeface="Arial" pitchFamily="34" charset="-122"/>
                <a:cs typeface="Arial" pitchFamily="34" charset="-120"/>
              </a:rPr>
              <a:t>DELIVERY RISKS   </a:t>
            </a:r>
            <a:pPr indent="0" marL="0">
              <a:buNone/>
            </a:pPr>
            <a:r>
              <a:rPr lang="en-US" sz="1000" dirty="0">
                <a:solidFill>
                  <a:srgbClr val="404040"/>
                </a:solidFill>
                <a:latin typeface="Arial" pitchFamily="34" charset="0"/>
                <a:ea typeface="Arial" pitchFamily="34" charset="-122"/>
                <a:cs typeface="Arial" pitchFamily="34" charset="-120"/>
              </a:rPr>
              <a:t>The outstanding governance cycle; unresolved platform choices; and defining consistent business rules for exposure determinations when source documentation is incomplete or silent and expert judgment varies.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300" kern="0" dirty="0">
                <a:solidFill>
                  <a:srgbClr val="706E67"/>
                </a:solidFill>
                <a:latin typeface="Arial" pitchFamily="34" charset="0"/>
                <a:ea typeface="Arial" pitchFamily="34" charset="-122"/>
                <a:cs typeface="Arial" pitchFamily="34" charset="-120"/>
              </a:rPr>
              <a:t>COULD VS. SHOULD</a:t>
            </a:r>
            <a:endParaRPr lang="en-US" sz="1200" dirty="0"/>
          </a:p>
        </p:txBody>
      </p:sp>
      <p:sp>
        <p:nvSpPr>
          <p:cNvPr id="3" name="Text 1"/>
          <p:cNvSpPr/>
          <p:nvPr/>
        </p:nvSpPr>
        <p:spPr>
          <a:xfrm>
            <a:off x="548640" y="640080"/>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Two traps these tools invite</a:t>
            </a:r>
            <a:endParaRPr lang="en-US" sz="3200" dirty="0"/>
          </a:p>
        </p:txBody>
      </p:sp>
      <p:sp>
        <p:nvSpPr>
          <p:cNvPr id="4" name="Text 2"/>
          <p:cNvSpPr/>
          <p:nvPr/>
        </p:nvSpPr>
        <p:spPr>
          <a:xfrm>
            <a:off x="548640" y="1225296"/>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Easy to fall into, and both undermine the work</a:t>
            </a:r>
            <a:endParaRPr lang="en-US" sz="1500" dirty="0"/>
          </a:p>
        </p:txBody>
      </p:sp>
      <p:sp>
        <p:nvSpPr>
          <p:cNvPr id="5" name="Shape 3"/>
          <p:cNvSpPr/>
          <p:nvPr/>
        </p:nvSpPr>
        <p:spPr>
          <a:xfrm>
            <a:off x="548640" y="1645920"/>
            <a:ext cx="5349240" cy="3429000"/>
          </a:xfrm>
          <a:prstGeom prst="roundRect">
            <a:avLst>
              <a:gd name="adj" fmla="val 2667"/>
            </a:avLst>
          </a:prstGeom>
          <a:solidFill>
            <a:srgbClr val="F7F6F3"/>
          </a:solidFill>
          <a:ln/>
        </p:spPr>
      </p:sp>
      <p:sp>
        <p:nvSpPr>
          <p:cNvPr id="6" name="Shape 4"/>
          <p:cNvSpPr/>
          <p:nvPr/>
        </p:nvSpPr>
        <p:spPr>
          <a:xfrm>
            <a:off x="868680" y="1938528"/>
            <a:ext cx="530352" cy="530352"/>
          </a:xfrm>
          <a:prstGeom prst="ellipse">
            <a:avLst/>
          </a:prstGeom>
          <a:solidFill>
            <a:srgbClr val="CCCABC"/>
          </a:solidFill>
          <a:ln/>
        </p:spPr>
      </p:sp>
      <p:pic>
        <p:nvPicPr>
          <p:cNvPr id="7" name="Image 0" descr="preencoded.png">    </p:cNvPr>
          <p:cNvPicPr>
            <a:picLocks noChangeAspect="1"/>
          </p:cNvPicPr>
          <p:nvPr/>
        </p:nvPicPr>
        <p:blipFill>
          <a:blip r:embed="rId1"/>
          <a:stretch>
            <a:fillRect/>
          </a:stretch>
        </p:blipFill>
        <p:spPr>
          <a:xfrm>
            <a:off x="1006572" y="2076420"/>
            <a:ext cx="254569" cy="254569"/>
          </a:xfrm>
          <a:prstGeom prst="rect">
            <a:avLst/>
          </a:prstGeom>
        </p:spPr>
      </p:pic>
      <p:sp>
        <p:nvSpPr>
          <p:cNvPr id="8" name="Shape 5"/>
          <p:cNvSpPr/>
          <p:nvPr/>
        </p:nvSpPr>
        <p:spPr>
          <a:xfrm>
            <a:off x="3429000" y="2029968"/>
            <a:ext cx="2148840" cy="347472"/>
          </a:xfrm>
          <a:prstGeom prst="roundRect">
            <a:avLst>
              <a:gd name="adj" fmla="val 50000"/>
            </a:avLst>
          </a:prstGeom>
          <a:solidFill>
            <a:srgbClr val="CCCABC"/>
          </a:solidFill>
          <a:ln/>
        </p:spPr>
      </p:sp>
      <p:sp>
        <p:nvSpPr>
          <p:cNvPr id="9" name="Text 6"/>
          <p:cNvSpPr/>
          <p:nvPr/>
        </p:nvSpPr>
        <p:spPr>
          <a:xfrm>
            <a:off x="3429000" y="2029968"/>
            <a:ext cx="2148840" cy="347472"/>
          </a:xfrm>
          <a:prstGeom prst="rect">
            <a:avLst/>
          </a:prstGeom>
          <a:noFill/>
          <a:ln/>
        </p:spPr>
        <p:txBody>
          <a:bodyPr wrap="square" lIns="0" tIns="0" rIns="0" bIns="0" rtlCol="0" anchor="ctr"/>
          <a:lstStyle/>
          <a:p>
            <a:pPr algn="ctr" indent="0" marL="0">
              <a:buNone/>
            </a:pPr>
            <a:r>
              <a:rPr lang="en-US" sz="950" b="1" spc="150" kern="0" dirty="0">
                <a:solidFill>
                  <a:srgbClr val="121212"/>
                </a:solidFill>
                <a:latin typeface="Arial" pitchFamily="34" charset="0"/>
                <a:ea typeface="Arial" pitchFamily="34" charset="-122"/>
                <a:cs typeface="Arial" pitchFamily="34" charset="-120"/>
              </a:rPr>
              <a:t>THE INPUT TRAP</a:t>
            </a:r>
            <a:endParaRPr lang="en-US" sz="950" dirty="0"/>
          </a:p>
        </p:txBody>
      </p:sp>
      <p:sp>
        <p:nvSpPr>
          <p:cNvPr id="10" name="Text 7"/>
          <p:cNvSpPr/>
          <p:nvPr/>
        </p:nvSpPr>
        <p:spPr>
          <a:xfrm>
            <a:off x="868680" y="2651760"/>
            <a:ext cx="4709160" cy="502920"/>
          </a:xfrm>
          <a:prstGeom prst="rect">
            <a:avLst/>
          </a:prstGeom>
          <a:noFill/>
          <a:ln/>
        </p:spPr>
        <p:txBody>
          <a:bodyPr wrap="square" lIns="0" tIns="0" rIns="0" bIns="0" rtlCol="0" anchor="t"/>
          <a:lstStyle/>
          <a:p>
            <a:pPr indent="0" marL="0">
              <a:buNone/>
            </a:pPr>
            <a:r>
              <a:rPr lang="en-US" sz="2000" b="1" dirty="0">
                <a:solidFill>
                  <a:srgbClr val="121212"/>
                </a:solidFill>
                <a:latin typeface="Arial" pitchFamily="34" charset="0"/>
                <a:ea typeface="Arial" pitchFamily="34" charset="-122"/>
                <a:cs typeface="Arial" pitchFamily="34" charset="-120"/>
              </a:rPr>
              <a:t>Dumping everything in</a:t>
            </a:r>
            <a:endParaRPr lang="en-US" sz="2000" dirty="0"/>
          </a:p>
        </p:txBody>
      </p:sp>
      <p:sp>
        <p:nvSpPr>
          <p:cNvPr id="11" name="Text 8"/>
          <p:cNvSpPr/>
          <p:nvPr/>
        </p:nvSpPr>
        <p:spPr>
          <a:xfrm>
            <a:off x="868680" y="3218688"/>
            <a:ext cx="4709160" cy="18288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It's tempting to pour endless context and instructions into the tool and expect a clean answer back. Overloaded asks breed errors and contradictions, and the output comes back polished enough to hide them.</a:t>
            </a:r>
            <a:endParaRPr lang="en-US" sz="1250" dirty="0"/>
          </a:p>
        </p:txBody>
      </p:sp>
      <p:sp>
        <p:nvSpPr>
          <p:cNvPr id="12" name="Shape 9"/>
          <p:cNvSpPr/>
          <p:nvPr/>
        </p:nvSpPr>
        <p:spPr>
          <a:xfrm>
            <a:off x="6291072" y="1645920"/>
            <a:ext cx="5349240" cy="3429000"/>
          </a:xfrm>
          <a:prstGeom prst="roundRect">
            <a:avLst>
              <a:gd name="adj" fmla="val 2667"/>
            </a:avLst>
          </a:prstGeom>
          <a:solidFill>
            <a:srgbClr val="F7F6F3"/>
          </a:solidFill>
          <a:ln/>
        </p:spPr>
      </p:sp>
      <p:sp>
        <p:nvSpPr>
          <p:cNvPr id="13" name="Shape 10"/>
          <p:cNvSpPr/>
          <p:nvPr/>
        </p:nvSpPr>
        <p:spPr>
          <a:xfrm>
            <a:off x="6611112" y="1938528"/>
            <a:ext cx="530352" cy="530352"/>
          </a:xfrm>
          <a:prstGeom prst="ellipse">
            <a:avLst/>
          </a:prstGeom>
          <a:solidFill>
            <a:srgbClr val="CCCABC"/>
          </a:solidFill>
          <a:ln/>
        </p:spPr>
      </p:sp>
      <p:pic>
        <p:nvPicPr>
          <p:cNvPr id="14" name="Image 1" descr="preencoded.png">    </p:cNvPr>
          <p:cNvPicPr>
            <a:picLocks noChangeAspect="1"/>
          </p:cNvPicPr>
          <p:nvPr/>
        </p:nvPicPr>
        <p:blipFill>
          <a:blip r:embed="rId2"/>
          <a:stretch>
            <a:fillRect/>
          </a:stretch>
        </p:blipFill>
        <p:spPr>
          <a:xfrm>
            <a:off x="6749004" y="2076420"/>
            <a:ext cx="254569" cy="254569"/>
          </a:xfrm>
          <a:prstGeom prst="rect">
            <a:avLst/>
          </a:prstGeom>
        </p:spPr>
      </p:pic>
      <p:sp>
        <p:nvSpPr>
          <p:cNvPr id="15" name="Shape 11"/>
          <p:cNvSpPr/>
          <p:nvPr/>
        </p:nvSpPr>
        <p:spPr>
          <a:xfrm>
            <a:off x="9171432" y="2029968"/>
            <a:ext cx="2148840" cy="347472"/>
          </a:xfrm>
          <a:prstGeom prst="roundRect">
            <a:avLst>
              <a:gd name="adj" fmla="val 50000"/>
            </a:avLst>
          </a:prstGeom>
          <a:solidFill>
            <a:srgbClr val="CCCABC"/>
          </a:solidFill>
          <a:ln/>
        </p:spPr>
      </p:sp>
      <p:sp>
        <p:nvSpPr>
          <p:cNvPr id="16" name="Text 12"/>
          <p:cNvSpPr/>
          <p:nvPr/>
        </p:nvSpPr>
        <p:spPr>
          <a:xfrm>
            <a:off x="9171432" y="2029968"/>
            <a:ext cx="2148840" cy="347472"/>
          </a:xfrm>
          <a:prstGeom prst="rect">
            <a:avLst/>
          </a:prstGeom>
          <a:noFill/>
          <a:ln/>
        </p:spPr>
        <p:txBody>
          <a:bodyPr wrap="square" lIns="0" tIns="0" rIns="0" bIns="0" rtlCol="0" anchor="ctr"/>
          <a:lstStyle/>
          <a:p>
            <a:pPr algn="ctr" indent="0" marL="0">
              <a:buNone/>
            </a:pPr>
            <a:r>
              <a:rPr lang="en-US" sz="950" b="1" spc="150" kern="0" dirty="0">
                <a:solidFill>
                  <a:srgbClr val="121212"/>
                </a:solidFill>
                <a:latin typeface="Arial" pitchFamily="34" charset="0"/>
                <a:ea typeface="Arial" pitchFamily="34" charset="-122"/>
                <a:cs typeface="Arial" pitchFamily="34" charset="-120"/>
              </a:rPr>
              <a:t>THE OUTPUT TRAP</a:t>
            </a:r>
            <a:endParaRPr lang="en-US" sz="950" dirty="0"/>
          </a:p>
        </p:txBody>
      </p:sp>
      <p:sp>
        <p:nvSpPr>
          <p:cNvPr id="17" name="Text 13"/>
          <p:cNvSpPr/>
          <p:nvPr/>
        </p:nvSpPr>
        <p:spPr>
          <a:xfrm>
            <a:off x="6611112" y="2651760"/>
            <a:ext cx="4709160" cy="502920"/>
          </a:xfrm>
          <a:prstGeom prst="rect">
            <a:avLst/>
          </a:prstGeom>
          <a:noFill/>
          <a:ln/>
        </p:spPr>
        <p:txBody>
          <a:bodyPr wrap="square" lIns="0" tIns="0" rIns="0" bIns="0" rtlCol="0" anchor="t"/>
          <a:lstStyle/>
          <a:p>
            <a:pPr indent="0" marL="0">
              <a:buNone/>
            </a:pPr>
            <a:r>
              <a:rPr lang="en-US" sz="2000" b="1" dirty="0">
                <a:solidFill>
                  <a:srgbClr val="121212"/>
                </a:solidFill>
                <a:latin typeface="Arial" pitchFamily="34" charset="0"/>
                <a:ea typeface="Arial" pitchFamily="34" charset="-122"/>
                <a:cs typeface="Arial" pitchFamily="34" charset="-120"/>
              </a:rPr>
              <a:t>Taking output as finished</a:t>
            </a:r>
            <a:endParaRPr lang="en-US" sz="2000" dirty="0"/>
          </a:p>
        </p:txBody>
      </p:sp>
      <p:sp>
        <p:nvSpPr>
          <p:cNvPr id="18" name="Text 14"/>
          <p:cNvSpPr/>
          <p:nvPr/>
        </p:nvSpPr>
        <p:spPr>
          <a:xfrm>
            <a:off x="6611112" y="3218688"/>
            <a:ext cx="4709160" cy="1828800"/>
          </a:xfrm>
          <a:prstGeom prst="rect">
            <a:avLst/>
          </a:prstGeom>
          <a:noFill/>
          <a:ln/>
        </p:spPr>
        <p:txBody>
          <a:bodyPr wrap="square" lIns="0" tIns="0" rIns="0" bIns="0" rtlCol="0" anchor="t"/>
          <a:lstStyle/>
          <a:p>
            <a:pPr indent="0" marL="0">
              <a:buNone/>
            </a:pPr>
            <a:r>
              <a:rPr lang="en-US" sz="1250" dirty="0">
                <a:solidFill>
                  <a:srgbClr val="404040"/>
                </a:solidFill>
                <a:latin typeface="Arial" pitchFamily="34" charset="0"/>
                <a:ea typeface="Arial" pitchFamily="34" charset="-122"/>
                <a:cs typeface="Arial" pitchFamily="34" charset="-120"/>
              </a:rPr>
              <a:t>AI output cannot be relied on as written. It's a draft: unverified, unowned, in nobody's voice. The moment it moves forward untouched, its errors become your errors.</a:t>
            </a:r>
            <a:endParaRPr lang="en-US" sz="1250" dirty="0"/>
          </a:p>
        </p:txBody>
      </p:sp>
      <p:sp>
        <p:nvSpPr>
          <p:cNvPr id="19" name="Shape 15"/>
          <p:cNvSpPr/>
          <p:nvPr/>
        </p:nvSpPr>
        <p:spPr>
          <a:xfrm>
            <a:off x="548640" y="5257800"/>
            <a:ext cx="11091672" cy="868680"/>
          </a:xfrm>
          <a:prstGeom prst="roundRect">
            <a:avLst>
              <a:gd name="adj" fmla="val 10526"/>
            </a:avLst>
          </a:prstGeom>
          <a:solidFill>
            <a:srgbClr val="F3F2EF"/>
          </a:solidFill>
          <a:ln/>
        </p:spPr>
      </p:sp>
      <p:sp>
        <p:nvSpPr>
          <p:cNvPr id="20" name="Text 16"/>
          <p:cNvSpPr/>
          <p:nvPr/>
        </p:nvSpPr>
        <p:spPr>
          <a:xfrm>
            <a:off x="868680" y="5257800"/>
            <a:ext cx="10451592" cy="868680"/>
          </a:xfrm>
          <a:prstGeom prst="rect">
            <a:avLst/>
          </a:prstGeom>
          <a:noFill/>
          <a:ln/>
        </p:spPr>
        <p:txBody>
          <a:bodyPr wrap="square" lIns="0" tIns="0" rIns="0" bIns="0" rtlCol="0" anchor="ctr"/>
          <a:lstStyle/>
          <a:p>
            <a:pPr algn="ctr" indent="0" marL="0">
              <a:buNone/>
            </a:pPr>
            <a:r>
              <a:rPr lang="en-US" sz="1450" b="1" dirty="0">
                <a:solidFill>
                  <a:srgbClr val="121212"/>
                </a:solidFill>
                <a:latin typeface="Arial" pitchFamily="34" charset="0"/>
                <a:ea typeface="Arial" pitchFamily="34" charset="-122"/>
                <a:cs typeface="Arial" pitchFamily="34" charset="-120"/>
              </a:rPr>
              <a:t>AI is meant to enhance your work, not be a crutch. The work, and the responsibility for it, stay yours.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The root: what AI is and isn't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Both traps come from treating AI like a colleague who “gets it”</a:t>
            </a:r>
            <a:endParaRPr lang="en-US" sz="1500" dirty="0"/>
          </a:p>
        </p:txBody>
      </p:sp>
      <p:sp>
        <p:nvSpPr>
          <p:cNvPr id="4" name="Shape 2"/>
          <p:cNvSpPr/>
          <p:nvPr/>
        </p:nvSpPr>
        <p:spPr>
          <a:xfrm>
            <a:off x="548640" y="1508760"/>
            <a:ext cx="5349240" cy="3566160"/>
          </a:xfrm>
          <a:prstGeom prst="roundRect">
            <a:avLst>
              <a:gd name="adj" fmla="val 2564"/>
            </a:avLst>
          </a:prstGeom>
          <a:solidFill>
            <a:srgbClr val="F7F6F3"/>
          </a:solidFill>
          <a:ln/>
        </p:spPr>
      </p:sp>
      <p:sp>
        <p:nvSpPr>
          <p:cNvPr id="5" name="Text 3"/>
          <p:cNvSpPr/>
          <p:nvPr/>
        </p:nvSpPr>
        <p:spPr>
          <a:xfrm>
            <a:off x="868680" y="1737360"/>
            <a:ext cx="4709160" cy="365760"/>
          </a:xfrm>
          <a:prstGeom prst="rect">
            <a:avLst/>
          </a:prstGeom>
          <a:noFill/>
          <a:ln/>
        </p:spPr>
        <p:txBody>
          <a:bodyPr wrap="square" lIns="0" tIns="0" rIns="0" bIns="0" rtlCol="0" anchor="ctr"/>
          <a:lstStyle/>
          <a:p>
            <a:pPr indent="0" marL="0">
              <a:buNone/>
            </a:pPr>
            <a:r>
              <a:rPr lang="en-US" sz="1700" b="1" dirty="0">
                <a:solidFill>
                  <a:srgbClr val="121212"/>
                </a:solidFill>
                <a:latin typeface="Arial" pitchFamily="34" charset="0"/>
                <a:ea typeface="Arial" pitchFamily="34" charset="-122"/>
                <a:cs typeface="Arial" pitchFamily="34" charset="-120"/>
              </a:rPr>
              <a:t>It is</a:t>
            </a:r>
            <a:endParaRPr lang="en-US" sz="1700" dirty="0"/>
          </a:p>
        </p:txBody>
      </p:sp>
      <p:sp>
        <p:nvSpPr>
          <p:cNvPr id="6" name="Shape 4"/>
          <p:cNvSpPr/>
          <p:nvPr/>
        </p:nvSpPr>
        <p:spPr>
          <a:xfrm>
            <a:off x="868680" y="2286000"/>
            <a:ext cx="310896" cy="310896"/>
          </a:xfrm>
          <a:prstGeom prst="ellipse">
            <a:avLst/>
          </a:prstGeom>
          <a:solidFill>
            <a:srgbClr val="CCCABC"/>
          </a:solidFill>
          <a:ln/>
        </p:spPr>
      </p:sp>
      <p:pic>
        <p:nvPicPr>
          <p:cNvPr id="7" name="Image 0" descr="preencoded.png">    </p:cNvPr>
          <p:cNvPicPr>
            <a:picLocks noChangeAspect="1"/>
          </p:cNvPicPr>
          <p:nvPr/>
        </p:nvPicPr>
        <p:blipFill>
          <a:blip r:embed="rId1"/>
          <a:stretch>
            <a:fillRect/>
          </a:stretch>
        </p:blipFill>
        <p:spPr>
          <a:xfrm>
            <a:off x="949513" y="2366833"/>
            <a:ext cx="149230" cy="149230"/>
          </a:xfrm>
          <a:prstGeom prst="rect">
            <a:avLst/>
          </a:prstGeom>
        </p:spPr>
      </p:pic>
      <p:sp>
        <p:nvSpPr>
          <p:cNvPr id="8" name="Text 5"/>
          <p:cNvSpPr/>
          <p:nvPr/>
        </p:nvSpPr>
        <p:spPr>
          <a:xfrm>
            <a:off x="1325880" y="2231136"/>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A tireless reader and a fast, fluent drafter</a:t>
            </a:r>
            <a:endParaRPr lang="en-US" sz="1300" dirty="0"/>
          </a:p>
        </p:txBody>
      </p:sp>
      <p:sp>
        <p:nvSpPr>
          <p:cNvPr id="9" name="Shape 6"/>
          <p:cNvSpPr/>
          <p:nvPr/>
        </p:nvSpPr>
        <p:spPr>
          <a:xfrm>
            <a:off x="868680" y="3182112"/>
            <a:ext cx="310896" cy="310896"/>
          </a:xfrm>
          <a:prstGeom prst="ellipse">
            <a:avLst/>
          </a:prstGeom>
          <a:solidFill>
            <a:srgbClr val="CCCABC"/>
          </a:solidFill>
          <a:ln/>
        </p:spPr>
      </p:sp>
      <p:pic>
        <p:nvPicPr>
          <p:cNvPr id="10" name="Image 1" descr="preencoded.png">    </p:cNvPr>
          <p:cNvPicPr>
            <a:picLocks noChangeAspect="1"/>
          </p:cNvPicPr>
          <p:nvPr/>
        </p:nvPicPr>
        <p:blipFill>
          <a:blip r:embed="rId2"/>
          <a:stretch>
            <a:fillRect/>
          </a:stretch>
        </p:blipFill>
        <p:spPr>
          <a:xfrm>
            <a:off x="949513" y="3262945"/>
            <a:ext cx="149230" cy="149230"/>
          </a:xfrm>
          <a:prstGeom prst="rect">
            <a:avLst/>
          </a:prstGeom>
        </p:spPr>
      </p:pic>
      <p:sp>
        <p:nvSpPr>
          <p:cNvPr id="11" name="Text 7"/>
          <p:cNvSpPr/>
          <p:nvPr/>
        </p:nvSpPr>
        <p:spPr>
          <a:xfrm>
            <a:off x="1325880" y="3127248"/>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A pattern engine; output only as good as the instructions and sources you feed it</a:t>
            </a:r>
            <a:endParaRPr lang="en-US" sz="1300" dirty="0"/>
          </a:p>
        </p:txBody>
      </p:sp>
      <p:sp>
        <p:nvSpPr>
          <p:cNvPr id="12" name="Shape 8"/>
          <p:cNvSpPr/>
          <p:nvPr/>
        </p:nvSpPr>
        <p:spPr>
          <a:xfrm>
            <a:off x="868680" y="4078224"/>
            <a:ext cx="310896" cy="310896"/>
          </a:xfrm>
          <a:prstGeom prst="ellipse">
            <a:avLst/>
          </a:prstGeom>
          <a:solidFill>
            <a:srgbClr val="CCCABC"/>
          </a:solidFill>
          <a:ln/>
        </p:spPr>
      </p:sp>
      <p:pic>
        <p:nvPicPr>
          <p:cNvPr id="13" name="Image 2" descr="preencoded.png">    </p:cNvPr>
          <p:cNvPicPr>
            <a:picLocks noChangeAspect="1"/>
          </p:cNvPicPr>
          <p:nvPr/>
        </p:nvPicPr>
        <p:blipFill>
          <a:blip r:embed="rId3"/>
          <a:stretch>
            <a:fillRect/>
          </a:stretch>
        </p:blipFill>
        <p:spPr>
          <a:xfrm>
            <a:off x="949513" y="4159057"/>
            <a:ext cx="149230" cy="149230"/>
          </a:xfrm>
          <a:prstGeom prst="rect">
            <a:avLst/>
          </a:prstGeom>
        </p:spPr>
      </p:pic>
      <p:sp>
        <p:nvSpPr>
          <p:cNvPr id="14" name="Text 9"/>
          <p:cNvSpPr/>
          <p:nvPr/>
        </p:nvSpPr>
        <p:spPr>
          <a:xfrm>
            <a:off x="1325880" y="4023360"/>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Equally confident-sounding when it's right and when it's wrong</a:t>
            </a:r>
            <a:endParaRPr lang="en-US" sz="1300" dirty="0"/>
          </a:p>
        </p:txBody>
      </p:sp>
      <p:sp>
        <p:nvSpPr>
          <p:cNvPr id="15" name="Shape 10"/>
          <p:cNvSpPr/>
          <p:nvPr/>
        </p:nvSpPr>
        <p:spPr>
          <a:xfrm>
            <a:off x="6291072" y="1508760"/>
            <a:ext cx="5349240" cy="3566160"/>
          </a:xfrm>
          <a:prstGeom prst="roundRect">
            <a:avLst>
              <a:gd name="adj" fmla="val 2564"/>
            </a:avLst>
          </a:prstGeom>
          <a:solidFill>
            <a:srgbClr val="F3F2EF"/>
          </a:solidFill>
          <a:ln/>
        </p:spPr>
      </p:sp>
      <p:sp>
        <p:nvSpPr>
          <p:cNvPr id="16" name="Text 11"/>
          <p:cNvSpPr/>
          <p:nvPr/>
        </p:nvSpPr>
        <p:spPr>
          <a:xfrm>
            <a:off x="6611112" y="1737360"/>
            <a:ext cx="4709160" cy="365760"/>
          </a:xfrm>
          <a:prstGeom prst="rect">
            <a:avLst/>
          </a:prstGeom>
          <a:noFill/>
          <a:ln/>
        </p:spPr>
        <p:txBody>
          <a:bodyPr wrap="square" lIns="0" tIns="0" rIns="0" bIns="0" rtlCol="0" anchor="ctr"/>
          <a:lstStyle/>
          <a:p>
            <a:pPr indent="0" marL="0">
              <a:buNone/>
            </a:pPr>
            <a:r>
              <a:rPr lang="en-US" sz="1700" b="1" dirty="0">
                <a:solidFill>
                  <a:srgbClr val="706E67"/>
                </a:solidFill>
                <a:latin typeface="Arial" pitchFamily="34" charset="0"/>
                <a:ea typeface="Arial" pitchFamily="34" charset="-122"/>
                <a:cs typeface="Arial" pitchFamily="34" charset="-120"/>
              </a:rPr>
              <a:t>It isn't</a:t>
            </a:r>
            <a:endParaRPr lang="en-US" sz="1700" dirty="0"/>
          </a:p>
        </p:txBody>
      </p:sp>
      <p:sp>
        <p:nvSpPr>
          <p:cNvPr id="17" name="Shape 12"/>
          <p:cNvSpPr/>
          <p:nvPr/>
        </p:nvSpPr>
        <p:spPr>
          <a:xfrm>
            <a:off x="6611112" y="2286000"/>
            <a:ext cx="310896" cy="310896"/>
          </a:xfrm>
          <a:prstGeom prst="ellipse">
            <a:avLst/>
          </a:prstGeom>
          <a:solidFill>
            <a:srgbClr val="E7E5DE"/>
          </a:solidFill>
          <a:ln/>
        </p:spPr>
      </p:sp>
      <p:pic>
        <p:nvPicPr>
          <p:cNvPr id="18" name="Image 3" descr="preencoded.png">    </p:cNvPr>
          <p:cNvPicPr>
            <a:picLocks noChangeAspect="1"/>
          </p:cNvPicPr>
          <p:nvPr/>
        </p:nvPicPr>
        <p:blipFill>
          <a:blip r:embed="rId4"/>
          <a:stretch>
            <a:fillRect/>
          </a:stretch>
        </p:blipFill>
        <p:spPr>
          <a:xfrm>
            <a:off x="6691945" y="2366833"/>
            <a:ext cx="149230" cy="149230"/>
          </a:xfrm>
          <a:prstGeom prst="rect">
            <a:avLst/>
          </a:prstGeom>
        </p:spPr>
      </p:pic>
      <p:sp>
        <p:nvSpPr>
          <p:cNvPr id="19" name="Text 13"/>
          <p:cNvSpPr/>
          <p:nvPr/>
        </p:nvSpPr>
        <p:spPr>
          <a:xfrm>
            <a:off x="7068312" y="2231136"/>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Aware of what you meant but didn't say</a:t>
            </a:r>
            <a:endParaRPr lang="en-US" sz="1300" dirty="0"/>
          </a:p>
        </p:txBody>
      </p:sp>
      <p:sp>
        <p:nvSpPr>
          <p:cNvPr id="20" name="Shape 14"/>
          <p:cNvSpPr/>
          <p:nvPr/>
        </p:nvSpPr>
        <p:spPr>
          <a:xfrm>
            <a:off x="6611112" y="3182112"/>
            <a:ext cx="310896" cy="310896"/>
          </a:xfrm>
          <a:prstGeom prst="ellipse">
            <a:avLst/>
          </a:prstGeom>
          <a:solidFill>
            <a:srgbClr val="E7E5DE"/>
          </a:solidFill>
          <a:ln/>
        </p:spPr>
      </p:sp>
      <p:pic>
        <p:nvPicPr>
          <p:cNvPr id="21" name="Image 4" descr="preencoded.png">    </p:cNvPr>
          <p:cNvPicPr>
            <a:picLocks noChangeAspect="1"/>
          </p:cNvPicPr>
          <p:nvPr/>
        </p:nvPicPr>
        <p:blipFill>
          <a:blip r:embed="rId5"/>
          <a:stretch>
            <a:fillRect/>
          </a:stretch>
        </p:blipFill>
        <p:spPr>
          <a:xfrm>
            <a:off x="6691945" y="3262945"/>
            <a:ext cx="149230" cy="149230"/>
          </a:xfrm>
          <a:prstGeom prst="rect">
            <a:avLst/>
          </a:prstGeom>
        </p:spPr>
      </p:pic>
      <p:sp>
        <p:nvSpPr>
          <p:cNvPr id="22" name="Text 15"/>
          <p:cNvSpPr/>
          <p:nvPr/>
        </p:nvSpPr>
        <p:spPr>
          <a:xfrm>
            <a:off x="7068312" y="3127248"/>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Able to catch its own errors, or tell you your instructions contradict each other</a:t>
            </a:r>
            <a:endParaRPr lang="en-US" sz="1300" dirty="0"/>
          </a:p>
        </p:txBody>
      </p:sp>
      <p:sp>
        <p:nvSpPr>
          <p:cNvPr id="23" name="Shape 16"/>
          <p:cNvSpPr/>
          <p:nvPr/>
        </p:nvSpPr>
        <p:spPr>
          <a:xfrm>
            <a:off x="6611112" y="4078224"/>
            <a:ext cx="310896" cy="310896"/>
          </a:xfrm>
          <a:prstGeom prst="ellipse">
            <a:avLst/>
          </a:prstGeom>
          <a:solidFill>
            <a:srgbClr val="E7E5DE"/>
          </a:solidFill>
          <a:ln/>
        </p:spPr>
      </p:sp>
      <p:pic>
        <p:nvPicPr>
          <p:cNvPr id="24" name="Image 5" descr="preencoded.png">    </p:cNvPr>
          <p:cNvPicPr>
            <a:picLocks noChangeAspect="1"/>
          </p:cNvPicPr>
          <p:nvPr/>
        </p:nvPicPr>
        <p:blipFill>
          <a:blip r:embed="rId6"/>
          <a:stretch>
            <a:fillRect/>
          </a:stretch>
        </p:blipFill>
        <p:spPr>
          <a:xfrm>
            <a:off x="6691945" y="4159057"/>
            <a:ext cx="149230" cy="149230"/>
          </a:xfrm>
          <a:prstGeom prst="rect">
            <a:avLst/>
          </a:prstGeom>
        </p:spPr>
      </p:pic>
      <p:sp>
        <p:nvSpPr>
          <p:cNvPr id="25" name="Text 17"/>
          <p:cNvSpPr/>
          <p:nvPr/>
        </p:nvSpPr>
        <p:spPr>
          <a:xfrm>
            <a:off x="7068312" y="4023360"/>
            <a:ext cx="4251960" cy="841248"/>
          </a:xfrm>
          <a:prstGeom prst="rect">
            <a:avLst/>
          </a:prstGeom>
          <a:noFill/>
          <a:ln/>
        </p:spPr>
        <p:txBody>
          <a:bodyPr wrap="square" lIns="0" tIns="0" rIns="0" bIns="0" rtlCol="0" anchor="t"/>
          <a:lstStyle/>
          <a:p>
            <a:pPr indent="0" marL="0">
              <a:buNone/>
            </a:pPr>
            <a:r>
              <a:rPr lang="en-US" sz="1300" dirty="0">
                <a:solidFill>
                  <a:srgbClr val="404040"/>
                </a:solidFill>
                <a:latin typeface="Arial" pitchFamily="34" charset="0"/>
                <a:ea typeface="Arial" pitchFamily="34" charset="-122"/>
                <a:cs typeface="Arial" pitchFamily="34" charset="-120"/>
              </a:rPr>
              <a:t>The author of your work; it can't own a conclusion or sign a workpaper</a:t>
            </a:r>
            <a:endParaRPr lang="en-US" sz="1300" dirty="0"/>
          </a:p>
        </p:txBody>
      </p:sp>
      <p:sp>
        <p:nvSpPr>
          <p:cNvPr id="26" name="Shape 18"/>
          <p:cNvSpPr/>
          <p:nvPr/>
        </p:nvSpPr>
        <p:spPr>
          <a:xfrm>
            <a:off x="548640" y="5349240"/>
            <a:ext cx="11091672" cy="822960"/>
          </a:xfrm>
          <a:prstGeom prst="roundRect">
            <a:avLst>
              <a:gd name="adj" fmla="val 11111"/>
            </a:avLst>
          </a:prstGeom>
          <a:solidFill>
            <a:srgbClr val="F3F2EF"/>
          </a:solidFill>
          <a:ln/>
        </p:spPr>
      </p:sp>
      <p:sp>
        <p:nvSpPr>
          <p:cNvPr id="27" name="Text 19"/>
          <p:cNvSpPr/>
          <p:nvPr/>
        </p:nvSpPr>
        <p:spPr>
          <a:xfrm>
            <a:off x="868680" y="5349240"/>
            <a:ext cx="10451592" cy="822960"/>
          </a:xfrm>
          <a:prstGeom prst="rect">
            <a:avLst/>
          </a:prstGeom>
          <a:noFill/>
          <a:ln/>
        </p:spPr>
        <p:txBody>
          <a:bodyPr wrap="square" lIns="0" tIns="0" rIns="0" bIns="0" rtlCol="0" anchor="ctr"/>
          <a:lstStyle/>
          <a:p>
            <a:pPr algn="ctr" indent="0" marL="0">
              <a:buNone/>
            </a:pPr>
            <a:r>
              <a:rPr lang="en-US" sz="1650" b="1" dirty="0">
                <a:solidFill>
                  <a:srgbClr val="121212"/>
                </a:solidFill>
                <a:latin typeface="Arial" pitchFamily="34" charset="0"/>
                <a:ea typeface="Arial" pitchFamily="34" charset="-122"/>
                <a:cs typeface="Arial" pitchFamily="34" charset="-120"/>
              </a:rPr>
              <a:t>It's a drafting engine, and it depends on you at both ends: the ask and the edit.</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Two rules for working with AI</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One for each end: the ask, and the edit</a:t>
            </a:r>
            <a:endParaRPr lang="en-US" sz="1500" dirty="0"/>
          </a:p>
        </p:txBody>
      </p:sp>
      <p:sp>
        <p:nvSpPr>
          <p:cNvPr id="4" name="Shape 2"/>
          <p:cNvSpPr/>
          <p:nvPr/>
        </p:nvSpPr>
        <p:spPr>
          <a:xfrm>
            <a:off x="548640" y="1371600"/>
            <a:ext cx="5349240" cy="4023360"/>
          </a:xfrm>
          <a:prstGeom prst="roundRect">
            <a:avLst>
              <a:gd name="adj" fmla="val 2273"/>
            </a:avLst>
          </a:prstGeom>
          <a:solidFill>
            <a:srgbClr val="F7F6F3"/>
          </a:solidFill>
          <a:ln/>
        </p:spPr>
      </p:sp>
      <p:sp>
        <p:nvSpPr>
          <p:cNvPr id="5" name="Text 3"/>
          <p:cNvSpPr/>
          <p:nvPr/>
        </p:nvSpPr>
        <p:spPr>
          <a:xfrm>
            <a:off x="822960" y="1591056"/>
            <a:ext cx="4800600" cy="219456"/>
          </a:xfrm>
          <a:prstGeom prst="rect">
            <a:avLst/>
          </a:prstGeom>
          <a:noFill/>
          <a:ln/>
        </p:spPr>
        <p:txBody>
          <a:bodyPr wrap="square" lIns="0" tIns="0" rIns="0" bIns="0" rtlCol="0" anchor="ctr"/>
          <a:lstStyle/>
          <a:p>
            <a:pPr indent="0" marL="0">
              <a:buNone/>
            </a:pPr>
            <a:r>
              <a:rPr lang="en-US" sz="1050" b="1" spc="200" kern="0" dirty="0">
                <a:solidFill>
                  <a:srgbClr val="706E67"/>
                </a:solidFill>
                <a:latin typeface="Arial" pitchFamily="34" charset="0"/>
                <a:ea typeface="Arial" pitchFamily="34" charset="-122"/>
                <a:cs typeface="Arial" pitchFamily="34" charset="-120"/>
              </a:rPr>
              <a:t>RULE 1  ·  THE ASK END</a:t>
            </a:r>
            <a:endParaRPr lang="en-US" sz="1050" dirty="0"/>
          </a:p>
        </p:txBody>
      </p:sp>
      <p:sp>
        <p:nvSpPr>
          <p:cNvPr id="6" name="Text 4"/>
          <p:cNvSpPr/>
          <p:nvPr/>
        </p:nvSpPr>
        <p:spPr>
          <a:xfrm>
            <a:off x="822960" y="1828800"/>
            <a:ext cx="4800600" cy="384048"/>
          </a:xfrm>
          <a:prstGeom prst="rect">
            <a:avLst/>
          </a:prstGeom>
          <a:noFill/>
          <a:ln/>
        </p:spPr>
        <p:txBody>
          <a:bodyPr wrap="square" lIns="0" tIns="0" rIns="0" bIns="0" rtlCol="0" anchor="t"/>
          <a:lstStyle/>
          <a:p>
            <a:pPr indent="0" marL="0">
              <a:buNone/>
            </a:pPr>
            <a:r>
              <a:rPr lang="en-US" sz="1900" b="1" dirty="0">
                <a:solidFill>
                  <a:srgbClr val="121212"/>
                </a:solidFill>
                <a:latin typeface="Arial" pitchFamily="34" charset="0"/>
                <a:ea typeface="Arial" pitchFamily="34" charset="-122"/>
                <a:cs typeface="Arial" pitchFamily="34" charset="-120"/>
              </a:rPr>
              <a:t>Right-size the ask</a:t>
            </a:r>
            <a:endParaRPr lang="en-US" sz="1900" dirty="0"/>
          </a:p>
        </p:txBody>
      </p:sp>
      <p:sp>
        <p:nvSpPr>
          <p:cNvPr id="7" name="Shape 5"/>
          <p:cNvSpPr/>
          <p:nvPr/>
        </p:nvSpPr>
        <p:spPr>
          <a:xfrm>
            <a:off x="822960" y="2395728"/>
            <a:ext cx="347472" cy="347472"/>
          </a:xfrm>
          <a:prstGeom prst="ellipse">
            <a:avLst/>
          </a:prstGeom>
          <a:solidFill>
            <a:srgbClr val="CCCABC"/>
          </a:solidFill>
          <a:ln/>
        </p:spPr>
      </p:sp>
      <p:pic>
        <p:nvPicPr>
          <p:cNvPr id="8" name="Image 0" descr="preencoded.png">    </p:cNvPr>
          <p:cNvPicPr>
            <a:picLocks noChangeAspect="1"/>
          </p:cNvPicPr>
          <p:nvPr/>
        </p:nvPicPr>
        <p:blipFill>
          <a:blip r:embed="rId1"/>
          <a:stretch>
            <a:fillRect/>
          </a:stretch>
        </p:blipFill>
        <p:spPr>
          <a:xfrm>
            <a:off x="913303" y="2486071"/>
            <a:ext cx="166787" cy="166787"/>
          </a:xfrm>
          <a:prstGeom prst="rect">
            <a:avLst/>
          </a:prstGeom>
        </p:spPr>
      </p:pic>
      <p:sp>
        <p:nvSpPr>
          <p:cNvPr id="9" name="Text 6"/>
          <p:cNvSpPr/>
          <p:nvPr/>
        </p:nvSpPr>
        <p:spPr>
          <a:xfrm>
            <a:off x="1316736" y="2359152"/>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One task per prompt.</a:t>
            </a:r>
            <a:pPr indent="0" marL="0">
              <a:buNone/>
            </a:pPr>
            <a:r>
              <a:rPr lang="en-US" sz="1150" dirty="0">
                <a:solidFill>
                  <a:srgbClr val="404040"/>
                </a:solidFill>
                <a:latin typeface="Arial" pitchFamily="34" charset="0"/>
                <a:ea typeface="Arial" pitchFamily="34" charset="-122"/>
                <a:cs typeface="Arial" pitchFamily="34" charset="-120"/>
              </a:rPr>
              <a:t> Chain small steps (draft, check, refine) instead of one giant pass.</a:t>
            </a:r>
            <a:endParaRPr lang="en-US" sz="1150" dirty="0"/>
          </a:p>
        </p:txBody>
      </p:sp>
      <p:sp>
        <p:nvSpPr>
          <p:cNvPr id="10" name="Shape 7"/>
          <p:cNvSpPr/>
          <p:nvPr/>
        </p:nvSpPr>
        <p:spPr>
          <a:xfrm>
            <a:off x="822960" y="3145536"/>
            <a:ext cx="347472" cy="347472"/>
          </a:xfrm>
          <a:prstGeom prst="ellipse">
            <a:avLst/>
          </a:prstGeom>
          <a:solidFill>
            <a:srgbClr val="CCCABC"/>
          </a:solidFill>
          <a:ln/>
        </p:spPr>
      </p:sp>
      <p:pic>
        <p:nvPicPr>
          <p:cNvPr id="11" name="Image 1" descr="preencoded.png">    </p:cNvPr>
          <p:cNvPicPr>
            <a:picLocks noChangeAspect="1"/>
          </p:cNvPicPr>
          <p:nvPr/>
        </p:nvPicPr>
        <p:blipFill>
          <a:blip r:embed="rId2"/>
          <a:stretch>
            <a:fillRect/>
          </a:stretch>
        </p:blipFill>
        <p:spPr>
          <a:xfrm>
            <a:off x="913303" y="3235879"/>
            <a:ext cx="166787" cy="166787"/>
          </a:xfrm>
          <a:prstGeom prst="rect">
            <a:avLst/>
          </a:prstGeom>
        </p:spPr>
      </p:pic>
      <p:sp>
        <p:nvSpPr>
          <p:cNvPr id="12" name="Text 8"/>
          <p:cNvSpPr/>
          <p:nvPr/>
        </p:nvSpPr>
        <p:spPr>
          <a:xfrm>
            <a:off x="1316736" y="3108960"/>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Contradictions fail silently.</a:t>
            </a:r>
            <a:pPr indent="0" marL="0">
              <a:buNone/>
            </a:pPr>
            <a:r>
              <a:rPr lang="en-US" sz="1150" dirty="0">
                <a:solidFill>
                  <a:srgbClr val="404040"/>
                </a:solidFill>
                <a:latin typeface="Arial" pitchFamily="34" charset="0"/>
                <a:ea typeface="Arial" pitchFamily="34" charset="-122"/>
                <a:cs typeface="Arial" pitchFamily="34" charset="-120"/>
              </a:rPr>
              <a:t> The model picks one and keeps writing; the polish hides it.</a:t>
            </a:r>
            <a:endParaRPr lang="en-US" sz="1150" dirty="0"/>
          </a:p>
        </p:txBody>
      </p:sp>
      <p:sp>
        <p:nvSpPr>
          <p:cNvPr id="13" name="Shape 9"/>
          <p:cNvSpPr/>
          <p:nvPr/>
        </p:nvSpPr>
        <p:spPr>
          <a:xfrm>
            <a:off x="822960" y="3895344"/>
            <a:ext cx="347472" cy="347472"/>
          </a:xfrm>
          <a:prstGeom prst="ellipse">
            <a:avLst/>
          </a:prstGeom>
          <a:solidFill>
            <a:srgbClr val="CCCABC"/>
          </a:solidFill>
          <a:ln/>
        </p:spPr>
      </p:sp>
      <p:pic>
        <p:nvPicPr>
          <p:cNvPr id="14" name="Image 2" descr="preencoded.png">    </p:cNvPr>
          <p:cNvPicPr>
            <a:picLocks noChangeAspect="1"/>
          </p:cNvPicPr>
          <p:nvPr/>
        </p:nvPicPr>
        <p:blipFill>
          <a:blip r:embed="rId3"/>
          <a:stretch>
            <a:fillRect/>
          </a:stretch>
        </p:blipFill>
        <p:spPr>
          <a:xfrm>
            <a:off x="913303" y="3985687"/>
            <a:ext cx="166787" cy="166787"/>
          </a:xfrm>
          <a:prstGeom prst="rect">
            <a:avLst/>
          </a:prstGeom>
        </p:spPr>
      </p:pic>
      <p:sp>
        <p:nvSpPr>
          <p:cNvPr id="15" name="Text 10"/>
          <p:cNvSpPr/>
          <p:nvPr/>
        </p:nvSpPr>
        <p:spPr>
          <a:xfrm>
            <a:off x="1316736" y="3858768"/>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The new-hire test:</a:t>
            </a:r>
            <a:pPr indent="0" marL="0">
              <a:buNone/>
            </a:pPr>
            <a:r>
              <a:rPr lang="en-US" sz="1150" dirty="0">
                <a:solidFill>
                  <a:srgbClr val="404040"/>
                </a:solidFill>
                <a:latin typeface="Arial" pitchFamily="34" charset="0"/>
                <a:ea typeface="Arial" pitchFamily="34" charset="-122"/>
                <a:cs typeface="Arial" pitchFamily="34" charset="-120"/>
              </a:rPr>
              <a:t> could they follow the ask without questions? If not, neither can AI.</a:t>
            </a:r>
            <a:endParaRPr lang="en-US" sz="1150" dirty="0"/>
          </a:p>
        </p:txBody>
      </p:sp>
      <p:sp>
        <p:nvSpPr>
          <p:cNvPr id="16" name="Shape 11"/>
          <p:cNvSpPr/>
          <p:nvPr/>
        </p:nvSpPr>
        <p:spPr>
          <a:xfrm>
            <a:off x="822960" y="4645152"/>
            <a:ext cx="347472" cy="347472"/>
          </a:xfrm>
          <a:prstGeom prst="ellipse">
            <a:avLst/>
          </a:prstGeom>
          <a:solidFill>
            <a:srgbClr val="CCCABC"/>
          </a:solidFill>
          <a:ln/>
        </p:spPr>
      </p:sp>
      <p:pic>
        <p:nvPicPr>
          <p:cNvPr id="17" name="Image 3" descr="preencoded.png">    </p:cNvPr>
          <p:cNvPicPr>
            <a:picLocks noChangeAspect="1"/>
          </p:cNvPicPr>
          <p:nvPr/>
        </p:nvPicPr>
        <p:blipFill>
          <a:blip r:embed="rId4"/>
          <a:stretch>
            <a:fillRect/>
          </a:stretch>
        </p:blipFill>
        <p:spPr>
          <a:xfrm>
            <a:off x="913303" y="4735495"/>
            <a:ext cx="166787" cy="166787"/>
          </a:xfrm>
          <a:prstGeom prst="rect">
            <a:avLst/>
          </a:prstGeom>
        </p:spPr>
      </p:pic>
      <p:sp>
        <p:nvSpPr>
          <p:cNvPr id="18" name="Text 12"/>
          <p:cNvSpPr/>
          <p:nvPr/>
        </p:nvSpPr>
        <p:spPr>
          <a:xfrm>
            <a:off x="1316736" y="4608576"/>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Prompts are work products.</a:t>
            </a:r>
            <a:pPr indent="0" marL="0">
              <a:buNone/>
            </a:pPr>
            <a:r>
              <a:rPr lang="en-US" sz="1150" dirty="0">
                <a:solidFill>
                  <a:srgbClr val="404040"/>
                </a:solidFill>
                <a:latin typeface="Arial" pitchFamily="34" charset="0"/>
                <a:ea typeface="Arial" pitchFamily="34" charset="-122"/>
                <a:cs typeface="Arial" pitchFamily="34" charset="-120"/>
              </a:rPr>
              <a:t> Team-shared prompts get review first; that's the prompt library.</a:t>
            </a:r>
            <a:endParaRPr lang="en-US" sz="1150" dirty="0"/>
          </a:p>
        </p:txBody>
      </p:sp>
      <p:sp>
        <p:nvSpPr>
          <p:cNvPr id="19" name="Shape 13"/>
          <p:cNvSpPr/>
          <p:nvPr/>
        </p:nvSpPr>
        <p:spPr>
          <a:xfrm>
            <a:off x="6291072" y="1371600"/>
            <a:ext cx="5349240" cy="4023360"/>
          </a:xfrm>
          <a:prstGeom prst="roundRect">
            <a:avLst>
              <a:gd name="adj" fmla="val 2273"/>
            </a:avLst>
          </a:prstGeom>
          <a:solidFill>
            <a:srgbClr val="F3F2EF"/>
          </a:solidFill>
          <a:ln/>
        </p:spPr>
      </p:sp>
      <p:sp>
        <p:nvSpPr>
          <p:cNvPr id="20" name="Text 14"/>
          <p:cNvSpPr/>
          <p:nvPr/>
        </p:nvSpPr>
        <p:spPr>
          <a:xfrm>
            <a:off x="6565392" y="1591056"/>
            <a:ext cx="4800600" cy="219456"/>
          </a:xfrm>
          <a:prstGeom prst="rect">
            <a:avLst/>
          </a:prstGeom>
          <a:noFill/>
          <a:ln/>
        </p:spPr>
        <p:txBody>
          <a:bodyPr wrap="square" lIns="0" tIns="0" rIns="0" bIns="0" rtlCol="0" anchor="ctr"/>
          <a:lstStyle/>
          <a:p>
            <a:pPr indent="0" marL="0">
              <a:buNone/>
            </a:pPr>
            <a:r>
              <a:rPr lang="en-US" sz="1050" b="1" spc="200" kern="0" dirty="0">
                <a:solidFill>
                  <a:srgbClr val="706E67"/>
                </a:solidFill>
                <a:latin typeface="Arial" pitchFamily="34" charset="0"/>
                <a:ea typeface="Arial" pitchFamily="34" charset="-122"/>
                <a:cs typeface="Arial" pitchFamily="34" charset="-120"/>
              </a:rPr>
              <a:t>RULE 2  ·  THE EDIT END</a:t>
            </a:r>
            <a:endParaRPr lang="en-US" sz="1050" dirty="0"/>
          </a:p>
        </p:txBody>
      </p:sp>
      <p:sp>
        <p:nvSpPr>
          <p:cNvPr id="21" name="Text 15"/>
          <p:cNvSpPr/>
          <p:nvPr/>
        </p:nvSpPr>
        <p:spPr>
          <a:xfrm>
            <a:off x="6565392" y="1828800"/>
            <a:ext cx="4800600" cy="384048"/>
          </a:xfrm>
          <a:prstGeom prst="rect">
            <a:avLst/>
          </a:prstGeom>
          <a:noFill/>
          <a:ln/>
        </p:spPr>
        <p:txBody>
          <a:bodyPr wrap="square" lIns="0" tIns="0" rIns="0" bIns="0" rtlCol="0" anchor="t"/>
          <a:lstStyle/>
          <a:p>
            <a:pPr indent="0" marL="0">
              <a:buNone/>
            </a:pPr>
            <a:r>
              <a:rPr lang="en-US" sz="1900" b="1" dirty="0">
                <a:solidFill>
                  <a:srgbClr val="121212"/>
                </a:solidFill>
                <a:latin typeface="Arial" pitchFamily="34" charset="0"/>
                <a:ea typeface="Arial" pitchFamily="34" charset="-122"/>
                <a:cs typeface="Arial" pitchFamily="34" charset="-120"/>
              </a:rPr>
              <a:t>Own the output</a:t>
            </a:r>
            <a:endParaRPr lang="en-US" sz="1900" dirty="0"/>
          </a:p>
        </p:txBody>
      </p:sp>
      <p:sp>
        <p:nvSpPr>
          <p:cNvPr id="22" name="Shape 16"/>
          <p:cNvSpPr/>
          <p:nvPr/>
        </p:nvSpPr>
        <p:spPr>
          <a:xfrm>
            <a:off x="6565392" y="2395728"/>
            <a:ext cx="347472" cy="347472"/>
          </a:xfrm>
          <a:prstGeom prst="ellipse">
            <a:avLst/>
          </a:prstGeom>
          <a:solidFill>
            <a:srgbClr val="CCCABC"/>
          </a:solidFill>
          <a:ln/>
        </p:spPr>
      </p:sp>
      <p:pic>
        <p:nvPicPr>
          <p:cNvPr id="23" name="Image 4" descr="preencoded.png">    </p:cNvPr>
          <p:cNvPicPr>
            <a:picLocks noChangeAspect="1"/>
          </p:cNvPicPr>
          <p:nvPr/>
        </p:nvPicPr>
        <p:blipFill>
          <a:blip r:embed="rId5"/>
          <a:stretch>
            <a:fillRect/>
          </a:stretch>
        </p:blipFill>
        <p:spPr>
          <a:xfrm>
            <a:off x="6655735" y="2486071"/>
            <a:ext cx="166787" cy="166787"/>
          </a:xfrm>
          <a:prstGeom prst="rect">
            <a:avLst/>
          </a:prstGeom>
        </p:spPr>
      </p:pic>
      <p:sp>
        <p:nvSpPr>
          <p:cNvPr id="24" name="Text 17"/>
          <p:cNvSpPr/>
          <p:nvPr/>
        </p:nvSpPr>
        <p:spPr>
          <a:xfrm>
            <a:off x="7059168" y="2359152"/>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It's raw material.</a:t>
            </a:r>
            <a:pPr indent="0" marL="0">
              <a:buNone/>
            </a:pPr>
            <a:r>
              <a:rPr lang="en-US" sz="1150" dirty="0">
                <a:solidFill>
                  <a:srgbClr val="404040"/>
                </a:solidFill>
                <a:latin typeface="Arial" pitchFamily="34" charset="0"/>
                <a:ea typeface="Arial" pitchFamily="34" charset="-122"/>
                <a:cs typeface="Arial" pitchFamily="34" charset="-120"/>
              </a:rPr>
              <a:t> A first pass from something that has never met your reviewee, your standards, or your QC.</a:t>
            </a:r>
            <a:endParaRPr lang="en-US" sz="1150" dirty="0"/>
          </a:p>
        </p:txBody>
      </p:sp>
      <p:sp>
        <p:nvSpPr>
          <p:cNvPr id="25" name="Shape 18"/>
          <p:cNvSpPr/>
          <p:nvPr/>
        </p:nvSpPr>
        <p:spPr>
          <a:xfrm>
            <a:off x="6565392" y="3145536"/>
            <a:ext cx="347472" cy="347472"/>
          </a:xfrm>
          <a:prstGeom prst="ellipse">
            <a:avLst/>
          </a:prstGeom>
          <a:solidFill>
            <a:srgbClr val="CCCABC"/>
          </a:solidFill>
          <a:ln/>
        </p:spPr>
      </p:sp>
      <p:pic>
        <p:nvPicPr>
          <p:cNvPr id="26" name="Image 5" descr="preencoded.png">    </p:cNvPr>
          <p:cNvPicPr>
            <a:picLocks noChangeAspect="1"/>
          </p:cNvPicPr>
          <p:nvPr/>
        </p:nvPicPr>
        <p:blipFill>
          <a:blip r:embed="rId6"/>
          <a:stretch>
            <a:fillRect/>
          </a:stretch>
        </p:blipFill>
        <p:spPr>
          <a:xfrm>
            <a:off x="6655735" y="3235879"/>
            <a:ext cx="166787" cy="166787"/>
          </a:xfrm>
          <a:prstGeom prst="rect">
            <a:avLst/>
          </a:prstGeom>
        </p:spPr>
      </p:pic>
      <p:sp>
        <p:nvSpPr>
          <p:cNvPr id="27" name="Text 19"/>
          <p:cNvSpPr/>
          <p:nvPr/>
        </p:nvSpPr>
        <p:spPr>
          <a:xfrm>
            <a:off x="7059168" y="3108960"/>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Make it yours.</a:t>
            </a:r>
            <a:pPr indent="0" marL="0">
              <a:buNone/>
            </a:pPr>
            <a:r>
              <a:rPr lang="en-US" sz="1150" dirty="0">
                <a:solidFill>
                  <a:srgbClr val="404040"/>
                </a:solidFill>
                <a:latin typeface="Arial" pitchFamily="34" charset="0"/>
                <a:ea typeface="Arial" pitchFamily="34" charset="-122"/>
                <a:cs typeface="Arial" pitchFamily="34" charset="-120"/>
              </a:rPr>
              <a:t> Real document names, workpaper language, sentences you would have written.</a:t>
            </a:r>
            <a:endParaRPr lang="en-US" sz="1150" dirty="0"/>
          </a:p>
        </p:txBody>
      </p:sp>
      <p:sp>
        <p:nvSpPr>
          <p:cNvPr id="28" name="Shape 20"/>
          <p:cNvSpPr/>
          <p:nvPr/>
        </p:nvSpPr>
        <p:spPr>
          <a:xfrm>
            <a:off x="6565392" y="3895344"/>
            <a:ext cx="347472" cy="347472"/>
          </a:xfrm>
          <a:prstGeom prst="ellipse">
            <a:avLst/>
          </a:prstGeom>
          <a:solidFill>
            <a:srgbClr val="CCCABC"/>
          </a:solidFill>
          <a:ln/>
        </p:spPr>
      </p:sp>
      <p:pic>
        <p:nvPicPr>
          <p:cNvPr id="29" name="Image 6" descr="preencoded.png">    </p:cNvPr>
          <p:cNvPicPr>
            <a:picLocks noChangeAspect="1"/>
          </p:cNvPicPr>
          <p:nvPr/>
        </p:nvPicPr>
        <p:blipFill>
          <a:blip r:embed="rId7"/>
          <a:stretch>
            <a:fillRect/>
          </a:stretch>
        </p:blipFill>
        <p:spPr>
          <a:xfrm>
            <a:off x="6655735" y="3985687"/>
            <a:ext cx="166787" cy="166787"/>
          </a:xfrm>
          <a:prstGeom prst="rect">
            <a:avLst/>
          </a:prstGeom>
        </p:spPr>
      </p:pic>
      <p:sp>
        <p:nvSpPr>
          <p:cNvPr id="30" name="Text 21"/>
          <p:cNvSpPr/>
          <p:nvPr/>
        </p:nvSpPr>
        <p:spPr>
          <a:xfrm>
            <a:off x="7059168" y="3858768"/>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The signature test:</a:t>
            </a:r>
            <a:pPr indent="0" marL="0">
              <a:buNone/>
            </a:pPr>
            <a:r>
              <a:rPr lang="en-US" sz="1150" dirty="0">
                <a:solidFill>
                  <a:srgbClr val="404040"/>
                </a:solidFill>
                <a:latin typeface="Arial" pitchFamily="34" charset="0"/>
                <a:ea typeface="Arial" pitchFamily="34" charset="-122"/>
                <a:cs typeface="Arial" pitchFamily="34" charset="-120"/>
              </a:rPr>
              <a:t> if it goes to QC under your name, you own every sentence in it.</a:t>
            </a:r>
            <a:endParaRPr lang="en-US" sz="1150" dirty="0"/>
          </a:p>
        </p:txBody>
      </p:sp>
      <p:sp>
        <p:nvSpPr>
          <p:cNvPr id="31" name="Shape 22"/>
          <p:cNvSpPr/>
          <p:nvPr/>
        </p:nvSpPr>
        <p:spPr>
          <a:xfrm>
            <a:off x="6565392" y="4645152"/>
            <a:ext cx="347472" cy="347472"/>
          </a:xfrm>
          <a:prstGeom prst="ellipse">
            <a:avLst/>
          </a:prstGeom>
          <a:solidFill>
            <a:srgbClr val="CCCABC"/>
          </a:solidFill>
          <a:ln/>
        </p:spPr>
      </p:sp>
      <p:pic>
        <p:nvPicPr>
          <p:cNvPr id="32" name="Image 7" descr="preencoded.png">    </p:cNvPr>
          <p:cNvPicPr>
            <a:picLocks noChangeAspect="1"/>
          </p:cNvPicPr>
          <p:nvPr/>
        </p:nvPicPr>
        <p:blipFill>
          <a:blip r:embed="rId8"/>
          <a:stretch>
            <a:fillRect/>
          </a:stretch>
        </p:blipFill>
        <p:spPr>
          <a:xfrm>
            <a:off x="6655735" y="4735495"/>
            <a:ext cx="166787" cy="166787"/>
          </a:xfrm>
          <a:prstGeom prst="rect">
            <a:avLst/>
          </a:prstGeom>
        </p:spPr>
      </p:pic>
      <p:sp>
        <p:nvSpPr>
          <p:cNvPr id="33" name="Text 23"/>
          <p:cNvSpPr/>
          <p:nvPr/>
        </p:nvSpPr>
        <p:spPr>
          <a:xfrm>
            <a:off x="7059168" y="4608576"/>
            <a:ext cx="4306824" cy="731520"/>
          </a:xfrm>
          <a:prstGeom prst="rect">
            <a:avLst/>
          </a:prstGeom>
          <a:noFill/>
          <a:ln/>
        </p:spPr>
        <p:txBody>
          <a:bodyPr wrap="square" lIns="0" tIns="0" rIns="0" bIns="0" rtlCol="0" anchor="t"/>
          <a:lstStyle/>
          <a:p>
            <a:pPr indent="0" marL="0">
              <a:buNone/>
            </a:pPr>
            <a:r>
              <a:rPr lang="en-US" sz="1150" b="1" dirty="0">
                <a:solidFill>
                  <a:srgbClr val="404040"/>
                </a:solidFill>
                <a:latin typeface="Arial" pitchFamily="34" charset="0"/>
                <a:ea typeface="Arial" pitchFamily="34" charset="-122"/>
                <a:cs typeface="Arial" pitchFamily="34" charset="-120"/>
              </a:rPr>
              <a:t>QC is not your editor.</a:t>
            </a:r>
            <a:pPr indent="0" marL="0">
              <a:buNone/>
            </a:pPr>
            <a:r>
              <a:rPr lang="en-US" sz="1150" dirty="0">
                <a:solidFill>
                  <a:srgbClr val="404040"/>
                </a:solidFill>
                <a:latin typeface="Arial" pitchFamily="34" charset="0"/>
                <a:ea typeface="Arial" pitchFamily="34" charset="-122"/>
                <a:cs typeface="Arial" pitchFamily="34" charset="-120"/>
              </a:rPr>
              <a:t> Forwarding raw output moves the work to a teammate's desk.</a:t>
            </a:r>
            <a:endParaRPr lang="en-US" sz="1150" dirty="0"/>
          </a:p>
        </p:txBody>
      </p:sp>
      <p:sp>
        <p:nvSpPr>
          <p:cNvPr id="34" name="Shape 24"/>
          <p:cNvSpPr/>
          <p:nvPr/>
        </p:nvSpPr>
        <p:spPr>
          <a:xfrm>
            <a:off x="548640" y="5623560"/>
            <a:ext cx="11091672" cy="777240"/>
          </a:xfrm>
          <a:prstGeom prst="roundRect">
            <a:avLst>
              <a:gd name="adj" fmla="val 11765"/>
            </a:avLst>
          </a:prstGeom>
          <a:solidFill>
            <a:srgbClr val="F3F2EF"/>
          </a:solidFill>
          <a:ln/>
        </p:spPr>
      </p:sp>
      <p:sp>
        <p:nvSpPr>
          <p:cNvPr id="35" name="Text 25"/>
          <p:cNvSpPr/>
          <p:nvPr/>
        </p:nvSpPr>
        <p:spPr>
          <a:xfrm>
            <a:off x="868680" y="5623560"/>
            <a:ext cx="10451592" cy="777240"/>
          </a:xfrm>
          <a:prstGeom prst="rect">
            <a:avLst/>
          </a:prstGeom>
          <a:noFill/>
          <a:ln/>
        </p:spPr>
        <p:txBody>
          <a:bodyPr wrap="square" lIns="0" tIns="0" rIns="0" bIns="0" rtlCol="0" anchor="ctr"/>
          <a:lstStyle/>
          <a:p>
            <a:pPr algn="ctr" indent="0" marL="0">
              <a:buNone/>
            </a:pPr>
            <a:r>
              <a:rPr lang="en-US" sz="1350" b="1" dirty="0">
                <a:solidFill>
                  <a:srgbClr val="121212"/>
                </a:solidFill>
                <a:latin typeface="Arial" pitchFamily="34" charset="0"/>
                <a:ea typeface="Arial" pitchFamily="34" charset="-122"/>
                <a:cs typeface="Arial" pitchFamily="34" charset="-120"/>
              </a:rPr>
              <a:t>The agent does the assembly. The reviewer does the judgment. Skipping the judgment isn't using the agent; it's forwarding its homework.</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94360"/>
          </a:xfrm>
          <a:prstGeom prst="rect">
            <a:avLst/>
          </a:prstGeom>
          <a:noFill/>
          <a:ln/>
        </p:spPr>
        <p:txBody>
          <a:bodyPr wrap="square" lIns="0" tIns="0" rIns="0" bIns="0" rtlCol="0" anchor="ctr"/>
          <a:lstStyle/>
          <a:p>
            <a:pPr indent="0" marL="0">
              <a:buNone/>
            </a:pPr>
            <a:r>
              <a:rPr lang="en-US" sz="3200" b="1" dirty="0">
                <a:solidFill>
                  <a:srgbClr val="121212"/>
                </a:solidFill>
                <a:latin typeface="Arial" pitchFamily="34" charset="0"/>
                <a:ea typeface="Arial" pitchFamily="34" charset="-122"/>
                <a:cs typeface="Arial" pitchFamily="34" charset="-120"/>
              </a:rPr>
              <a:t>The quick test</a:t>
            </a:r>
            <a:endParaRPr lang="en-US" sz="3200" dirty="0"/>
          </a:p>
        </p:txBody>
      </p:sp>
      <p:sp>
        <p:nvSpPr>
          <p:cNvPr id="3" name="Text 1"/>
          <p:cNvSpPr/>
          <p:nvPr/>
        </p:nvSpPr>
        <p:spPr>
          <a:xfrm>
            <a:off x="548640" y="932688"/>
            <a:ext cx="11091672" cy="365760"/>
          </a:xfrm>
          <a:prstGeom prst="rect">
            <a:avLst/>
          </a:prstGeom>
          <a:noFill/>
          <a:ln/>
        </p:spPr>
        <p:txBody>
          <a:bodyPr wrap="square" lIns="0" tIns="0" rIns="0" bIns="0" rtlCol="0" anchor="ctr"/>
          <a:lstStyle/>
          <a:p>
            <a:pPr indent="0" marL="0">
              <a:buNone/>
            </a:pPr>
            <a:r>
              <a:rPr lang="en-US" sz="1500" dirty="0">
                <a:solidFill>
                  <a:srgbClr val="706E67"/>
                </a:solidFill>
                <a:latin typeface="Arial" pitchFamily="34" charset="0"/>
                <a:ea typeface="Arial" pitchFamily="34" charset="-122"/>
                <a:cs typeface="Arial" pitchFamily="34" charset="-120"/>
              </a:rPr>
              <a:t>Before AI touches a task, two questions place it: how easily can you check it, and what happens if it's wrong?</a:t>
            </a:r>
            <a:endParaRPr lang="en-US" sz="1500" dirty="0"/>
          </a:p>
        </p:txBody>
      </p:sp>
      <p:sp>
        <p:nvSpPr>
          <p:cNvPr id="4" name="Text 2"/>
          <p:cNvSpPr/>
          <p:nvPr/>
        </p:nvSpPr>
        <p:spPr>
          <a:xfrm>
            <a:off x="1874520" y="1572768"/>
            <a:ext cx="4892040" cy="274320"/>
          </a:xfrm>
          <a:prstGeom prst="rect">
            <a:avLst/>
          </a:prstGeom>
          <a:noFill/>
          <a:ln/>
        </p:spPr>
        <p:txBody>
          <a:bodyPr wrap="square" lIns="0" tIns="0" rIns="0" bIns="0" rtlCol="0" anchor="ctr"/>
          <a:lstStyle/>
          <a:p>
            <a:pPr algn="ctr" indent="0" marL="0">
              <a:buNone/>
            </a:pPr>
            <a:r>
              <a:rPr lang="en-US" sz="1150" b="1" spc="200" kern="0" dirty="0">
                <a:solidFill>
                  <a:srgbClr val="706E67"/>
                </a:solidFill>
                <a:latin typeface="Arial" pitchFamily="34" charset="0"/>
                <a:ea typeface="Arial" pitchFamily="34" charset="-122"/>
                <a:cs typeface="Arial" pitchFamily="34" charset="-120"/>
              </a:rPr>
              <a:t>EASY TO VERIFY</a:t>
            </a:r>
            <a:endParaRPr lang="en-US" sz="1150" dirty="0"/>
          </a:p>
        </p:txBody>
      </p:sp>
      <p:sp>
        <p:nvSpPr>
          <p:cNvPr id="5" name="Text 3"/>
          <p:cNvSpPr/>
          <p:nvPr/>
        </p:nvSpPr>
        <p:spPr>
          <a:xfrm>
            <a:off x="6967728" y="1572768"/>
            <a:ext cx="4892040" cy="274320"/>
          </a:xfrm>
          <a:prstGeom prst="rect">
            <a:avLst/>
          </a:prstGeom>
          <a:noFill/>
          <a:ln/>
        </p:spPr>
        <p:txBody>
          <a:bodyPr wrap="square" lIns="0" tIns="0" rIns="0" bIns="0" rtlCol="0" anchor="ctr"/>
          <a:lstStyle/>
          <a:p>
            <a:pPr algn="ctr" indent="0" marL="0">
              <a:buNone/>
            </a:pPr>
            <a:r>
              <a:rPr lang="en-US" sz="1150" b="1" spc="200" kern="0" dirty="0">
                <a:solidFill>
                  <a:srgbClr val="706E67"/>
                </a:solidFill>
                <a:latin typeface="Arial" pitchFamily="34" charset="0"/>
                <a:ea typeface="Arial" pitchFamily="34" charset="-122"/>
                <a:cs typeface="Arial" pitchFamily="34" charset="-120"/>
              </a:rPr>
              <a:t>HARD TO VERIFY</a:t>
            </a:r>
            <a:endParaRPr lang="en-US" sz="1150" dirty="0"/>
          </a:p>
        </p:txBody>
      </p:sp>
      <p:sp>
        <p:nvSpPr>
          <p:cNvPr id="6" name="Text 4"/>
          <p:cNvSpPr/>
          <p:nvPr/>
        </p:nvSpPr>
        <p:spPr>
          <a:xfrm>
            <a:off x="548640" y="1965960"/>
            <a:ext cx="1188720" cy="1783080"/>
          </a:xfrm>
          <a:prstGeom prst="rect">
            <a:avLst/>
          </a:prstGeom>
          <a:noFill/>
          <a:ln/>
        </p:spPr>
        <p:txBody>
          <a:bodyPr wrap="square" lIns="0" tIns="0" rIns="0" bIns="0" rtlCol="0" anchor="ctr"/>
          <a:lstStyle/>
          <a:p>
            <a:pPr algn="ctr" indent="0" marL="0">
              <a:buNone/>
            </a:pPr>
            <a:r>
              <a:rPr lang="en-US" sz="1150" b="1" spc="200" kern="0" dirty="0">
                <a:solidFill>
                  <a:srgbClr val="706E67"/>
                </a:solidFill>
                <a:latin typeface="Arial" pitchFamily="34" charset="0"/>
                <a:ea typeface="Arial" pitchFamily="34" charset="-122"/>
                <a:cs typeface="Arial" pitchFamily="34" charset="-120"/>
              </a:rPr>
              <a:t>LOW</a:t>
            </a:r>
            <a:endParaRPr lang="en-US" sz="1150" dirty="0"/>
          </a:p>
          <a:p>
            <a:pPr algn="ctr" indent="0" marL="0">
              <a:buNone/>
            </a:pPr>
            <a:r>
              <a:rPr lang="en-US" sz="1150" b="1" spc="200" kern="0" dirty="0">
                <a:solidFill>
                  <a:srgbClr val="706E67"/>
                </a:solidFill>
                <a:latin typeface="Arial" pitchFamily="34" charset="0"/>
                <a:ea typeface="Arial" pitchFamily="34" charset="-122"/>
                <a:cs typeface="Arial" pitchFamily="34" charset="-120"/>
              </a:rPr>
              <a:t>STAKES</a:t>
            </a:r>
            <a:endParaRPr lang="en-US" sz="1150" dirty="0"/>
          </a:p>
        </p:txBody>
      </p:sp>
      <p:sp>
        <p:nvSpPr>
          <p:cNvPr id="7" name="Text 5"/>
          <p:cNvSpPr/>
          <p:nvPr/>
        </p:nvSpPr>
        <p:spPr>
          <a:xfrm>
            <a:off x="548640" y="3950208"/>
            <a:ext cx="1188720" cy="1783080"/>
          </a:xfrm>
          <a:prstGeom prst="rect">
            <a:avLst/>
          </a:prstGeom>
          <a:noFill/>
          <a:ln/>
        </p:spPr>
        <p:txBody>
          <a:bodyPr wrap="square" lIns="0" tIns="0" rIns="0" bIns="0" rtlCol="0" anchor="ctr"/>
          <a:lstStyle/>
          <a:p>
            <a:pPr algn="ctr" indent="0" marL="0">
              <a:buNone/>
            </a:pPr>
            <a:r>
              <a:rPr lang="en-US" sz="1150" b="1" spc="200" kern="0" dirty="0">
                <a:solidFill>
                  <a:srgbClr val="706E67"/>
                </a:solidFill>
                <a:latin typeface="Arial" pitchFamily="34" charset="0"/>
                <a:ea typeface="Arial" pitchFamily="34" charset="-122"/>
                <a:cs typeface="Arial" pitchFamily="34" charset="-120"/>
              </a:rPr>
              <a:t>HIGH</a:t>
            </a:r>
            <a:endParaRPr lang="en-US" sz="1150" dirty="0"/>
          </a:p>
          <a:p>
            <a:pPr algn="ctr" indent="0" marL="0">
              <a:buNone/>
            </a:pPr>
            <a:r>
              <a:rPr lang="en-US" sz="1150" b="1" spc="200" kern="0" dirty="0">
                <a:solidFill>
                  <a:srgbClr val="706E67"/>
                </a:solidFill>
                <a:latin typeface="Arial" pitchFamily="34" charset="0"/>
                <a:ea typeface="Arial" pitchFamily="34" charset="-122"/>
                <a:cs typeface="Arial" pitchFamily="34" charset="-120"/>
              </a:rPr>
              <a:t>STAKES</a:t>
            </a:r>
            <a:endParaRPr lang="en-US" sz="1150" dirty="0"/>
          </a:p>
        </p:txBody>
      </p:sp>
      <p:sp>
        <p:nvSpPr>
          <p:cNvPr id="8" name="Shape 6"/>
          <p:cNvSpPr/>
          <p:nvPr/>
        </p:nvSpPr>
        <p:spPr>
          <a:xfrm>
            <a:off x="1874520" y="1965960"/>
            <a:ext cx="4892040" cy="1783080"/>
          </a:xfrm>
          <a:prstGeom prst="roundRect">
            <a:avLst>
              <a:gd name="adj" fmla="val 5128"/>
            </a:avLst>
          </a:prstGeom>
          <a:solidFill>
            <a:srgbClr val="F7F6F3"/>
          </a:solidFill>
          <a:ln/>
        </p:spPr>
      </p:sp>
      <p:sp>
        <p:nvSpPr>
          <p:cNvPr id="9" name="Text 7"/>
          <p:cNvSpPr/>
          <p:nvPr/>
        </p:nvSpPr>
        <p:spPr>
          <a:xfrm>
            <a:off x="2148840" y="2185416"/>
            <a:ext cx="4343400" cy="41148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Delegate freely</a:t>
            </a:r>
            <a:endParaRPr lang="en-US" sz="1650" dirty="0"/>
          </a:p>
        </p:txBody>
      </p:sp>
      <p:sp>
        <p:nvSpPr>
          <p:cNvPr id="10" name="Text 8"/>
          <p:cNvSpPr/>
          <p:nvPr/>
        </p:nvSpPr>
        <p:spPr>
          <a:xfrm>
            <a:off x="2148840" y="2679192"/>
            <a:ext cx="4343400" cy="96012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Summaries, drafts, formatting, meeting prep.</a:t>
            </a:r>
            <a:endParaRPr lang="en-US" sz="1200" dirty="0"/>
          </a:p>
          <a:p>
            <a:pPr indent="0" marL="0">
              <a:buNone/>
            </a:pPr>
            <a:r>
              <a:rPr lang="en-US" sz="1200" dirty="0">
                <a:solidFill>
                  <a:srgbClr val="404040"/>
                </a:solidFill>
                <a:latin typeface="Arial" pitchFamily="34" charset="0"/>
                <a:ea typeface="Arial" pitchFamily="34" charset="-122"/>
                <a:cs typeface="Arial" pitchFamily="34" charset="-120"/>
              </a:rPr>
              <a:t>Example: the Power Prompt library.</a:t>
            </a:r>
            <a:endParaRPr lang="en-US" sz="1200" dirty="0"/>
          </a:p>
        </p:txBody>
      </p:sp>
      <p:sp>
        <p:nvSpPr>
          <p:cNvPr id="11" name="Shape 9"/>
          <p:cNvSpPr/>
          <p:nvPr/>
        </p:nvSpPr>
        <p:spPr>
          <a:xfrm>
            <a:off x="6967728" y="1965960"/>
            <a:ext cx="4892040" cy="1783080"/>
          </a:xfrm>
          <a:prstGeom prst="roundRect">
            <a:avLst>
              <a:gd name="adj" fmla="val 5128"/>
            </a:avLst>
          </a:prstGeom>
          <a:solidFill>
            <a:srgbClr val="F3F2EF"/>
          </a:solidFill>
          <a:ln/>
        </p:spPr>
      </p:sp>
      <p:sp>
        <p:nvSpPr>
          <p:cNvPr id="12" name="Text 10"/>
          <p:cNvSpPr/>
          <p:nvPr/>
        </p:nvSpPr>
        <p:spPr>
          <a:xfrm>
            <a:off x="7242048" y="2185416"/>
            <a:ext cx="4343400" cy="41148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Use, but sample</a:t>
            </a:r>
            <a:endParaRPr lang="en-US" sz="1650" dirty="0"/>
          </a:p>
        </p:txBody>
      </p:sp>
      <p:sp>
        <p:nvSpPr>
          <p:cNvPr id="13" name="Text 11"/>
          <p:cNvSpPr/>
          <p:nvPr/>
        </p:nvSpPr>
        <p:spPr>
          <a:xfrm>
            <a:off x="7242048" y="2679192"/>
            <a:ext cx="4343400" cy="96012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Brainstorming and research starting points; spot-check before you rely on them.</a:t>
            </a:r>
            <a:endParaRPr lang="en-US" sz="1200" dirty="0"/>
          </a:p>
        </p:txBody>
      </p:sp>
      <p:sp>
        <p:nvSpPr>
          <p:cNvPr id="14" name="Shape 12"/>
          <p:cNvSpPr/>
          <p:nvPr/>
        </p:nvSpPr>
        <p:spPr>
          <a:xfrm>
            <a:off x="1874520" y="3950208"/>
            <a:ext cx="4892040" cy="1783080"/>
          </a:xfrm>
          <a:prstGeom prst="roundRect">
            <a:avLst>
              <a:gd name="adj" fmla="val 5128"/>
            </a:avLst>
          </a:prstGeom>
          <a:solidFill>
            <a:srgbClr val="CCCABC"/>
          </a:solidFill>
          <a:ln/>
        </p:spPr>
      </p:sp>
      <p:sp>
        <p:nvSpPr>
          <p:cNvPr id="15" name="Text 13"/>
          <p:cNvSpPr/>
          <p:nvPr/>
        </p:nvSpPr>
        <p:spPr>
          <a:xfrm>
            <a:off x="2148840" y="4169664"/>
            <a:ext cx="4343400" cy="41148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AI drafts, you approve</a:t>
            </a:r>
            <a:endParaRPr lang="en-US" sz="1650" dirty="0"/>
          </a:p>
        </p:txBody>
      </p:sp>
      <p:sp>
        <p:nvSpPr>
          <p:cNvPr id="16" name="Text 14"/>
          <p:cNvSpPr/>
          <p:nvPr/>
        </p:nvSpPr>
        <p:spPr>
          <a:xfrm>
            <a:off x="2148840" y="4663440"/>
            <a:ext cx="4343400" cy="96012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The sweet spot for review work.</a:t>
            </a:r>
            <a:endParaRPr lang="en-US" sz="1200" dirty="0"/>
          </a:p>
          <a:p>
            <a:pPr indent="0" marL="0">
              <a:buNone/>
            </a:pPr>
            <a:r>
              <a:rPr lang="en-US" sz="1200" dirty="0">
                <a:solidFill>
                  <a:srgbClr val="404040"/>
                </a:solidFill>
                <a:latin typeface="Arial" pitchFamily="34" charset="0"/>
                <a:ea typeface="Arial" pitchFamily="34" charset="-122"/>
                <a:cs typeface="Arial" pitchFamily="34" charset="-120"/>
              </a:rPr>
              <a:t>Example: the Review Agent's workpapers.</a:t>
            </a:r>
            <a:endParaRPr lang="en-US" sz="1200" dirty="0"/>
          </a:p>
        </p:txBody>
      </p:sp>
      <p:sp>
        <p:nvSpPr>
          <p:cNvPr id="17" name="Shape 15"/>
          <p:cNvSpPr/>
          <p:nvPr/>
        </p:nvSpPr>
        <p:spPr>
          <a:xfrm>
            <a:off x="6967728" y="3950208"/>
            <a:ext cx="4892040" cy="1783080"/>
          </a:xfrm>
          <a:prstGeom prst="roundRect">
            <a:avLst>
              <a:gd name="adj" fmla="val 5128"/>
            </a:avLst>
          </a:prstGeom>
          <a:solidFill>
            <a:srgbClr val="F3F2EF"/>
          </a:solidFill>
          <a:ln/>
        </p:spPr>
      </p:sp>
      <p:sp>
        <p:nvSpPr>
          <p:cNvPr id="18" name="Text 16"/>
          <p:cNvSpPr/>
          <p:nvPr/>
        </p:nvSpPr>
        <p:spPr>
          <a:xfrm>
            <a:off x="7242048" y="4169664"/>
            <a:ext cx="4343400" cy="411480"/>
          </a:xfrm>
          <a:prstGeom prst="rect">
            <a:avLst/>
          </a:prstGeom>
          <a:noFill/>
          <a:ln/>
        </p:spPr>
        <p:txBody>
          <a:bodyPr wrap="square" lIns="0" tIns="0" rIns="0" bIns="0" rtlCol="0" anchor="t"/>
          <a:lstStyle/>
          <a:p>
            <a:pPr indent="0" marL="0">
              <a:buNone/>
            </a:pPr>
            <a:r>
              <a:rPr lang="en-US" sz="1650" b="1" dirty="0">
                <a:solidFill>
                  <a:srgbClr val="121212"/>
                </a:solidFill>
                <a:latin typeface="Arial" pitchFamily="34" charset="0"/>
                <a:ea typeface="Arial" pitchFamily="34" charset="-122"/>
                <a:cs typeface="Arial" pitchFamily="34" charset="-120"/>
              </a:rPr>
              <a:t>Keep it human-led</a:t>
            </a:r>
            <a:endParaRPr lang="en-US" sz="1650" dirty="0"/>
          </a:p>
        </p:txBody>
      </p:sp>
      <p:sp>
        <p:nvSpPr>
          <p:cNvPr id="19" name="Text 17"/>
          <p:cNvSpPr/>
          <p:nvPr/>
        </p:nvSpPr>
        <p:spPr>
          <a:xfrm>
            <a:off x="7242048" y="4663440"/>
            <a:ext cx="4343400" cy="960120"/>
          </a:xfrm>
          <a:prstGeom prst="rect">
            <a:avLst/>
          </a:prstGeom>
          <a:noFill/>
          <a:ln/>
        </p:spPr>
        <p:txBody>
          <a:bodyPr wrap="square" lIns="0" tIns="0" rIns="0" bIns="0" rtlCol="0" anchor="t"/>
          <a:lstStyle/>
          <a:p>
            <a:pPr indent="0" marL="0">
              <a:buNone/>
            </a:pPr>
            <a:r>
              <a:rPr lang="en-US" sz="1200" dirty="0">
                <a:solidFill>
                  <a:srgbClr val="404040"/>
                </a:solidFill>
                <a:latin typeface="Arial" pitchFamily="34" charset="0"/>
                <a:ea typeface="Arial" pitchFamily="34" charset="-122"/>
                <a:cs typeface="Arial" pitchFamily="34" charset="-120"/>
              </a:rPr>
              <a:t>Final conclusions, ratings, judgment calls. AI supports; it doesn't decide.</a:t>
            </a:r>
            <a:endParaRPr lang="en-US" sz="1200" dirty="0"/>
          </a:p>
        </p:txBody>
      </p:sp>
      <p:sp>
        <p:nvSpPr>
          <p:cNvPr id="20" name="Text 18"/>
          <p:cNvSpPr/>
          <p:nvPr/>
        </p:nvSpPr>
        <p:spPr>
          <a:xfrm>
            <a:off x="548640" y="6035040"/>
            <a:ext cx="11091672" cy="320040"/>
          </a:xfrm>
          <a:prstGeom prst="rect">
            <a:avLst/>
          </a:prstGeom>
          <a:noFill/>
          <a:ln/>
        </p:spPr>
        <p:txBody>
          <a:bodyPr wrap="square" lIns="0" tIns="0" rIns="0" bIns="0" rtlCol="0" anchor="ctr"/>
          <a:lstStyle/>
          <a:p>
            <a:pPr algn="ctr" indent="0" marL="0">
              <a:buNone/>
            </a:pPr>
            <a:r>
              <a:rPr lang="en-US" sz="1300" i="1" dirty="0">
                <a:solidFill>
                  <a:srgbClr val="706E67"/>
                </a:solidFill>
                <a:latin typeface="Arial" pitchFamily="34" charset="0"/>
                <a:ea typeface="Arial" pitchFamily="34" charset="-122"/>
                <a:cs typeface="Arial" pitchFamily="34" charset="-120"/>
              </a:rPr>
              <a:t>Try it: pick one task from your own week and place it on this grid.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2026-08-26T12:29:35Z</dcterms:created>
  <dcterms:modified xsi:type="dcterms:W3CDTF">2026-08-26T12:29:35Z</dcterms:modified>
</cp:coreProperties>
</file>